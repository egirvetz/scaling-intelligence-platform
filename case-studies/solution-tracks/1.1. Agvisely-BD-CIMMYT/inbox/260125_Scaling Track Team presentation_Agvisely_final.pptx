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20"/>
  </p:notesMasterIdLst>
  <p:handoutMasterIdLst>
    <p:handoutMasterId r:id="rId21"/>
  </p:handoutMasterIdLst>
  <p:sldIdLst>
    <p:sldId id="256" r:id="rId4"/>
    <p:sldId id="2147475482" r:id="rId5"/>
    <p:sldId id="2147475500" r:id="rId6"/>
    <p:sldId id="2147475509" r:id="rId7"/>
    <p:sldId id="2147475510" r:id="rId8"/>
    <p:sldId id="2147475511" r:id="rId9"/>
    <p:sldId id="2147475512" r:id="rId10"/>
    <p:sldId id="2147475513" r:id="rId11"/>
    <p:sldId id="2147475507" r:id="rId12"/>
    <p:sldId id="2147475508" r:id="rId13"/>
    <p:sldId id="2147475514" r:id="rId14"/>
    <p:sldId id="2147475494" r:id="rId15"/>
    <p:sldId id="2147475491" r:id="rId16"/>
    <p:sldId id="2147475492" r:id="rId17"/>
    <p:sldId id="2147475497" r:id="rId18"/>
    <p:sldId id="2147475515" r:id="rId1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8F9117-8D9A-EC00-E4EB-9B7477660C43}" name="KRUPNIK, Timothy Joseph (CIMMYT-Bangladesh)" initials="" userId="S::t.krupnik@cgiar.org::66a9580e-a7fc-4d2d-99e3-c6757b26337b" providerId="AD"/>
  <p188:author id="{7F465343-947B-007E-6475-F8CE8974B6A4}" name="Girvetz, Evan (Alliance Bioversity-CIAT)" initials="GE(BC" userId="S::e.girvetz@cgiar.org::134deccc-b0f9-4a34-9036-937f79342107" providerId="AD"/>
  <p188:author id="{DDC10850-7D6F-677C-1D47-9B83028562A5}" name="Jacobs-Mata, Inga (IWMI)" initials="" userId="S::i.jacobs-mata@cgiar.org::9de18fd2-cbd7-4683-941f-749267bc2bfc" providerId="AD"/>
  <p188:author id="{74E8B856-FC0C-3BF0-55B8-08BF7BE5B3CC}" name="RANA, Md. Masud (CIMMYT-Bangladesh)" initials="" userId="S::MASUD.RANA@cgiar.org::1cb892da-30d3-41cf-ba3c-8e2eb59190ef" providerId="AD"/>
  <p188:author id="{2032D083-9EFA-BF1E-1676-7057796111F8}" name="Hanke-Louw, Nora (IWMI)" initials="HN" userId="S::n.hanke-louw@cgiar.org::16eface5-bfbf-4414-a40a-714a09057f4d" providerId="AD"/>
  <p188:author id="{45B91EEB-7CF7-68B2-C5EC-65FF85FFFE80}" name="ISLAM, AKM Saiful (CIMMYT-Bangladesh)" initials="" userId="S::A.S.ISLAM@cgiar.org::663ad5ab-c617-4ce5-83a7-c8e06aa491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A4B1"/>
    <a:srgbClr val="C2B2C0"/>
    <a:srgbClr val="C8B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7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8/10/relationships/authors" Target="author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58312E-8FEE-435F-BF4C-4B04BFD1FE1B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925EE2D3-D399-457B-82CD-25BE65FA3774}">
      <dgm:prSet custT="1"/>
      <dgm:spPr/>
      <dgm:t>
        <a:bodyPr/>
        <a:lstStyle/>
        <a:p>
          <a:r>
            <a:rPr lang="en-US" sz="1300" b="1" dirty="0"/>
            <a:t>Commodities</a:t>
          </a:r>
          <a:endParaRPr lang="en-US" sz="1300" dirty="0"/>
        </a:p>
        <a:p>
          <a:r>
            <a:rPr lang="en-US" sz="1300" dirty="0"/>
            <a:t>* 10 crops (Aman, Boro, Aus rice, Kharif Maize, Rabi Maize, Mungbean, Lentil, Wheat, Mustard, Potato) </a:t>
          </a:r>
        </a:p>
        <a:p>
          <a:r>
            <a:rPr lang="en-US" sz="1300" dirty="0"/>
            <a:t>* Livestock: Cows, Chicken </a:t>
          </a:r>
        </a:p>
        <a:p>
          <a:r>
            <a:rPr lang="en-US" sz="1300" dirty="0"/>
            <a:t>* Aquaculture: Carps, Shrimp*</a:t>
          </a:r>
        </a:p>
        <a:p>
          <a:r>
            <a:rPr lang="en-US" sz="1300" dirty="0"/>
            <a:t>* Planned  expansion to horticultural crops</a:t>
          </a:r>
        </a:p>
      </dgm:t>
    </dgm:pt>
    <dgm:pt modelId="{C2BB7633-6FE8-4266-9ADD-E16379101926}" type="parTrans" cxnId="{74AF4994-5003-4C2F-94E3-7B7FC223F88C}">
      <dgm:prSet/>
      <dgm:spPr/>
      <dgm:t>
        <a:bodyPr/>
        <a:lstStyle/>
        <a:p>
          <a:endParaRPr lang="en-US" sz="1300"/>
        </a:p>
      </dgm:t>
    </dgm:pt>
    <dgm:pt modelId="{AE10FECD-3E9B-4283-A7A0-B625D4D0A199}" type="sibTrans" cxnId="{74AF4994-5003-4C2F-94E3-7B7FC223F88C}">
      <dgm:prSet/>
      <dgm:spPr/>
      <dgm:t>
        <a:bodyPr/>
        <a:lstStyle/>
        <a:p>
          <a:endParaRPr lang="en-US" sz="1300"/>
        </a:p>
      </dgm:t>
    </dgm:pt>
    <dgm:pt modelId="{2DCE9CF7-F5ED-4F21-A0D1-E0FF346886EC}">
      <dgm:prSet custT="1"/>
      <dgm:spPr/>
      <dgm:t>
        <a:bodyPr/>
        <a:lstStyle/>
        <a:p>
          <a:r>
            <a:rPr lang="en-US" sz="1300" b="1" dirty="0"/>
            <a:t>Geography and users</a:t>
          </a:r>
          <a:endParaRPr lang="en-US" sz="1300" dirty="0"/>
        </a:p>
        <a:p>
          <a:r>
            <a:rPr lang="en-US" sz="1300" dirty="0"/>
            <a:t>* All </a:t>
          </a:r>
          <a:r>
            <a:rPr lang="en-US" sz="1300" dirty="0" err="1"/>
            <a:t>upzilas</a:t>
          </a:r>
          <a:r>
            <a:rPr lang="en-US" sz="1300" dirty="0"/>
            <a:t> (administrative unit) of Bangladesh  </a:t>
          </a:r>
        </a:p>
        <a:p>
          <a:r>
            <a:rPr lang="en-US" sz="1300" dirty="0"/>
            <a:t>* Registered users: 8000+ extension officers (DAE)</a:t>
          </a:r>
        </a:p>
      </dgm:t>
    </dgm:pt>
    <dgm:pt modelId="{C8EA71F6-1770-4AAF-B6F4-D76FFB98F761}" type="parTrans" cxnId="{F7D261C5-C64D-4739-8116-851EAD2D3311}">
      <dgm:prSet/>
      <dgm:spPr/>
      <dgm:t>
        <a:bodyPr/>
        <a:lstStyle/>
        <a:p>
          <a:endParaRPr lang="en-US" sz="1300"/>
        </a:p>
      </dgm:t>
    </dgm:pt>
    <dgm:pt modelId="{C207FB25-1677-447A-A4DF-36B18A4FCBDB}" type="sibTrans" cxnId="{F7D261C5-C64D-4739-8116-851EAD2D3311}">
      <dgm:prSet/>
      <dgm:spPr/>
      <dgm:t>
        <a:bodyPr/>
        <a:lstStyle/>
        <a:p>
          <a:endParaRPr lang="en-US" sz="1300"/>
        </a:p>
      </dgm:t>
    </dgm:pt>
    <dgm:pt modelId="{EC7BCEA9-FA0C-4080-A1F6-132ED078F2C1}">
      <dgm:prSet custT="1"/>
      <dgm:spPr/>
      <dgm:t>
        <a:bodyPr/>
        <a:lstStyle/>
        <a:p>
          <a:r>
            <a:rPr lang="en-US" sz="1300" b="1" dirty="0"/>
            <a:t>Partners</a:t>
          </a:r>
        </a:p>
        <a:p>
          <a:r>
            <a:rPr lang="en-US" sz="1300" dirty="0"/>
            <a:t>* BMD, DAE, BLRI, RIMES, WorldFish. </a:t>
          </a:r>
        </a:p>
      </dgm:t>
    </dgm:pt>
    <dgm:pt modelId="{7D759D3C-161F-4C86-96D3-4DCFD34C41CB}" type="parTrans" cxnId="{4CC3C2D7-B993-4711-8AF9-1E9B365CCEA1}">
      <dgm:prSet/>
      <dgm:spPr/>
      <dgm:t>
        <a:bodyPr/>
        <a:lstStyle/>
        <a:p>
          <a:endParaRPr lang="en-US"/>
        </a:p>
      </dgm:t>
    </dgm:pt>
    <dgm:pt modelId="{0129EA72-346E-4E9B-9C47-883A2F54E4C8}" type="sibTrans" cxnId="{4CC3C2D7-B993-4711-8AF9-1E9B365CCEA1}">
      <dgm:prSet/>
      <dgm:spPr/>
      <dgm:t>
        <a:bodyPr/>
        <a:lstStyle/>
        <a:p>
          <a:endParaRPr lang="en-US"/>
        </a:p>
      </dgm:t>
    </dgm:pt>
    <dgm:pt modelId="{4A9C68D7-7A20-424D-9348-08F5459149AA}">
      <dgm:prSet custT="1"/>
      <dgm:spPr/>
      <dgm:t>
        <a:bodyPr/>
        <a:lstStyle/>
        <a:p>
          <a:r>
            <a:rPr lang="en-US" sz="1300" b="1" dirty="0"/>
            <a:t>Other Services for enhancing value proposition</a:t>
          </a:r>
        </a:p>
        <a:p>
          <a:r>
            <a:rPr lang="en-US" sz="1300" dirty="0"/>
            <a:t>Good agricultural practices (stage specific)</a:t>
          </a:r>
        </a:p>
        <a:p>
          <a:r>
            <a:rPr lang="en-US" sz="1300" dirty="0"/>
            <a:t>Integrated pest management advisory (Stage specific)</a:t>
          </a:r>
        </a:p>
        <a:p>
          <a:endParaRPr lang="en-US" sz="1300" dirty="0"/>
        </a:p>
      </dgm:t>
    </dgm:pt>
    <dgm:pt modelId="{6EF67AAE-4CF1-417A-85E7-370D2C0B70BA}" type="sibTrans" cxnId="{1C526979-206E-41BA-8AC4-126F9655330B}">
      <dgm:prSet/>
      <dgm:spPr/>
      <dgm:t>
        <a:bodyPr/>
        <a:lstStyle/>
        <a:p>
          <a:endParaRPr lang="en-US" sz="1300"/>
        </a:p>
      </dgm:t>
    </dgm:pt>
    <dgm:pt modelId="{9E4B0BC6-82A0-4A54-B3D1-1139F4205261}" type="parTrans" cxnId="{1C526979-206E-41BA-8AC4-126F9655330B}">
      <dgm:prSet/>
      <dgm:spPr/>
      <dgm:t>
        <a:bodyPr/>
        <a:lstStyle/>
        <a:p>
          <a:endParaRPr lang="en-US" sz="1300"/>
        </a:p>
      </dgm:t>
    </dgm:pt>
    <dgm:pt modelId="{B592DF05-402E-43F3-A9BC-523A8AF2250D}" type="pres">
      <dgm:prSet presAssocID="{0D58312E-8FEE-435F-BF4C-4B04BFD1FE1B}" presName="linear" presStyleCnt="0">
        <dgm:presLayoutVars>
          <dgm:animLvl val="lvl"/>
          <dgm:resizeHandles val="exact"/>
        </dgm:presLayoutVars>
      </dgm:prSet>
      <dgm:spPr/>
    </dgm:pt>
    <dgm:pt modelId="{51C434C9-05BE-4B74-BF0C-92B9E16F8558}" type="pres">
      <dgm:prSet presAssocID="{925EE2D3-D399-457B-82CD-25BE65FA3774}" presName="parentText" presStyleLbl="node1" presStyleIdx="0" presStyleCnt="4" custScaleY="152019" custLinFactY="11027" custLinFactNeighborX="340" custLinFactNeighborY="100000">
        <dgm:presLayoutVars>
          <dgm:chMax val="0"/>
          <dgm:bulletEnabled val="1"/>
        </dgm:presLayoutVars>
      </dgm:prSet>
      <dgm:spPr/>
    </dgm:pt>
    <dgm:pt modelId="{37A975EC-1056-4A71-94DC-B74472AD913E}" type="pres">
      <dgm:prSet presAssocID="{AE10FECD-3E9B-4283-A7A0-B625D4D0A199}" presName="spacer" presStyleCnt="0"/>
      <dgm:spPr/>
    </dgm:pt>
    <dgm:pt modelId="{88FD2F41-5CD8-4EDA-BBFF-4471BE1545EC}" type="pres">
      <dgm:prSet presAssocID="{2DCE9CF7-F5ED-4F21-A0D1-E0FF346886EC}" presName="parentText" presStyleLbl="node1" presStyleIdx="1" presStyleCnt="4" custScaleY="93052">
        <dgm:presLayoutVars>
          <dgm:chMax val="0"/>
          <dgm:bulletEnabled val="1"/>
        </dgm:presLayoutVars>
      </dgm:prSet>
      <dgm:spPr/>
    </dgm:pt>
    <dgm:pt modelId="{CF338D9E-24B0-4B53-A994-C58D1F7D8850}" type="pres">
      <dgm:prSet presAssocID="{C207FB25-1677-447A-A4DF-36B18A4FCBDB}" presName="spacer" presStyleCnt="0"/>
      <dgm:spPr/>
    </dgm:pt>
    <dgm:pt modelId="{995CD27B-E5AB-4F8B-894D-7AC58C7331F2}" type="pres">
      <dgm:prSet presAssocID="{EC7BCEA9-FA0C-4080-A1F6-132ED078F2C1}" presName="parentText" presStyleLbl="node1" presStyleIdx="2" presStyleCnt="4" custScaleY="55822" custLinFactY="-578" custLinFactNeighborX="-20531" custLinFactNeighborY="-100000">
        <dgm:presLayoutVars>
          <dgm:chMax val="0"/>
          <dgm:bulletEnabled val="1"/>
        </dgm:presLayoutVars>
      </dgm:prSet>
      <dgm:spPr/>
    </dgm:pt>
    <dgm:pt modelId="{6B5D5537-60C3-46EB-9202-B07AD977F8AB}" type="pres">
      <dgm:prSet presAssocID="{0129EA72-346E-4E9B-9C47-883A2F54E4C8}" presName="spacer" presStyleCnt="0"/>
      <dgm:spPr/>
    </dgm:pt>
    <dgm:pt modelId="{1C05266F-C980-4507-9678-3CCE1F0AE13B}" type="pres">
      <dgm:prSet presAssocID="{4A9C68D7-7A20-424D-9348-08F5459149A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D66911D-8126-42C8-86CC-79E89A5A5902}" type="presOf" srcId="{2DCE9CF7-F5ED-4F21-A0D1-E0FF346886EC}" destId="{88FD2F41-5CD8-4EDA-BBFF-4471BE1545EC}" srcOrd="0" destOrd="0" presId="urn:microsoft.com/office/officeart/2005/8/layout/vList2"/>
    <dgm:cxn modelId="{8F9BFA1E-6B0C-40D0-86D1-F8DE586B10D6}" type="presOf" srcId="{0D58312E-8FEE-435F-BF4C-4B04BFD1FE1B}" destId="{B592DF05-402E-43F3-A9BC-523A8AF2250D}" srcOrd="0" destOrd="0" presId="urn:microsoft.com/office/officeart/2005/8/layout/vList2"/>
    <dgm:cxn modelId="{4C9B6F4A-28A2-4CE6-811B-9179525B853F}" type="presOf" srcId="{925EE2D3-D399-457B-82CD-25BE65FA3774}" destId="{51C434C9-05BE-4B74-BF0C-92B9E16F8558}" srcOrd="0" destOrd="0" presId="urn:microsoft.com/office/officeart/2005/8/layout/vList2"/>
    <dgm:cxn modelId="{A2AA3257-978C-46B9-A4B1-CF8E56BF8A1D}" type="presOf" srcId="{4A9C68D7-7A20-424D-9348-08F5459149AA}" destId="{1C05266F-C980-4507-9678-3CCE1F0AE13B}" srcOrd="0" destOrd="0" presId="urn:microsoft.com/office/officeart/2005/8/layout/vList2"/>
    <dgm:cxn modelId="{1C526979-206E-41BA-8AC4-126F9655330B}" srcId="{0D58312E-8FEE-435F-BF4C-4B04BFD1FE1B}" destId="{4A9C68D7-7A20-424D-9348-08F5459149AA}" srcOrd="3" destOrd="0" parTransId="{9E4B0BC6-82A0-4A54-B3D1-1139F4205261}" sibTransId="{6EF67AAE-4CF1-417A-85E7-370D2C0B70BA}"/>
    <dgm:cxn modelId="{74AF4994-5003-4C2F-94E3-7B7FC223F88C}" srcId="{0D58312E-8FEE-435F-BF4C-4B04BFD1FE1B}" destId="{925EE2D3-D399-457B-82CD-25BE65FA3774}" srcOrd="0" destOrd="0" parTransId="{C2BB7633-6FE8-4266-9ADD-E16379101926}" sibTransId="{AE10FECD-3E9B-4283-A7A0-B625D4D0A199}"/>
    <dgm:cxn modelId="{3F9DF0C0-757D-40CF-A8A5-DAECCA2DEB52}" type="presOf" srcId="{EC7BCEA9-FA0C-4080-A1F6-132ED078F2C1}" destId="{995CD27B-E5AB-4F8B-894D-7AC58C7331F2}" srcOrd="0" destOrd="0" presId="urn:microsoft.com/office/officeart/2005/8/layout/vList2"/>
    <dgm:cxn modelId="{F7D261C5-C64D-4739-8116-851EAD2D3311}" srcId="{0D58312E-8FEE-435F-BF4C-4B04BFD1FE1B}" destId="{2DCE9CF7-F5ED-4F21-A0D1-E0FF346886EC}" srcOrd="1" destOrd="0" parTransId="{C8EA71F6-1770-4AAF-B6F4-D76FFB98F761}" sibTransId="{C207FB25-1677-447A-A4DF-36B18A4FCBDB}"/>
    <dgm:cxn modelId="{4CC3C2D7-B993-4711-8AF9-1E9B365CCEA1}" srcId="{0D58312E-8FEE-435F-BF4C-4B04BFD1FE1B}" destId="{EC7BCEA9-FA0C-4080-A1F6-132ED078F2C1}" srcOrd="2" destOrd="0" parTransId="{7D759D3C-161F-4C86-96D3-4DCFD34C41CB}" sibTransId="{0129EA72-346E-4E9B-9C47-883A2F54E4C8}"/>
    <dgm:cxn modelId="{C7441700-922E-4980-81C1-E2180F553933}" type="presParOf" srcId="{B592DF05-402E-43F3-A9BC-523A8AF2250D}" destId="{51C434C9-05BE-4B74-BF0C-92B9E16F8558}" srcOrd="0" destOrd="0" presId="urn:microsoft.com/office/officeart/2005/8/layout/vList2"/>
    <dgm:cxn modelId="{8B5A8E52-7118-4EBC-89B3-9A196F2D4F50}" type="presParOf" srcId="{B592DF05-402E-43F3-A9BC-523A8AF2250D}" destId="{37A975EC-1056-4A71-94DC-B74472AD913E}" srcOrd="1" destOrd="0" presId="urn:microsoft.com/office/officeart/2005/8/layout/vList2"/>
    <dgm:cxn modelId="{D9850D90-1D33-49AE-A1AE-8E0BC35F412F}" type="presParOf" srcId="{B592DF05-402E-43F3-A9BC-523A8AF2250D}" destId="{88FD2F41-5CD8-4EDA-BBFF-4471BE1545EC}" srcOrd="2" destOrd="0" presId="urn:microsoft.com/office/officeart/2005/8/layout/vList2"/>
    <dgm:cxn modelId="{17CF5DC5-F248-42E2-82C3-5BE1FDB27CEC}" type="presParOf" srcId="{B592DF05-402E-43F3-A9BC-523A8AF2250D}" destId="{CF338D9E-24B0-4B53-A994-C58D1F7D8850}" srcOrd="3" destOrd="0" presId="urn:microsoft.com/office/officeart/2005/8/layout/vList2"/>
    <dgm:cxn modelId="{039C5324-A057-48F0-A4C1-C45FAC96791E}" type="presParOf" srcId="{B592DF05-402E-43F3-A9BC-523A8AF2250D}" destId="{995CD27B-E5AB-4F8B-894D-7AC58C7331F2}" srcOrd="4" destOrd="0" presId="urn:microsoft.com/office/officeart/2005/8/layout/vList2"/>
    <dgm:cxn modelId="{D04F756B-1AD0-4FA0-ACA0-62BC0F68DBE0}" type="presParOf" srcId="{B592DF05-402E-43F3-A9BC-523A8AF2250D}" destId="{6B5D5537-60C3-46EB-9202-B07AD977F8AB}" srcOrd="5" destOrd="0" presId="urn:microsoft.com/office/officeart/2005/8/layout/vList2"/>
    <dgm:cxn modelId="{FEE56998-FF28-491D-B38E-A50458A42F77}" type="presParOf" srcId="{B592DF05-402E-43F3-A9BC-523A8AF2250D}" destId="{1C05266F-C980-4507-9678-3CCE1F0AE13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C434C9-05BE-4B74-BF0C-92B9E16F8558}">
      <dsp:nvSpPr>
        <dsp:cNvPr id="0" name=""/>
        <dsp:cNvSpPr/>
      </dsp:nvSpPr>
      <dsp:spPr>
        <a:xfrm>
          <a:off x="0" y="152282"/>
          <a:ext cx="3424413" cy="20255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Commodities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* 10 crops (Aman, Boro, Aus rice, Kharif Maize, Rabi Maize, Mungbean, Lentil, Wheat, Mustard, Potato)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* Livestock: Cows, Chicken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* Aquaculture: Carps, Shrimp*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* Planned  expansion to horticultural crops</a:t>
          </a:r>
        </a:p>
      </dsp:txBody>
      <dsp:txXfrm>
        <a:off x="98881" y="251163"/>
        <a:ext cx="3226651" cy="1827823"/>
      </dsp:txXfrm>
    </dsp:sp>
    <dsp:sp modelId="{88FD2F41-5CD8-4EDA-BBFF-4471BE1545EC}">
      <dsp:nvSpPr>
        <dsp:cNvPr id="0" name=""/>
        <dsp:cNvSpPr/>
      </dsp:nvSpPr>
      <dsp:spPr>
        <a:xfrm>
          <a:off x="0" y="2030938"/>
          <a:ext cx="3424413" cy="123987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Geography and users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* All </a:t>
          </a:r>
          <a:r>
            <a:rPr lang="en-US" sz="1300" kern="1200" dirty="0" err="1"/>
            <a:t>upzilas</a:t>
          </a:r>
          <a:r>
            <a:rPr lang="en-US" sz="1300" kern="1200" dirty="0"/>
            <a:t> (administrative unit) of Bangladesh 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* Registered users: 8000+ extension officers (DAE)</a:t>
          </a:r>
        </a:p>
      </dsp:txBody>
      <dsp:txXfrm>
        <a:off x="60526" y="2091464"/>
        <a:ext cx="3303361" cy="1118824"/>
      </dsp:txXfrm>
    </dsp:sp>
    <dsp:sp modelId="{995CD27B-E5AB-4F8B-894D-7AC58C7331F2}">
      <dsp:nvSpPr>
        <dsp:cNvPr id="0" name=""/>
        <dsp:cNvSpPr/>
      </dsp:nvSpPr>
      <dsp:spPr>
        <a:xfrm>
          <a:off x="0" y="3263112"/>
          <a:ext cx="3424413" cy="74380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Partners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* BMD, DAE, BLRI, RIMES, WorldFish. </a:t>
          </a:r>
        </a:p>
      </dsp:txBody>
      <dsp:txXfrm>
        <a:off x="36309" y="3299421"/>
        <a:ext cx="3351795" cy="671185"/>
      </dsp:txXfrm>
    </dsp:sp>
    <dsp:sp modelId="{1C05266F-C980-4507-9678-3CCE1F0AE13B}">
      <dsp:nvSpPr>
        <dsp:cNvPr id="0" name=""/>
        <dsp:cNvSpPr/>
      </dsp:nvSpPr>
      <dsp:spPr>
        <a:xfrm>
          <a:off x="0" y="4025265"/>
          <a:ext cx="3424413" cy="13324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Other Services for enhancing value proposition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Good agricultural practices (stage specific)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Integrated pest management advisory (Stage specific)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</dsp:txBody>
      <dsp:txXfrm>
        <a:off x="65045" y="4090310"/>
        <a:ext cx="3294323" cy="12023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C29FB6-EA06-517A-F3BB-D8CC8500BF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CE1292-EE5E-EEA2-5247-F9918EAE0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E8BDDDF-F1CD-40D3-9518-C237A779E073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28F19-FE23-00D7-1FFB-54B70B959C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4D1D6-66CB-4BF6-E30B-E9153A6B96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275824F-1BAF-46EA-92A0-997B3E21A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4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937F915-8234-436D-A7C2-72BD2C534D4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A5A2097-C9A8-47E2-88A3-DB3F00F2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94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A2097-C9A8-47E2-88A3-DB3F00F21D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0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AF5C6-F4F2-8C78-357A-5200997F85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602" y="2049495"/>
            <a:ext cx="5945372" cy="175541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4AAC9-CBBA-3F90-9C0D-AD32A582D8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602" y="4162647"/>
            <a:ext cx="5945372" cy="1988287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1FF1F-A1A8-BBE0-B82C-78B997DB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09E66-F411-1697-D25A-0C1AFF20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A45E-06E8-4374-A2D2-2BA02527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25BF274-CFFA-C539-E9D0-CA41BC40352C}"/>
              </a:ext>
            </a:extLst>
          </p:cNvPr>
          <p:cNvGrpSpPr/>
          <p:nvPr userDrawn="1"/>
        </p:nvGrpSpPr>
        <p:grpSpPr>
          <a:xfrm>
            <a:off x="7791" y="-88816"/>
            <a:ext cx="12321714" cy="7129542"/>
            <a:chOff x="7791" y="-88816"/>
            <a:chExt cx="12321714" cy="7129542"/>
          </a:xfrm>
        </p:grpSpPr>
        <p:sp>
          <p:nvSpPr>
            <p:cNvPr id="30" name="TextBox 5">
              <a:extLst>
                <a:ext uri="{FF2B5EF4-FFF2-40B4-BE49-F238E27FC236}">
                  <a16:creationId xmlns:a16="http://schemas.microsoft.com/office/drawing/2014/main" id="{8FD2F6C7-15A4-4CC5-46A0-2008ADB83369}"/>
                </a:ext>
              </a:extLst>
            </p:cNvPr>
            <p:cNvSpPr txBox="1"/>
            <p:nvPr/>
          </p:nvSpPr>
          <p:spPr>
            <a:xfrm>
              <a:off x="10152181" y="-10924"/>
              <a:ext cx="2036648" cy="866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88F3818C-4A4A-0CB6-004C-34B616786DA7}"/>
                </a:ext>
              </a:extLst>
            </p:cNvPr>
            <p:cNvSpPr txBox="1"/>
            <p:nvPr/>
          </p:nvSpPr>
          <p:spPr>
            <a:xfrm>
              <a:off x="7791" y="-88816"/>
              <a:ext cx="12181038" cy="983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338AF68E-8B52-4FB6-015B-0E6CF30A131C}"/>
                </a:ext>
              </a:extLst>
            </p:cNvPr>
            <p:cNvSpPr/>
            <p:nvPr/>
          </p:nvSpPr>
          <p:spPr>
            <a:xfrm>
              <a:off x="6055242" y="754912"/>
              <a:ext cx="6274263" cy="6285814"/>
            </a:xfrm>
            <a:custGeom>
              <a:avLst/>
              <a:gdLst/>
              <a:ahLst/>
              <a:cxnLst/>
              <a:rect l="l" t="t" r="r" b="b"/>
              <a:pathLst>
                <a:path w="12478229" h="12544672">
                  <a:moveTo>
                    <a:pt x="0" y="0"/>
                  </a:moveTo>
                  <a:lnTo>
                    <a:pt x="12478229" y="0"/>
                  </a:lnTo>
                  <a:lnTo>
                    <a:pt x="12478229" y="12544672"/>
                  </a:lnTo>
                  <a:lnTo>
                    <a:pt x="0" y="1254467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2">
                <a:alphaModFix amt="11000"/>
              </a:blip>
              <a:srcRect/>
              <a:stretch>
                <a:fillRect r="-148000"/>
              </a:stretch>
            </a:blipFill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</p:grpSp>
      <p:pic>
        <p:nvPicPr>
          <p:cNvPr id="34" name="Picture 33" descr="A green and white sign&#10;&#10;AI-generated content may be incorrect.">
            <a:extLst>
              <a:ext uri="{FF2B5EF4-FFF2-40B4-BE49-F238E27FC236}">
                <a16:creationId xmlns:a16="http://schemas.microsoft.com/office/drawing/2014/main" id="{AD3C3E09-5DBB-EEB2-633C-328A363050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4" y="137553"/>
            <a:ext cx="7037497" cy="167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3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urple and white gradient&#10;&#10;AI-generated content may be incorrect.">
            <a:extLst>
              <a:ext uri="{FF2B5EF4-FFF2-40B4-BE49-F238E27FC236}">
                <a16:creationId xmlns:a16="http://schemas.microsoft.com/office/drawing/2014/main" id="{0D2A358A-11B6-989A-92C7-FF7A613E56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79"/>
            <a:ext cx="12192000" cy="939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E76877-E83B-99C4-8B78-A6DBE838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170186"/>
            <a:ext cx="10515600" cy="937363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>
                <a:solidFill>
                  <a:srgbClr val="D486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3B3C0-90C2-8D01-3CFA-67419DC85A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498650"/>
            <a:ext cx="10478386" cy="36663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D095-834F-66D4-8F2C-836061AC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BE5F8-5B17-CE2A-ED54-8420CFE67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69739-107D-4A19-8C9F-24C5A47C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  <p:pic>
        <p:nvPicPr>
          <p:cNvPr id="19" name="Picture 18" descr="A close up of a logo&#10;&#10;AI-generated content may be incorrect.">
            <a:extLst>
              <a:ext uri="{FF2B5EF4-FFF2-40B4-BE49-F238E27FC236}">
                <a16:creationId xmlns:a16="http://schemas.microsoft.com/office/drawing/2014/main" id="{E3232194-93D9-EC47-D39F-3F07F389C8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8" y="49174"/>
            <a:ext cx="3509771" cy="835946"/>
          </a:xfrm>
          <a:prstGeom prst="rect">
            <a:avLst/>
          </a:prstGeom>
        </p:spPr>
      </p:pic>
      <p:sp>
        <p:nvSpPr>
          <p:cNvPr id="10" name="Freeform 10">
            <a:extLst>
              <a:ext uri="{FF2B5EF4-FFF2-40B4-BE49-F238E27FC236}">
                <a16:creationId xmlns:a16="http://schemas.microsoft.com/office/drawing/2014/main" id="{3F1C3CB6-1CE7-5EC9-2EC5-BAAECF35B50C}"/>
              </a:ext>
            </a:extLst>
          </p:cNvPr>
          <p:cNvSpPr/>
          <p:nvPr/>
        </p:nvSpPr>
        <p:spPr>
          <a:xfrm>
            <a:off x="-3108961" y="1389329"/>
            <a:ext cx="6233505" cy="6266696"/>
          </a:xfrm>
          <a:custGeom>
            <a:avLst/>
            <a:gdLst/>
            <a:ahLst/>
            <a:cxnLst/>
            <a:rect l="l" t="t" r="r" b="b"/>
            <a:pathLst>
              <a:path w="12478229" h="12544672">
                <a:moveTo>
                  <a:pt x="0" y="0"/>
                </a:moveTo>
                <a:lnTo>
                  <a:pt x="12478229" y="0"/>
                </a:lnTo>
                <a:lnTo>
                  <a:pt x="12478229" y="12544672"/>
                </a:lnTo>
                <a:lnTo>
                  <a:pt x="0" y="1254467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>
              <a:alphaModFix amt="11000"/>
            </a:blip>
            <a:srcRect/>
            <a:stretch>
              <a:fillRect r="-148000"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539866E-AE45-003C-B6FC-EFD1DABDBF39}"/>
              </a:ext>
            </a:extLst>
          </p:cNvPr>
          <p:cNvSpPr/>
          <p:nvPr/>
        </p:nvSpPr>
        <p:spPr>
          <a:xfrm>
            <a:off x="11396785" y="-1672"/>
            <a:ext cx="792044" cy="206921"/>
          </a:xfrm>
          <a:custGeom>
            <a:avLst/>
            <a:gdLst/>
            <a:ahLst/>
            <a:cxnLst/>
            <a:rect l="l" t="t" r="r" b="b"/>
            <a:pathLst>
              <a:path w="1585513" h="414215">
                <a:moveTo>
                  <a:pt x="0" y="0"/>
                </a:moveTo>
                <a:lnTo>
                  <a:pt x="1585513" y="0"/>
                </a:lnTo>
                <a:lnTo>
                  <a:pt x="1585513" y="414216"/>
                </a:lnTo>
                <a:lnTo>
                  <a:pt x="0" y="414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28AB790-CD73-964B-DAAF-45FFBD527039}"/>
              </a:ext>
            </a:extLst>
          </p:cNvPr>
          <p:cNvSpPr/>
          <p:nvPr/>
        </p:nvSpPr>
        <p:spPr>
          <a:xfrm>
            <a:off x="11396785" y="477779"/>
            <a:ext cx="792044" cy="206921"/>
          </a:xfrm>
          <a:custGeom>
            <a:avLst/>
            <a:gdLst/>
            <a:ahLst/>
            <a:cxnLst/>
            <a:rect l="l" t="t" r="r" b="b"/>
            <a:pathLst>
              <a:path w="1585513" h="414215">
                <a:moveTo>
                  <a:pt x="0" y="0"/>
                </a:moveTo>
                <a:lnTo>
                  <a:pt x="1585513" y="0"/>
                </a:lnTo>
                <a:lnTo>
                  <a:pt x="1585513" y="414215"/>
                </a:lnTo>
                <a:lnTo>
                  <a:pt x="0" y="4142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D8B400E5-20D3-B8D6-DC3F-4E58E0F11B5B}"/>
              </a:ext>
            </a:extLst>
          </p:cNvPr>
          <p:cNvSpPr/>
          <p:nvPr userDrawn="1"/>
        </p:nvSpPr>
        <p:spPr>
          <a:xfrm>
            <a:off x="11399956" y="710095"/>
            <a:ext cx="792044" cy="206921"/>
          </a:xfrm>
          <a:custGeom>
            <a:avLst/>
            <a:gdLst/>
            <a:ahLst/>
            <a:cxnLst/>
            <a:rect l="l" t="t" r="r" b="b"/>
            <a:pathLst>
              <a:path w="1585513" h="414215">
                <a:moveTo>
                  <a:pt x="0" y="0"/>
                </a:moveTo>
                <a:lnTo>
                  <a:pt x="1585513" y="0"/>
                </a:lnTo>
                <a:lnTo>
                  <a:pt x="1585513" y="414215"/>
                </a:lnTo>
                <a:lnTo>
                  <a:pt x="0" y="4142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9DB7C1C6-A4AE-7D1B-0338-2CCACA8664EE}"/>
              </a:ext>
            </a:extLst>
          </p:cNvPr>
          <p:cNvSpPr/>
          <p:nvPr userDrawn="1"/>
        </p:nvSpPr>
        <p:spPr>
          <a:xfrm>
            <a:off x="11396785" y="236896"/>
            <a:ext cx="792044" cy="206921"/>
          </a:xfrm>
          <a:custGeom>
            <a:avLst/>
            <a:gdLst/>
            <a:ahLst/>
            <a:cxnLst/>
            <a:rect l="l" t="t" r="r" b="b"/>
            <a:pathLst>
              <a:path w="1585513" h="414215">
                <a:moveTo>
                  <a:pt x="0" y="0"/>
                </a:moveTo>
                <a:lnTo>
                  <a:pt x="1585513" y="0"/>
                </a:lnTo>
                <a:lnTo>
                  <a:pt x="1585513" y="414215"/>
                </a:lnTo>
                <a:lnTo>
                  <a:pt x="0" y="4142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78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D39E-C8F0-08C8-AFAD-27762937E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3934" y="1709738"/>
            <a:ext cx="405351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Thanks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4B0EF-BF59-9126-6A46-27F2694884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93934" y="4589463"/>
            <a:ext cx="405351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Any Question?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2C918-A643-272D-12E1-40D9F1BB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001EA-6A7A-608C-BEDA-1011D0611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10B23-8E91-347F-5A0E-4002CC64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9739A4A6-4791-5BA2-B1DD-0349D3540F39}"/>
              </a:ext>
            </a:extLst>
          </p:cNvPr>
          <p:cNvSpPr/>
          <p:nvPr userDrawn="1"/>
        </p:nvSpPr>
        <p:spPr>
          <a:xfrm>
            <a:off x="298774" y="517459"/>
            <a:ext cx="6233505" cy="6266696"/>
          </a:xfrm>
          <a:custGeom>
            <a:avLst/>
            <a:gdLst/>
            <a:ahLst/>
            <a:cxnLst/>
            <a:rect l="l" t="t" r="r" b="b"/>
            <a:pathLst>
              <a:path w="12478229" h="12544672">
                <a:moveTo>
                  <a:pt x="0" y="0"/>
                </a:moveTo>
                <a:lnTo>
                  <a:pt x="12478229" y="0"/>
                </a:lnTo>
                <a:lnTo>
                  <a:pt x="12478229" y="12544672"/>
                </a:lnTo>
                <a:lnTo>
                  <a:pt x="0" y="1254467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1000"/>
            </a:blip>
            <a:srcRect/>
            <a:stretch>
              <a:fillRect r="-148000"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1" name="Picture 20" descr="A green and white sign&#10;&#10;AI-generated content may be incorrect.">
            <a:extLst>
              <a:ext uri="{FF2B5EF4-FFF2-40B4-BE49-F238E27FC236}">
                <a16:creationId xmlns:a16="http://schemas.microsoft.com/office/drawing/2014/main" id="{FB8FD814-5707-0DDB-73AD-B2717CFE4E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37" y="217298"/>
            <a:ext cx="6152789" cy="146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1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80375-85B1-0560-D1C3-6F61C37D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E5E18-0BB5-5170-FAD4-F5EBF768B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850F7-C965-CD03-8153-490183B97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AF2EF-0969-C516-1E3A-69B26E4DD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A6DD9-B316-057C-F5E5-3345A19E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A9A5E-B06A-2385-BA67-B5FE42A9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8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FB9C-8465-7775-838E-3EA78FF4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06B35-DB06-15DB-0829-2E6F1CE77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13398-12C9-37D3-E21E-838DC5474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04619-5A30-CFF0-91F5-95C0ED334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7EE50-CC01-5117-79B4-A6D5C8552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61F1B-CED9-375A-DAD7-70EA73A96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76F369-740E-2A35-DEF5-583D0D8A6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A4C92-9489-C552-FDB4-1ADC4B70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2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C751-8772-0450-2666-D6532622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5B705E-7503-4C57-851B-2F102E2B6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D3ED8-E95A-289D-5B5A-5D70B8BD2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618A9-DD8C-AC6E-D1D7-DBDA48B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C148ED-E586-BCB5-04D8-B9653BE4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27125-89D4-1B47-F5C3-9769A3D60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AA77D-25C8-D73D-A7BD-F84AB865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70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1205-4367-5544-31B4-4EB4B2B78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3F1A9-F712-E59E-3888-27BAB3F1E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0ED70-F518-1792-E4E4-4F7A9B81C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177E9-780E-BFC3-98E3-57111F1F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0E2B2-2345-D548-45F3-8F93ADB52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DF807-5C6B-65FB-A5C7-C318DA68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9DCB3-E7F2-5F57-E579-5F02B52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56421-52E0-BDD0-2A5A-91B4E54B9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6C4E0-3754-6183-9696-F69C617C8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B555B-9437-EE32-BC33-02C7A3EE7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BF77E-D021-C8FA-9598-EA5286E5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E0A02-CC68-160F-FD97-68D6F7A9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9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DAD2-C661-890E-542B-3C520AE2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F9F5A-DB2D-6DA8-2D3F-3295A6601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B66D2-71B0-26A0-F53B-102AA771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81F9B-B465-4DE7-A5C6-8C2FDB89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4B801-3022-BEB2-235A-FC4CE1BC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6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07F3F-C706-B48B-7AA0-2F08937567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6C6F4-87F9-744B-0941-A5029275B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5B6F1-0CDD-466D-136A-5911E0FA1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96DC1-8BA2-6E33-8510-D69182920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965D9-0E33-2BF4-1E5F-05588F78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98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487C-8799-ED7F-EDCA-8852EAEF0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D7059-4557-C5A0-56D2-06D9AA9A6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64388-421A-F9A9-E280-6143C99A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28F6E-D59C-6F43-2410-F9B295AD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D3154-F42A-D109-4E9B-01CCE9EA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44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F643-2E71-7179-FE55-EFFB1F47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F36AD-951A-072B-F328-1EC903E7D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BB697-8F7F-B684-B607-E8B8C6831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9DD3C-24AA-6F19-87D8-893ACDE2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5227B-AABF-6933-2A61-7540CB6B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67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4353-6716-1943-9C2D-29AB7E4E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F471C-26D6-1F32-9E6E-25F5663A2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47F7-EB5D-4EF1-CEC8-D2ECA343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EA4F7-0472-3175-A173-49FD46706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46E1-7344-07D2-0CF5-C972A72F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24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E0619-DE70-314A-2F96-87825CCB3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30C75-D98C-0F54-26B5-4E0CE6F33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CFC74-AA5D-642A-55E9-D3903B07B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E643C-5700-8E02-FD82-3DE2D49B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B1B44-D0CC-56D8-0B81-81EA3A3E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50D1E-EEF2-B4AC-B23A-F6992A20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24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C35F-4F2A-E585-37FF-66CCB788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CF15E-95CB-2377-E5A6-A8EA6DE26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F165D-F642-3896-9B30-7A5DC2486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667838-F4BA-2573-53A8-3FBA32FC9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D47A1-5EC3-A9D1-CEE7-C1F9BDA62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77AB4-5F99-B6E3-B642-C469726C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8B891E-D87C-EDFC-AA89-84CE5162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E0447E-0C4C-36E2-5274-DAF84088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75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1F1A-35D8-63E4-DA1F-58587063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8C130-63B3-C7C6-6858-AA5CB3887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B6805-A7A4-B57E-37AA-B91C5105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94EBE-04EF-EC0C-E546-49218C1E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464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714AE-B3A2-A1DA-DF4E-134667AD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57F28-2428-A2F3-CCF1-3B68C0FA7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4F877-91CF-26C2-180A-84712C9B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42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E3AC-950A-45D3-3A91-FD5F99FE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A31AD-6C3B-A2C8-A33A-646BD3F6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9C523-39E7-87E1-696E-F7AC1C5EF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4773F-4CDE-E03E-AB83-4A4AA816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07DE6-2AFF-4EDB-6999-A3B2F763E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A90B4-FB4C-7956-6F96-04788AE7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59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5FB1-7244-02B6-3342-E98519EFF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346788-3281-933E-23AE-921C6704A3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016AF-3617-D46C-EC14-5C83DD22E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6A493-3452-BF89-3A46-BE25E319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90C00-5BB5-8EB8-9824-4E16E41E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5B3DF-B643-39F9-0635-075827D7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72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9CD43-E7F5-1A00-2A37-5666B2E4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20D26-70D3-0C38-FE8C-F3860F5D6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7F8B3-6F54-1B24-A04C-057A3771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F17AD-AF33-0225-E32A-BA329893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11502-D813-FD62-245A-E79B452A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87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14A76-63B3-35BF-5483-433E371FD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3F67E-19C6-F69E-61D6-122BA3895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82C80-F1D3-E9FE-578F-24A8A610A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E085-68F6-DC6A-24BD-64631EB5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8C730-C6CD-9CD7-A9F0-4C5556382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34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5CAF-CDB9-38EC-9679-0CC170B18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6014F-EA46-F520-F890-3F2726420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3A7D8-E7A6-CD69-2334-6E3704906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F03A9-1CC1-6F1E-14BF-B3E406E1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B8126-229E-EA0B-91E7-D1C1A288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945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56A94-F436-EEBF-1D6A-4784A282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5215B-556C-7987-79A1-EFDF1E10D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6561C-C0BC-5BE1-8AFD-FBEC0C30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CC1B3-02A3-EF23-470F-A7433094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A4BB1-D341-6677-8F6B-691C2ABD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021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A6EC-6058-CF74-05E8-EDC94BB5A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B4BA7-6476-2F5A-6AB2-2C3A45F9E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B5C6A-F79B-1C3F-59E2-9CE328C6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D236D-365E-93CB-63C1-BE576687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2EED3-9C1A-A619-5C8A-1E136636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0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30B32-FD46-5F86-9587-462E9C41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6405-8413-4364-AB81-B44EC6F93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D6109-3CD6-2DA5-D1D1-1183529EB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8EF10-4113-8C71-ABD0-77A1FDE6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DBDC8-0DBF-A973-9532-7E76F03B9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FC547-5060-BBAD-92CF-B6F11A96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355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E6CB-F26D-2250-0506-19711F1B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69B9A-C138-5571-449F-0D13BA912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B6657-31AB-9192-75D3-BFD3338F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DEF5C5-8BA5-3C73-7C57-09E79BE16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A42F9-CABD-88B3-E7CF-0C08D697E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FFCD67-4175-1AED-7D15-B65BC391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E3774F-6DB1-CDB5-0B80-B807ED372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ED9E43-11ED-9AAA-591A-C9ECED90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938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5E1F-30F5-DA80-E71E-BC161010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D609E-F52B-763E-D463-1CB21921E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AC20C-63FC-AEF8-781E-A7EF3DF29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0E432-94A1-2985-BB6C-78526815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85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6A314-F676-4F17-F2FB-F412ECB01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6E3F7D-D7BF-9655-971E-F804D787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3A498-AA02-A31A-F840-BC9D326A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965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C7C20-A48A-F0A9-A1AF-368811467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ACF3F-B57E-DCB5-B24C-8EBB5221D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C2B2B-23F6-1BD7-E5CC-0B6F73EB3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D85E0-B2AA-BBCD-8E18-C00E509C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14113-3EB6-2CF0-A5F5-5F87197D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A26E2-3D28-A0DE-B626-BE747763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723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3659-2F28-13DC-1BA7-BB121A39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2F523-EF1E-E005-F363-799B15B31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F1691-AE46-FF53-3F22-B0DC41BE2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891D6-A03D-1A03-1BAF-8DB41E20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DEF8D-E9D0-691A-9FD7-8937E007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0AEB7-F177-BCA4-924A-DE0A71A0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188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9CEE-D88F-4A85-EF69-D517CB0F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60BC9-B249-2A0B-5C15-EA4D5FBEF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04026-FDCB-9618-7011-CB432BF9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26139-661F-BE9B-F6C4-CB52041F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6CCC8-B562-D9E5-76AB-72A34160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361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38390-0E80-C790-597C-9EA905075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56CD8-E002-EBD5-68E4-6D38950EF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F753-679C-0028-6E4E-83CBA736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83378-9FCD-0A8D-F5F6-0DAF4C9C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D802-C3B9-F7A8-9948-E19ABBEE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2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86DAA8-C7A0-519C-0433-48868AA4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B805F-CCCB-7D40-9FBB-C50796A85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3FE7B-D4EE-6218-A2CE-D7E741E37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2E528-5209-4A61-9A99-F9D5F086242B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2BBDC-2FC1-DB45-94A7-BE41BA6F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A9156-448D-F167-BAB9-0744017C7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5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EE145-8D5D-5495-1FBB-2152F616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76F70-2B25-4835-BA43-47A512310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4FB0C-7B08-2AFD-21C9-0D751E553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B9DFE-3346-49E3-82A1-34AE69B65C7E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BE12-D03E-3575-4DDD-A08D6A397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6285A-8CB1-4FBC-0117-EF3730173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764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1F5DB-7DF9-FB29-F9C1-63FE050E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09277-3A6D-8B95-5E1D-569B47B38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A9438-0F0E-6AC0-4B26-07CB69CBD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9062B-7F7D-42B0-934B-234B52EDB4C7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A7573-05C9-5688-301D-3471C9C21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13232-F972-14DD-B50F-FEE49646E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8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reporting.cgiar.org/" TargetMode="External"/><Relationship Id="rId3" Type="http://schemas.openxmlformats.org/officeDocument/2006/relationships/hyperlink" Target="https://reporting.cgiar.org/reports/result-details/404" TargetMode="External"/><Relationship Id="rId7" Type="http://schemas.openxmlformats.org/officeDocument/2006/relationships/hyperlink" Target="https://reporting.cgiar.org/reports/result-details/7651" TargetMode="External"/><Relationship Id="rId2" Type="http://schemas.openxmlformats.org/officeDocument/2006/relationships/hyperlink" Target="https://reporting.cgiar.org/reports/result-details/39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porting.cgiar.org/reports/result-details/7011" TargetMode="External"/><Relationship Id="rId5" Type="http://schemas.openxmlformats.org/officeDocument/2006/relationships/hyperlink" Target="https://reporting.cgiar.org/reports/result-details/5344" TargetMode="External"/><Relationship Id="rId4" Type="http://schemas.openxmlformats.org/officeDocument/2006/relationships/hyperlink" Target="https://reporting.cgiar.org/reports/result-details/5194" TargetMode="External"/><Relationship Id="rId9" Type="http://schemas.openxmlformats.org/officeDocument/2006/relationships/hyperlink" Target="https://www.cgiar.org/food-security-impact/new-results-dashboard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3187F4-7561-B837-F7E9-1BE72B8E0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3513" y="2466475"/>
            <a:ext cx="6988629" cy="20510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3300" dirty="0"/>
              <a:t>Closing the Adaptation Gap in agriculture: Scaling </a:t>
            </a:r>
            <a:r>
              <a:rPr lang="en-US" sz="3300" dirty="0" err="1"/>
              <a:t>Agvisely</a:t>
            </a:r>
            <a:r>
              <a:rPr lang="en-US" sz="3300" dirty="0"/>
              <a:t> Climate Services to Build Resilient Farming Systems in Bangladesh</a:t>
            </a:r>
          </a:p>
          <a:p>
            <a:r>
              <a:rPr lang="en-US" dirty="0"/>
              <a:t>28/01/2026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AC655-D673-6D88-2205-21FC07F6EC5D}"/>
              </a:ext>
            </a:extLst>
          </p:cNvPr>
          <p:cNvSpPr txBox="1"/>
          <p:nvPr/>
        </p:nvSpPr>
        <p:spPr>
          <a:xfrm>
            <a:off x="903514" y="5976257"/>
            <a:ext cx="4049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T.S </a:t>
            </a:r>
            <a:r>
              <a:rPr lang="en-US" dirty="0" err="1"/>
              <a:t>Amjath-Babu</a:t>
            </a:r>
            <a:r>
              <a:rPr lang="en-US" dirty="0"/>
              <a:t>, Senior Agricultural Economist , CIMMYT</a:t>
            </a:r>
          </a:p>
        </p:txBody>
      </p:sp>
    </p:spTree>
    <p:extLst>
      <p:ext uri="{BB962C8B-B14F-4D97-AF65-F5344CB8AC3E}">
        <p14:creationId xmlns:p14="http://schemas.microsoft.com/office/powerpoint/2010/main" val="2373847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8985-3FF5-5E4A-7AC0-D6D5A83D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 Scaling Track Presentation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DDFDA-F204-362A-DEF5-928977FD4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836" y="2109667"/>
            <a:ext cx="10478386" cy="41643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110004020202020204"/>
            </a:pPr>
            <a:r>
              <a:rPr lang="en-US" sz="1800" i="1" dirty="0">
                <a:latin typeface="Arial"/>
                <a:cs typeface="Arial"/>
              </a:rPr>
              <a:t>Introduction of</a:t>
            </a:r>
            <a:r>
              <a:rPr lang="en-US" sz="1800" dirty="0">
                <a:latin typeface="Arial"/>
                <a:cs typeface="Arial"/>
              </a:rPr>
              <a:t> the innovation/package</a:t>
            </a:r>
          </a:p>
          <a:p>
            <a:pPr lvl="1">
              <a:buFont typeface="Courier New" panose="02110004020202020204"/>
              <a:buChar char="o"/>
            </a:pPr>
            <a:r>
              <a:rPr lang="en-US" sz="1800" dirty="0" err="1">
                <a:latin typeface="Arial"/>
                <a:cs typeface="Arial"/>
              </a:rPr>
              <a:t>Agvisely</a:t>
            </a:r>
            <a:r>
              <a:rPr lang="en-US" sz="1800" dirty="0">
                <a:latin typeface="Arial"/>
                <a:cs typeface="Arial"/>
              </a:rPr>
              <a:t> – farming system advisories</a:t>
            </a:r>
          </a:p>
          <a:p>
            <a:pPr>
              <a:buFont typeface="Arial" panose="02110004020202020204"/>
            </a:pPr>
            <a:r>
              <a:rPr lang="en-US" sz="1800" b="1" dirty="0"/>
              <a:t>The scaling pathway(s) </a:t>
            </a:r>
            <a:r>
              <a:rPr lang="en-US" sz="1800" dirty="0"/>
              <a:t>for achieving scaling ambition</a:t>
            </a:r>
          </a:p>
          <a:p>
            <a:pPr lvl="1">
              <a:buFont typeface="Courier New" panose="02110004020202020204"/>
              <a:buChar char="o"/>
            </a:pPr>
            <a:r>
              <a:rPr lang="en-US" sz="1800" dirty="0" err="1">
                <a:latin typeface="Arial"/>
                <a:cs typeface="Arial"/>
              </a:rPr>
              <a:t>Agvisely</a:t>
            </a:r>
            <a:r>
              <a:rPr lang="en-US" sz="1800" dirty="0">
                <a:latin typeface="Arial"/>
                <a:cs typeface="Arial"/>
              </a:rPr>
              <a:t> Scaling plan – Portfolio of bundles</a:t>
            </a:r>
          </a:p>
          <a:p>
            <a:pPr lvl="1">
              <a:buFont typeface="Courier New" panose="02110004020202020204"/>
              <a:buChar char="o"/>
            </a:pPr>
            <a:r>
              <a:rPr lang="en-US" sz="1800" dirty="0" err="1">
                <a:latin typeface="Arial"/>
                <a:cs typeface="Arial"/>
              </a:rPr>
              <a:t>Agvisley</a:t>
            </a:r>
            <a:r>
              <a:rPr lang="en-US" sz="1800" dirty="0">
                <a:latin typeface="Arial"/>
                <a:cs typeface="Arial"/>
              </a:rPr>
              <a:t> – increasing value proposition</a:t>
            </a:r>
          </a:p>
          <a:p>
            <a:pPr lvl="1">
              <a:buFont typeface="Courier New" panose="02110004020202020204"/>
              <a:buChar char="o"/>
            </a:pPr>
            <a:r>
              <a:rPr lang="en-US" sz="1800" dirty="0">
                <a:latin typeface="Arial"/>
                <a:cs typeface="Arial"/>
              </a:rPr>
              <a:t>Scaling bundles: Why </a:t>
            </a:r>
            <a:r>
              <a:rPr lang="en-US" sz="1800" dirty="0" err="1">
                <a:latin typeface="Arial"/>
                <a:cs typeface="Arial"/>
              </a:rPr>
              <a:t>Agvisely</a:t>
            </a:r>
            <a:r>
              <a:rPr lang="en-US" sz="1800" dirty="0">
                <a:latin typeface="Arial"/>
                <a:cs typeface="Arial"/>
              </a:rPr>
              <a:t>? </a:t>
            </a:r>
          </a:p>
          <a:p>
            <a:pPr lvl="1">
              <a:buFont typeface="Courier New" panose="02110004020202020204"/>
              <a:buChar char="o"/>
            </a:pPr>
            <a:r>
              <a:rPr lang="en-US" sz="1800" dirty="0">
                <a:latin typeface="Arial"/>
                <a:cs typeface="Arial"/>
              </a:rPr>
              <a:t>Scaling ambition -2026 and beyond </a:t>
            </a:r>
          </a:p>
          <a:p>
            <a:pPr lvl="1">
              <a:buFont typeface="Courier New" panose="02110004020202020204"/>
              <a:buChar char="o"/>
            </a:pPr>
            <a:r>
              <a:rPr lang="en-US" sz="1800" dirty="0">
                <a:latin typeface="Arial"/>
                <a:cs typeface="Arial"/>
              </a:rPr>
              <a:t>Key scaling and demand partners and evidence </a:t>
            </a:r>
          </a:p>
          <a:p>
            <a:pPr lvl="1">
              <a:buFont typeface="Courier New" panose="02110004020202020204"/>
              <a:buChar char="o"/>
            </a:pPr>
            <a:r>
              <a:rPr lang="en-US" sz="1800" dirty="0">
                <a:latin typeface="Arial"/>
                <a:cs typeface="Arial"/>
              </a:rPr>
              <a:t>Scaling strategy and challenges </a:t>
            </a:r>
          </a:p>
          <a:p>
            <a:pPr lvl="1">
              <a:buFont typeface="Courier New" panose="02110004020202020204"/>
              <a:buChar char="o"/>
            </a:pPr>
            <a:r>
              <a:rPr lang="en-US" sz="1800" b="1" dirty="0"/>
              <a:t>Theory of change statement</a:t>
            </a:r>
            <a:endParaRPr lang="en-US" sz="1800" dirty="0"/>
          </a:p>
          <a:p>
            <a:pPr lvl="1">
              <a:buFont typeface="Courier New" panose="02110004020202020204"/>
              <a:buChar char="o"/>
            </a:pPr>
            <a:r>
              <a:rPr lang="en-US" sz="1800" dirty="0">
                <a:latin typeface="Arial"/>
                <a:cs typeface="Arial"/>
              </a:rPr>
              <a:t>Implementation GANNT chart </a:t>
            </a:r>
          </a:p>
          <a:p>
            <a:pPr lvl="1">
              <a:buFont typeface="Courier New" panose="02110004020202020204"/>
              <a:buChar char="o"/>
            </a:pPr>
            <a:r>
              <a:rPr lang="en-US" sz="1800" dirty="0">
                <a:latin typeface="Arial"/>
                <a:cs typeface="Arial"/>
              </a:rPr>
              <a:t>Bilateral Projects</a:t>
            </a:r>
          </a:p>
          <a:p>
            <a:pPr>
              <a:buFont typeface="Arial" panose="02110004020202020204"/>
            </a:pPr>
            <a:endParaRPr lang="en-US" sz="1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9E9BA78-E0D3-55DC-B28A-157DFA9574AF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Flagship Scaling Track Process</a:t>
            </a:r>
          </a:p>
        </p:txBody>
      </p:sp>
    </p:spTree>
    <p:extLst>
      <p:ext uri="{BB962C8B-B14F-4D97-AF65-F5344CB8AC3E}">
        <p14:creationId xmlns:p14="http://schemas.microsoft.com/office/powerpoint/2010/main" val="3551909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3AF35-6A38-D343-D6DE-340EAB60B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056" y="911269"/>
            <a:ext cx="8339421" cy="937363"/>
          </a:xfrm>
        </p:spPr>
        <p:txBody>
          <a:bodyPr>
            <a:normAutofit/>
          </a:bodyPr>
          <a:lstStyle/>
          <a:p>
            <a:r>
              <a:rPr lang="en-US" sz="4000" dirty="0"/>
              <a:t> – Farming system level advisories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7D24D9-881A-37F7-9462-D8A3359EC015}"/>
              </a:ext>
            </a:extLst>
          </p:cNvPr>
          <p:cNvSpPr txBox="1">
            <a:spLocks/>
          </p:cNvSpPr>
          <p:nvPr/>
        </p:nvSpPr>
        <p:spPr>
          <a:xfrm>
            <a:off x="331228" y="1358781"/>
            <a:ext cx="11434052" cy="481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82C10-DA1F-4E79-CD7E-F83C5417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650" y="2422567"/>
            <a:ext cx="4448039" cy="374007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78F89A5-55BC-F457-5236-40FB932BD9B6}"/>
              </a:ext>
            </a:extLst>
          </p:cNvPr>
          <p:cNvSpPr/>
          <p:nvPr/>
        </p:nvSpPr>
        <p:spPr>
          <a:xfrm>
            <a:off x="5051625" y="2183416"/>
            <a:ext cx="604911" cy="4783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BEF196-A527-5671-F61C-95A306216E14}"/>
              </a:ext>
            </a:extLst>
          </p:cNvPr>
          <p:cNvSpPr/>
          <p:nvPr/>
        </p:nvSpPr>
        <p:spPr>
          <a:xfrm>
            <a:off x="5297433" y="4524088"/>
            <a:ext cx="604911" cy="47830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58359F-D9EA-5C7D-4B1B-40D5BB95CE3F}"/>
              </a:ext>
            </a:extLst>
          </p:cNvPr>
          <p:cNvSpPr/>
          <p:nvPr/>
        </p:nvSpPr>
        <p:spPr>
          <a:xfrm>
            <a:off x="1311222" y="5053385"/>
            <a:ext cx="604911" cy="478302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77D3E7-4031-74A1-C68D-44C28909BA06}"/>
              </a:ext>
            </a:extLst>
          </p:cNvPr>
          <p:cNvSpPr/>
          <p:nvPr/>
        </p:nvSpPr>
        <p:spPr>
          <a:xfrm>
            <a:off x="1978860" y="2045557"/>
            <a:ext cx="604911" cy="478302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D12D5-4FBE-95E2-BFF4-62E3DD7344CC}"/>
              </a:ext>
            </a:extLst>
          </p:cNvPr>
          <p:cNvSpPr txBox="1"/>
          <p:nvPr/>
        </p:nvSpPr>
        <p:spPr>
          <a:xfrm>
            <a:off x="5693005" y="2216347"/>
            <a:ext cx="209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Generate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E175C-8A1F-6DE0-45AD-2E04146BF307}"/>
              </a:ext>
            </a:extLst>
          </p:cNvPr>
          <p:cNvSpPr txBox="1"/>
          <p:nvPr/>
        </p:nvSpPr>
        <p:spPr>
          <a:xfrm>
            <a:off x="5538422" y="2633075"/>
            <a:ext cx="23986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Automated processing numerical weather model forecast output</a:t>
            </a:r>
          </a:p>
          <a:p>
            <a:r>
              <a:rPr lang="en-US" sz="1600" dirty="0"/>
              <a:t>BMD/RIMES/UKMET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73243-5893-C105-DF25-D7CEDD2C1207}"/>
              </a:ext>
            </a:extLst>
          </p:cNvPr>
          <p:cNvSpPr txBox="1"/>
          <p:nvPr/>
        </p:nvSpPr>
        <p:spPr>
          <a:xfrm>
            <a:off x="5288238" y="5067386"/>
            <a:ext cx="31292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Automated detection of biological thresholds being exceeded in next 5 days for forecasted temperature, rainfall or Temperature-Humidity Index  (crops, livestock, aquaculture) .  Integrated crop calendar.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CCC7E0-8710-830D-2238-FE5FD6028A4D}"/>
              </a:ext>
            </a:extLst>
          </p:cNvPr>
          <p:cNvSpPr txBox="1"/>
          <p:nvPr/>
        </p:nvSpPr>
        <p:spPr>
          <a:xfrm>
            <a:off x="5911906" y="4669442"/>
            <a:ext cx="209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Analyze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F556F52F-BB24-9ACB-EF60-E19819FA91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0793680"/>
              </p:ext>
            </p:extLst>
          </p:nvPr>
        </p:nvGraphicFramePr>
        <p:xfrm>
          <a:off x="8564178" y="1358781"/>
          <a:ext cx="3424413" cy="5357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9023835-D5ED-A602-FCE9-C1B9F81038B4}"/>
              </a:ext>
            </a:extLst>
          </p:cNvPr>
          <p:cNvSpPr txBox="1"/>
          <p:nvPr/>
        </p:nvSpPr>
        <p:spPr>
          <a:xfrm>
            <a:off x="321936" y="5615803"/>
            <a:ext cx="209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Translate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A8558A-C0A5-0A07-D673-E73EBEC69B31}"/>
              </a:ext>
            </a:extLst>
          </p:cNvPr>
          <p:cNvSpPr txBox="1"/>
          <p:nvPr/>
        </p:nvSpPr>
        <p:spPr>
          <a:xfrm>
            <a:off x="191760" y="2410478"/>
            <a:ext cx="209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Transfer &amp; Use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C40C82-0E95-7C2B-280B-AB19BCBD62E9}"/>
              </a:ext>
            </a:extLst>
          </p:cNvPr>
          <p:cNvSpPr txBox="1"/>
          <p:nvPr/>
        </p:nvSpPr>
        <p:spPr>
          <a:xfrm>
            <a:off x="242426" y="2786973"/>
            <a:ext cx="15988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Mobile app,</a:t>
            </a:r>
          </a:p>
          <a:p>
            <a:r>
              <a:rPr lang="en-US" sz="1600" dirty="0"/>
              <a:t>website, SMS,</a:t>
            </a:r>
          </a:p>
          <a:p>
            <a:r>
              <a:rPr lang="en-US" sz="1600" dirty="0"/>
              <a:t>social media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7EA85D-2268-BCBB-7036-7C41011FB9F2}"/>
              </a:ext>
            </a:extLst>
          </p:cNvPr>
          <p:cNvSpPr txBox="1"/>
          <p:nvPr/>
        </p:nvSpPr>
        <p:spPr>
          <a:xfrm>
            <a:off x="351490" y="5925873"/>
            <a:ext cx="42086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Automated translation of detected thresholds to advisory notifications based on growth stage (crop, livestock, aquaculture). Stage specific GAPs, IPM advisory</a:t>
            </a:r>
          </a:p>
        </p:txBody>
      </p:sp>
      <p:pic>
        <p:nvPicPr>
          <p:cNvPr id="11" name="Picture 2" descr="Agvisely">
            <a:extLst>
              <a:ext uri="{FF2B5EF4-FFF2-40B4-BE49-F238E27FC236}">
                <a16:creationId xmlns:a16="http://schemas.microsoft.com/office/drawing/2014/main" id="{99AEDE1A-B24A-EC01-F32F-EB633E362D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94"/>
          <a:stretch/>
        </p:blipFill>
        <p:spPr bwMode="auto">
          <a:xfrm>
            <a:off x="50290" y="951938"/>
            <a:ext cx="2098312" cy="1234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115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D55F-6D25-86F7-4445-23E475FB5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03" y="767511"/>
            <a:ext cx="10515600" cy="937363"/>
          </a:xfrm>
        </p:spPr>
        <p:txBody>
          <a:bodyPr/>
          <a:lstStyle/>
          <a:p>
            <a:r>
              <a:rPr lang="en-US" dirty="0" err="1"/>
              <a:t>Agvisely</a:t>
            </a:r>
            <a:r>
              <a:rPr lang="en-US" dirty="0"/>
              <a:t> scaling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9ACCD-774B-4F2B-C987-F0731D73F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84" y="1840867"/>
            <a:ext cx="2064204" cy="4472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4C4461-06AA-12D2-6BA4-430CACBCDCA9}"/>
              </a:ext>
            </a:extLst>
          </p:cNvPr>
          <p:cNvSpPr txBox="1"/>
          <p:nvPr/>
        </p:nvSpPr>
        <p:spPr>
          <a:xfrm>
            <a:off x="3133200" y="3753923"/>
            <a:ext cx="162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Finance bundle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D87DEB-DB2C-7D0F-5A89-3F015F65BB29}"/>
              </a:ext>
            </a:extLst>
          </p:cNvPr>
          <p:cNvSpPr txBox="1"/>
          <p:nvPr/>
        </p:nvSpPr>
        <p:spPr>
          <a:xfrm>
            <a:off x="4403271" y="1644751"/>
            <a:ext cx="1244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IRRI – Bilateral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4B2126-D9B0-FFA4-13CC-5F26E98A3F0C}"/>
              </a:ext>
            </a:extLst>
          </p:cNvPr>
          <p:cNvCxnSpPr/>
          <p:nvPr/>
        </p:nvCxnSpPr>
        <p:spPr>
          <a:xfrm>
            <a:off x="5529943" y="1967916"/>
            <a:ext cx="10994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68F9F3D-4A57-AF28-1FC2-8C4666777277}"/>
              </a:ext>
            </a:extLst>
          </p:cNvPr>
          <p:cNvGrpSpPr/>
          <p:nvPr/>
        </p:nvGrpSpPr>
        <p:grpSpPr>
          <a:xfrm>
            <a:off x="2893715" y="2263909"/>
            <a:ext cx="4397829" cy="2270353"/>
            <a:chOff x="2775857" y="968829"/>
            <a:chExt cx="4397829" cy="227035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255A135-22C3-E02E-14A1-57558199CABB}"/>
                </a:ext>
              </a:extLst>
            </p:cNvPr>
            <p:cNvSpPr/>
            <p:nvPr/>
          </p:nvSpPr>
          <p:spPr>
            <a:xfrm>
              <a:off x="2775857" y="1447800"/>
              <a:ext cx="3722914" cy="1791382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F811519-E3FA-DB77-6424-8DCDF151801D}"/>
                </a:ext>
              </a:extLst>
            </p:cNvPr>
            <p:cNvCxnSpPr/>
            <p:nvPr/>
          </p:nvCxnSpPr>
          <p:spPr>
            <a:xfrm flipV="1">
              <a:off x="6498771" y="968829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6513667-BAD1-A88A-3CB8-D33B577FFE2A}"/>
              </a:ext>
            </a:extLst>
          </p:cNvPr>
          <p:cNvSpPr txBox="1"/>
          <p:nvPr/>
        </p:nvSpPr>
        <p:spPr>
          <a:xfrm>
            <a:off x="3176320" y="2655794"/>
            <a:ext cx="162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Extension bundle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ABC11B-C318-86C6-B01D-5B999545FDAB}"/>
              </a:ext>
            </a:extLst>
          </p:cNvPr>
          <p:cNvSpPr txBox="1"/>
          <p:nvPr/>
        </p:nvSpPr>
        <p:spPr>
          <a:xfrm>
            <a:off x="4637314" y="3808811"/>
            <a:ext cx="2799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Agvisely</a:t>
            </a:r>
            <a:r>
              <a:rPr lang="en-US" dirty="0"/>
              <a:t> API integration with Private sector Fintech partner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FDD16C-72A2-7CD5-E8B2-03DC0EA3830B}"/>
              </a:ext>
            </a:extLst>
          </p:cNvPr>
          <p:cNvSpPr txBox="1"/>
          <p:nvPr/>
        </p:nvSpPr>
        <p:spPr>
          <a:xfrm>
            <a:off x="6115049" y="2909216"/>
            <a:ext cx="2799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Agvisely</a:t>
            </a:r>
            <a:r>
              <a:rPr lang="en-US" dirty="0"/>
              <a:t> institutionalization with microfinance partner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299D06-0DEB-5C61-C341-DAA4016591BA}"/>
              </a:ext>
            </a:extLst>
          </p:cNvPr>
          <p:cNvSpPr txBox="1"/>
          <p:nvPr/>
        </p:nvSpPr>
        <p:spPr>
          <a:xfrm>
            <a:off x="4166506" y="35606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CIMMYT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061FF73-BC19-C33A-55FC-130C5BB97108}"/>
              </a:ext>
            </a:extLst>
          </p:cNvPr>
          <p:cNvGrpSpPr/>
          <p:nvPr/>
        </p:nvGrpSpPr>
        <p:grpSpPr>
          <a:xfrm>
            <a:off x="3231171" y="3297302"/>
            <a:ext cx="6694822" cy="3103373"/>
            <a:chOff x="3231171" y="3297302"/>
            <a:chExt cx="6694822" cy="310337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054A9A-2C60-3057-4130-6E80CFECC9E8}"/>
                </a:ext>
              </a:extLst>
            </p:cNvPr>
            <p:cNvSpPr/>
            <p:nvPr/>
          </p:nvSpPr>
          <p:spPr>
            <a:xfrm>
              <a:off x="3231171" y="3744506"/>
              <a:ext cx="6095999" cy="2656169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62C0D12-3BA0-647B-C80C-E42789923ADD}"/>
                </a:ext>
              </a:extLst>
            </p:cNvPr>
            <p:cNvCxnSpPr/>
            <p:nvPr/>
          </p:nvCxnSpPr>
          <p:spPr>
            <a:xfrm flipV="1">
              <a:off x="9251078" y="3297302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AC49DB1-6345-47BE-F18A-EA32837B99B2}"/>
              </a:ext>
            </a:extLst>
          </p:cNvPr>
          <p:cNvSpPr txBox="1"/>
          <p:nvPr/>
        </p:nvSpPr>
        <p:spPr>
          <a:xfrm>
            <a:off x="3826328" y="5573662"/>
            <a:ext cx="162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Agitech</a:t>
            </a:r>
            <a:r>
              <a:rPr lang="en-US" dirty="0"/>
              <a:t> bundle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9E6F63-4168-8B57-6A29-5C1D2730A06F}"/>
              </a:ext>
            </a:extLst>
          </p:cNvPr>
          <p:cNvSpPr txBox="1"/>
          <p:nvPr/>
        </p:nvSpPr>
        <p:spPr>
          <a:xfrm>
            <a:off x="8007274" y="4352470"/>
            <a:ext cx="2799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Agvisely</a:t>
            </a:r>
            <a:r>
              <a:rPr lang="en-US" dirty="0"/>
              <a:t> API integration with Govt. partner(BARC)  app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A258A1-F4D1-E0F3-36DB-54DD78DBB164}"/>
              </a:ext>
            </a:extLst>
          </p:cNvPr>
          <p:cNvSpPr txBox="1"/>
          <p:nvPr/>
        </p:nvSpPr>
        <p:spPr>
          <a:xfrm>
            <a:off x="5405281" y="26917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IRRI/WF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607BA8-868D-F828-2E2A-55F8EDD055D9}"/>
              </a:ext>
            </a:extLst>
          </p:cNvPr>
          <p:cNvSpPr txBox="1"/>
          <p:nvPr/>
        </p:nvSpPr>
        <p:spPr>
          <a:xfrm>
            <a:off x="5949875" y="5629745"/>
            <a:ext cx="2799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Agvisely</a:t>
            </a:r>
            <a:r>
              <a:rPr lang="en-US" dirty="0"/>
              <a:t> API integration with Private sector </a:t>
            </a:r>
            <a:r>
              <a:rPr lang="en-US" dirty="0" err="1"/>
              <a:t>Agritech</a:t>
            </a:r>
            <a:r>
              <a:rPr lang="en-US" dirty="0"/>
              <a:t> partner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31B74FF-862A-AE2E-439A-350735E1DCC5}"/>
              </a:ext>
            </a:extLst>
          </p:cNvPr>
          <p:cNvSpPr/>
          <p:nvPr/>
        </p:nvSpPr>
        <p:spPr>
          <a:xfrm>
            <a:off x="9251078" y="1757729"/>
            <a:ext cx="444427" cy="36695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F9F2F23-665B-FA59-60F3-8CB4E190C6A3}"/>
              </a:ext>
            </a:extLst>
          </p:cNvPr>
          <p:cNvSpPr/>
          <p:nvPr/>
        </p:nvSpPr>
        <p:spPr>
          <a:xfrm>
            <a:off x="7912134" y="2878270"/>
            <a:ext cx="444427" cy="36695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9DF18CD-9B97-1205-EC5E-BFB855DC07C8}"/>
              </a:ext>
            </a:extLst>
          </p:cNvPr>
          <p:cNvSpPr/>
          <p:nvPr/>
        </p:nvSpPr>
        <p:spPr>
          <a:xfrm>
            <a:off x="8231068" y="6033719"/>
            <a:ext cx="444427" cy="36695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4EABE6E-B7ED-BCF1-BD64-A1EC92C118FD}"/>
              </a:ext>
            </a:extLst>
          </p:cNvPr>
          <p:cNvSpPr/>
          <p:nvPr/>
        </p:nvSpPr>
        <p:spPr>
          <a:xfrm>
            <a:off x="10584576" y="4400254"/>
            <a:ext cx="444427" cy="36695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935A22-47F7-2D3C-926B-753C97D40083}"/>
              </a:ext>
            </a:extLst>
          </p:cNvPr>
          <p:cNvSpPr/>
          <p:nvPr/>
        </p:nvSpPr>
        <p:spPr>
          <a:xfrm>
            <a:off x="6279170" y="4467159"/>
            <a:ext cx="444427" cy="36695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987D89-3E16-DADF-DA8B-801B6F009EE1}"/>
              </a:ext>
            </a:extLst>
          </p:cNvPr>
          <p:cNvSpPr txBox="1"/>
          <p:nvPr/>
        </p:nvSpPr>
        <p:spPr>
          <a:xfrm>
            <a:off x="6671098" y="1784438"/>
            <a:ext cx="2656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Lead farmers’ network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D7F742-F3BD-1CB1-899F-EA000A0A885F}"/>
              </a:ext>
            </a:extLst>
          </p:cNvPr>
          <p:cNvSpPr txBox="1"/>
          <p:nvPr/>
        </p:nvSpPr>
        <p:spPr>
          <a:xfrm>
            <a:off x="9494117" y="3318505"/>
            <a:ext cx="279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Agvisely</a:t>
            </a:r>
            <a:r>
              <a:rPr lang="en-US" dirty="0"/>
              <a:t> API integration ONE Fish app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AA30F4-823F-5C13-B135-920FB139CE8B}"/>
              </a:ext>
            </a:extLst>
          </p:cNvPr>
          <p:cNvSpPr txBox="1"/>
          <p:nvPr/>
        </p:nvSpPr>
        <p:spPr>
          <a:xfrm>
            <a:off x="5086347" y="5269270"/>
            <a:ext cx="1637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CIMMYT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7136B-2B52-1170-DED7-C71C5884C1F9}"/>
              </a:ext>
            </a:extLst>
          </p:cNvPr>
          <p:cNvSpPr txBox="1"/>
          <p:nvPr/>
        </p:nvSpPr>
        <p:spPr>
          <a:xfrm>
            <a:off x="7486863" y="4112736"/>
            <a:ext cx="1637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CIMMYT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AA9252-267E-B60E-8C17-3404BDDF603D}"/>
              </a:ext>
            </a:extLst>
          </p:cNvPr>
          <p:cNvSpPr txBox="1"/>
          <p:nvPr/>
        </p:nvSpPr>
        <p:spPr>
          <a:xfrm>
            <a:off x="9064263" y="2526571"/>
            <a:ext cx="1885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WF –CGIAR  Climate Action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895C5C-10CA-C850-6F9B-6FDEB132A285}"/>
              </a:ext>
            </a:extLst>
          </p:cNvPr>
          <p:cNvSpPr txBox="1"/>
          <p:nvPr/>
        </p:nvSpPr>
        <p:spPr>
          <a:xfrm>
            <a:off x="5578915" y="1106315"/>
            <a:ext cx="1954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CIMMYT– Bilateral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242DC1-EBFC-664A-2A27-BE2E4E468814}"/>
              </a:ext>
            </a:extLst>
          </p:cNvPr>
          <p:cNvSpPr txBox="1"/>
          <p:nvPr/>
        </p:nvSpPr>
        <p:spPr>
          <a:xfrm>
            <a:off x="7378615" y="859541"/>
            <a:ext cx="1774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AIS and DAE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0A79C34-8816-D97A-2AEE-EEF7D2FA3539}"/>
              </a:ext>
            </a:extLst>
          </p:cNvPr>
          <p:cNvGrpSpPr/>
          <p:nvPr/>
        </p:nvGrpSpPr>
        <p:grpSpPr>
          <a:xfrm>
            <a:off x="2775857" y="457325"/>
            <a:ext cx="5231417" cy="2781857"/>
            <a:chOff x="2775857" y="968829"/>
            <a:chExt cx="4397829" cy="227035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0769204-CF67-A539-AE6A-8E5426D043ED}"/>
                </a:ext>
              </a:extLst>
            </p:cNvPr>
            <p:cNvSpPr/>
            <p:nvPr/>
          </p:nvSpPr>
          <p:spPr>
            <a:xfrm>
              <a:off x="2775857" y="1447800"/>
              <a:ext cx="3722914" cy="1791382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6E31B94-28D7-EC33-75D4-99822B0BB23F}"/>
                </a:ext>
              </a:extLst>
            </p:cNvPr>
            <p:cNvCxnSpPr/>
            <p:nvPr/>
          </p:nvCxnSpPr>
          <p:spPr>
            <a:xfrm flipV="1">
              <a:off x="6498771" y="968829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DCC2695F-8233-1C76-FA90-5B4CA8625FA5}"/>
              </a:ext>
            </a:extLst>
          </p:cNvPr>
          <p:cNvSpPr/>
          <p:nvPr/>
        </p:nvSpPr>
        <p:spPr>
          <a:xfrm>
            <a:off x="10767022" y="2964560"/>
            <a:ext cx="444427" cy="36695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1784BF-6598-67DD-C192-85593E522BC9}"/>
              </a:ext>
            </a:extLst>
          </p:cNvPr>
          <p:cNvSpPr txBox="1"/>
          <p:nvPr/>
        </p:nvSpPr>
        <p:spPr>
          <a:xfrm>
            <a:off x="9119610" y="3353463"/>
            <a:ext cx="1637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WF</a:t>
            </a:r>
          </a:p>
        </p:txBody>
      </p:sp>
    </p:spTree>
    <p:extLst>
      <p:ext uri="{BB962C8B-B14F-4D97-AF65-F5344CB8AC3E}">
        <p14:creationId xmlns:p14="http://schemas.microsoft.com/office/powerpoint/2010/main" val="354259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3167-79BE-0612-99BD-569C8CE30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97" y="1483030"/>
            <a:ext cx="3328306" cy="34816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Agvisely</a:t>
            </a:r>
            <a:r>
              <a:rPr lang="en-US" dirty="0"/>
              <a:t> scaling plan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A84CB-CD9C-8113-5CEB-8A7692F78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048" y="2480072"/>
            <a:ext cx="1220875" cy="264522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F7DE07E-69B7-2A6D-1173-30B24CA1B420}"/>
              </a:ext>
            </a:extLst>
          </p:cNvPr>
          <p:cNvGrpSpPr/>
          <p:nvPr/>
        </p:nvGrpSpPr>
        <p:grpSpPr>
          <a:xfrm>
            <a:off x="2775857" y="968829"/>
            <a:ext cx="4397829" cy="2270353"/>
            <a:chOff x="2775857" y="968829"/>
            <a:chExt cx="4397829" cy="227035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A51F094-BF0A-7579-85B2-C6DFE1018344}"/>
                </a:ext>
              </a:extLst>
            </p:cNvPr>
            <p:cNvSpPr/>
            <p:nvPr/>
          </p:nvSpPr>
          <p:spPr>
            <a:xfrm>
              <a:off x="2775857" y="1447800"/>
              <a:ext cx="3722914" cy="1791382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A41F299-09C5-BDA1-FDF3-D5B81BC56DEB}"/>
                </a:ext>
              </a:extLst>
            </p:cNvPr>
            <p:cNvCxnSpPr/>
            <p:nvPr/>
          </p:nvCxnSpPr>
          <p:spPr>
            <a:xfrm flipV="1">
              <a:off x="6498771" y="968829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EA5C4E4-621D-7568-B3F4-8C6134D9F884}"/>
              </a:ext>
            </a:extLst>
          </p:cNvPr>
          <p:cNvSpPr txBox="1"/>
          <p:nvPr/>
        </p:nvSpPr>
        <p:spPr>
          <a:xfrm>
            <a:off x="3133200" y="3753923"/>
            <a:ext cx="1621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 provision bundle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7ABDED5-1E2A-1BF9-DF19-76FDBD85A9CF}"/>
              </a:ext>
            </a:extLst>
          </p:cNvPr>
          <p:cNvGrpSpPr/>
          <p:nvPr/>
        </p:nvGrpSpPr>
        <p:grpSpPr>
          <a:xfrm>
            <a:off x="2893715" y="2263909"/>
            <a:ext cx="4397829" cy="2270353"/>
            <a:chOff x="2775857" y="968829"/>
            <a:chExt cx="4397829" cy="227035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B6391EA-B0EC-2086-4170-BF4F1EB19130}"/>
                </a:ext>
              </a:extLst>
            </p:cNvPr>
            <p:cNvSpPr/>
            <p:nvPr/>
          </p:nvSpPr>
          <p:spPr>
            <a:xfrm>
              <a:off x="2775857" y="1447800"/>
              <a:ext cx="3722914" cy="1791382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6B70F08-511D-CE28-6C3F-B258656EE1B1}"/>
                </a:ext>
              </a:extLst>
            </p:cNvPr>
            <p:cNvCxnSpPr/>
            <p:nvPr/>
          </p:nvCxnSpPr>
          <p:spPr>
            <a:xfrm flipV="1">
              <a:off x="6498771" y="968829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BD4D23D-ADB8-990D-CAFE-7961B21DE732}"/>
              </a:ext>
            </a:extLst>
          </p:cNvPr>
          <p:cNvSpPr txBox="1"/>
          <p:nvPr/>
        </p:nvSpPr>
        <p:spPr>
          <a:xfrm>
            <a:off x="3176320" y="2655794"/>
            <a:ext cx="162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Insurance bundle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009B2E-022E-6831-8221-135227CF7B95}"/>
              </a:ext>
            </a:extLst>
          </p:cNvPr>
          <p:cNvSpPr txBox="1"/>
          <p:nvPr/>
        </p:nvSpPr>
        <p:spPr>
          <a:xfrm>
            <a:off x="4637314" y="3808811"/>
            <a:ext cx="2799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Agvisely</a:t>
            </a:r>
            <a:r>
              <a:rPr lang="en-US" dirty="0"/>
              <a:t> training for harvesting machinery operators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EE657B-681C-6652-2AF2-97D0EEDCEA43}"/>
              </a:ext>
            </a:extLst>
          </p:cNvPr>
          <p:cNvSpPr txBox="1"/>
          <p:nvPr/>
        </p:nvSpPr>
        <p:spPr>
          <a:xfrm>
            <a:off x="4166506" y="35606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IRRI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1A3B71A-1C0C-E51E-C6A3-51E33B31A574}"/>
              </a:ext>
            </a:extLst>
          </p:cNvPr>
          <p:cNvGrpSpPr/>
          <p:nvPr/>
        </p:nvGrpSpPr>
        <p:grpSpPr>
          <a:xfrm>
            <a:off x="3231171" y="3297302"/>
            <a:ext cx="6694822" cy="3103373"/>
            <a:chOff x="3231171" y="3297302"/>
            <a:chExt cx="6694822" cy="310337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81DF28-1D6A-9523-A8CE-00093676CCBA}"/>
                </a:ext>
              </a:extLst>
            </p:cNvPr>
            <p:cNvSpPr/>
            <p:nvPr/>
          </p:nvSpPr>
          <p:spPr>
            <a:xfrm>
              <a:off x="3231171" y="3744506"/>
              <a:ext cx="6095999" cy="2656169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238EB02-FC32-FD78-7D61-0DB963874F7A}"/>
                </a:ext>
              </a:extLst>
            </p:cNvPr>
            <p:cNvCxnSpPr/>
            <p:nvPr/>
          </p:nvCxnSpPr>
          <p:spPr>
            <a:xfrm flipV="1">
              <a:off x="9251078" y="3297302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EA3B2BA-C431-EB7C-5F1F-AAD5727296CD}"/>
              </a:ext>
            </a:extLst>
          </p:cNvPr>
          <p:cNvSpPr txBox="1"/>
          <p:nvPr/>
        </p:nvSpPr>
        <p:spPr>
          <a:xfrm>
            <a:off x="3826328" y="5573662"/>
            <a:ext cx="16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NGO bundle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B219D5-7EC7-2364-50EA-D7535DD8C165}"/>
              </a:ext>
            </a:extLst>
          </p:cNvPr>
          <p:cNvSpPr txBox="1"/>
          <p:nvPr/>
        </p:nvSpPr>
        <p:spPr>
          <a:xfrm>
            <a:off x="5797475" y="5477345"/>
            <a:ext cx="2799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Agvisely</a:t>
            </a:r>
            <a:r>
              <a:rPr lang="en-US" dirty="0"/>
              <a:t> training to climate leads of NGOs for institutionalization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82262-D871-7A84-FEC1-C2809A4A652E}"/>
              </a:ext>
            </a:extLst>
          </p:cNvPr>
          <p:cNvSpPr txBox="1"/>
          <p:nvPr/>
        </p:nvSpPr>
        <p:spPr>
          <a:xfrm>
            <a:off x="6451562" y="1206738"/>
            <a:ext cx="279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Agvisely</a:t>
            </a:r>
            <a:r>
              <a:rPr lang="en-US" dirty="0"/>
              <a:t> API integration with Insurance provider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D58D6C-A3AF-DF33-916B-2CAB8149EDFA}"/>
              </a:ext>
            </a:extLst>
          </p:cNvPr>
          <p:cNvSpPr/>
          <p:nvPr/>
        </p:nvSpPr>
        <p:spPr>
          <a:xfrm>
            <a:off x="7402394" y="650658"/>
            <a:ext cx="444427" cy="36695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C2313B-07D4-BB3F-CC57-E8835D72F2F4}"/>
              </a:ext>
            </a:extLst>
          </p:cNvPr>
          <p:cNvSpPr/>
          <p:nvPr/>
        </p:nvSpPr>
        <p:spPr>
          <a:xfrm>
            <a:off x="7513030" y="1979322"/>
            <a:ext cx="444427" cy="36695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FF47-7CC0-6457-6DFB-C15DD1F833E4}"/>
              </a:ext>
            </a:extLst>
          </p:cNvPr>
          <p:cNvSpPr txBox="1"/>
          <p:nvPr/>
        </p:nvSpPr>
        <p:spPr>
          <a:xfrm>
            <a:off x="3818370" y="1369529"/>
            <a:ext cx="2458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Agvisely</a:t>
            </a:r>
            <a:r>
              <a:rPr lang="en-US" dirty="0"/>
              <a:t> API integration with </a:t>
            </a:r>
            <a:r>
              <a:rPr lang="en-US" dirty="0" err="1"/>
              <a:t>Insuretech</a:t>
            </a:r>
            <a:r>
              <a:rPr lang="en-US" dirty="0"/>
              <a:t> partner (livestock)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F0B9ED-F662-F729-668E-10154AE3F7DE}"/>
              </a:ext>
            </a:extLst>
          </p:cNvPr>
          <p:cNvSpPr/>
          <p:nvPr/>
        </p:nvSpPr>
        <p:spPr>
          <a:xfrm>
            <a:off x="5448300" y="1001370"/>
            <a:ext cx="444427" cy="36695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809827-E90C-6A68-5471-5AAD78D82648}"/>
              </a:ext>
            </a:extLst>
          </p:cNvPr>
          <p:cNvSpPr txBox="1"/>
          <p:nvPr/>
        </p:nvSpPr>
        <p:spPr>
          <a:xfrm>
            <a:off x="4909457" y="50132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IRRI/CIMMYT/WF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05AC854-48E8-A512-B12E-C4D29303DDC8}"/>
              </a:ext>
            </a:extLst>
          </p:cNvPr>
          <p:cNvSpPr/>
          <p:nvPr/>
        </p:nvSpPr>
        <p:spPr>
          <a:xfrm>
            <a:off x="9925993" y="2981300"/>
            <a:ext cx="444427" cy="36695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1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EA3A0-DADD-65A2-37A7-3236D3121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6" y="2491637"/>
            <a:ext cx="2536230" cy="9373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Agvisely</a:t>
            </a:r>
            <a:r>
              <a:rPr lang="en-US" dirty="0"/>
              <a:t> scaling plan by increasing value proposition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3CFB9-E1A4-F7D9-DCBE-24CCB3C71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564" y="2480072"/>
            <a:ext cx="1220875" cy="264522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3584ED4-C81E-17CB-D727-87B5B710C10F}"/>
              </a:ext>
            </a:extLst>
          </p:cNvPr>
          <p:cNvGrpSpPr/>
          <p:nvPr/>
        </p:nvGrpSpPr>
        <p:grpSpPr>
          <a:xfrm>
            <a:off x="4060373" y="968829"/>
            <a:ext cx="4397829" cy="2270353"/>
            <a:chOff x="2775857" y="968829"/>
            <a:chExt cx="4397829" cy="227035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3807EA1-CD55-601E-3B07-68385FE6F45A}"/>
                </a:ext>
              </a:extLst>
            </p:cNvPr>
            <p:cNvSpPr/>
            <p:nvPr/>
          </p:nvSpPr>
          <p:spPr>
            <a:xfrm>
              <a:off x="2775857" y="1447800"/>
              <a:ext cx="3722914" cy="1791382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1C3D007-8CAE-F69E-7EBB-0B06D76136A8}"/>
                </a:ext>
              </a:extLst>
            </p:cNvPr>
            <p:cNvCxnSpPr/>
            <p:nvPr/>
          </p:nvCxnSpPr>
          <p:spPr>
            <a:xfrm flipV="1">
              <a:off x="6498771" y="968829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43F80-4E3C-4B33-BF0D-7134301FD04B}"/>
              </a:ext>
            </a:extLst>
          </p:cNvPr>
          <p:cNvSpPr txBox="1"/>
          <p:nvPr/>
        </p:nvSpPr>
        <p:spPr>
          <a:xfrm>
            <a:off x="4452150" y="3330749"/>
            <a:ext cx="162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Fertilizer bundle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A6E7B7F-6BDD-6A3C-8241-74FE6B75CA1F}"/>
              </a:ext>
            </a:extLst>
          </p:cNvPr>
          <p:cNvGrpSpPr/>
          <p:nvPr/>
        </p:nvGrpSpPr>
        <p:grpSpPr>
          <a:xfrm>
            <a:off x="4220989" y="1933566"/>
            <a:ext cx="4397829" cy="2270353"/>
            <a:chOff x="2775857" y="968829"/>
            <a:chExt cx="4397829" cy="227035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6BB9A58-DF2A-6FE4-8F29-C3D3257B85B4}"/>
                </a:ext>
              </a:extLst>
            </p:cNvPr>
            <p:cNvSpPr/>
            <p:nvPr/>
          </p:nvSpPr>
          <p:spPr>
            <a:xfrm>
              <a:off x="2775857" y="1447800"/>
              <a:ext cx="3722914" cy="1791382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7FEFCB4-571F-F16D-B241-169EFA785833}"/>
                </a:ext>
              </a:extLst>
            </p:cNvPr>
            <p:cNvCxnSpPr/>
            <p:nvPr/>
          </p:nvCxnSpPr>
          <p:spPr>
            <a:xfrm flipV="1">
              <a:off x="6498771" y="968829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5FE3D34-C8E5-45F7-7AC9-E4CD73FD1DE2}"/>
              </a:ext>
            </a:extLst>
          </p:cNvPr>
          <p:cNvSpPr txBox="1"/>
          <p:nvPr/>
        </p:nvSpPr>
        <p:spPr>
          <a:xfrm>
            <a:off x="4299858" y="2263909"/>
            <a:ext cx="1621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Disease forecasting bundle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B5CA9B-3AD5-E42A-1031-B8266F1D005F}"/>
              </a:ext>
            </a:extLst>
          </p:cNvPr>
          <p:cNvSpPr txBox="1"/>
          <p:nvPr/>
        </p:nvSpPr>
        <p:spPr>
          <a:xfrm>
            <a:off x="7820548" y="2545749"/>
            <a:ext cx="2799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Fertilizer use advisory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1B18D2-1120-A2FF-F38E-D8F7549435F1}"/>
              </a:ext>
            </a:extLst>
          </p:cNvPr>
          <p:cNvSpPr txBox="1"/>
          <p:nvPr/>
        </p:nvSpPr>
        <p:spPr>
          <a:xfrm>
            <a:off x="6074122" y="56770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CIMMYT - Bilateral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71FD2BB-8F31-DBA4-318D-372B6D3FB7F1}"/>
              </a:ext>
            </a:extLst>
          </p:cNvPr>
          <p:cNvSpPr/>
          <p:nvPr/>
        </p:nvSpPr>
        <p:spPr>
          <a:xfrm>
            <a:off x="7190015" y="1791735"/>
            <a:ext cx="444427" cy="36695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BA105-C3A2-D44F-C156-E27AB27283A8}"/>
              </a:ext>
            </a:extLst>
          </p:cNvPr>
          <p:cNvSpPr txBox="1"/>
          <p:nvPr/>
        </p:nvSpPr>
        <p:spPr>
          <a:xfrm>
            <a:off x="5942709" y="1173682"/>
            <a:ext cx="2458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Agvisely</a:t>
            </a:r>
            <a:r>
              <a:rPr lang="en-US" dirty="0"/>
              <a:t> integration of wheat disease prediction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12AC5EC-2888-0536-FCDE-A1EFC62FCAAE}"/>
              </a:ext>
            </a:extLst>
          </p:cNvPr>
          <p:cNvSpPr/>
          <p:nvPr/>
        </p:nvSpPr>
        <p:spPr>
          <a:xfrm>
            <a:off x="10746088" y="1496505"/>
            <a:ext cx="444427" cy="36695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EDE04C2-4A8C-7F6C-4F02-CA5899630A6F}"/>
              </a:ext>
            </a:extLst>
          </p:cNvPr>
          <p:cNvSpPr/>
          <p:nvPr/>
        </p:nvSpPr>
        <p:spPr>
          <a:xfrm>
            <a:off x="8837898" y="1549142"/>
            <a:ext cx="444427" cy="36695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02604EB-72EC-F1BE-7E8F-2B986357E4F0}"/>
              </a:ext>
            </a:extLst>
          </p:cNvPr>
          <p:cNvSpPr/>
          <p:nvPr/>
        </p:nvSpPr>
        <p:spPr>
          <a:xfrm>
            <a:off x="4060373" y="3172778"/>
            <a:ext cx="6095999" cy="2656169"/>
          </a:xfrm>
          <a:custGeom>
            <a:avLst/>
            <a:gdLst>
              <a:gd name="csX0" fmla="*/ 0 w 3722914"/>
              <a:gd name="csY0" fmla="*/ 1230086 h 1791382"/>
              <a:gd name="csX1" fmla="*/ 914400 w 3722914"/>
              <a:gd name="csY1" fmla="*/ 1730829 h 1791382"/>
              <a:gd name="csX2" fmla="*/ 3722914 w 3722914"/>
              <a:gd name="csY2" fmla="*/ 0 h 1791382"/>
              <a:gd name="csX3" fmla="*/ 3722914 w 3722914"/>
              <a:gd name="csY3" fmla="*/ 0 h 17913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722914" h="1791382">
                <a:moveTo>
                  <a:pt x="0" y="1230086"/>
                </a:moveTo>
                <a:cubicBezTo>
                  <a:pt x="146957" y="1582964"/>
                  <a:pt x="293914" y="1935843"/>
                  <a:pt x="914400" y="1730829"/>
                </a:cubicBezTo>
                <a:cubicBezTo>
                  <a:pt x="1534886" y="1525815"/>
                  <a:pt x="3722914" y="0"/>
                  <a:pt x="3722914" y="0"/>
                </a:cubicBezTo>
                <a:lnTo>
                  <a:pt x="3722914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231A1C1-6F7B-87F8-EC0E-4787FB6A0D2B}"/>
              </a:ext>
            </a:extLst>
          </p:cNvPr>
          <p:cNvCxnSpPr/>
          <p:nvPr/>
        </p:nvCxnSpPr>
        <p:spPr>
          <a:xfrm flipV="1">
            <a:off x="10080280" y="2736460"/>
            <a:ext cx="674915" cy="478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B54479-C26A-1CE9-1A1D-15995B4AB086}"/>
              </a:ext>
            </a:extLst>
          </p:cNvPr>
          <p:cNvSpPr txBox="1"/>
          <p:nvPr/>
        </p:nvSpPr>
        <p:spPr>
          <a:xfrm>
            <a:off x="4371086" y="4627481"/>
            <a:ext cx="162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Food safety bundle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BDD741-8662-2EEF-3750-CC8A880BC26C}"/>
              </a:ext>
            </a:extLst>
          </p:cNvPr>
          <p:cNvSpPr txBox="1"/>
          <p:nvPr/>
        </p:nvSpPr>
        <p:spPr>
          <a:xfrm>
            <a:off x="3929746" y="12731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CIMMYT - Bilateral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A68D21-FB1D-C84C-03F6-4856CC12930B}"/>
              </a:ext>
            </a:extLst>
          </p:cNvPr>
          <p:cNvSpPr txBox="1"/>
          <p:nvPr/>
        </p:nvSpPr>
        <p:spPr>
          <a:xfrm>
            <a:off x="6113078" y="4256907"/>
            <a:ext cx="2534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CIMMYT – Bilateral (Aflatoxin)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E757FC0-82C0-606B-49A0-86204FBDD9CA}"/>
              </a:ext>
            </a:extLst>
          </p:cNvPr>
          <p:cNvSpPr/>
          <p:nvPr/>
        </p:nvSpPr>
        <p:spPr>
          <a:xfrm>
            <a:off x="10831287" y="2395157"/>
            <a:ext cx="444427" cy="36695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A0DEA71-CD3F-86B8-8EFA-0B538EA018C3}"/>
              </a:ext>
            </a:extLst>
          </p:cNvPr>
          <p:cNvSpPr/>
          <p:nvPr/>
        </p:nvSpPr>
        <p:spPr>
          <a:xfrm>
            <a:off x="4811380" y="4242984"/>
            <a:ext cx="6095999" cy="2656169"/>
          </a:xfrm>
          <a:custGeom>
            <a:avLst/>
            <a:gdLst>
              <a:gd name="csX0" fmla="*/ 0 w 3722914"/>
              <a:gd name="csY0" fmla="*/ 1230086 h 1791382"/>
              <a:gd name="csX1" fmla="*/ 914400 w 3722914"/>
              <a:gd name="csY1" fmla="*/ 1730829 h 1791382"/>
              <a:gd name="csX2" fmla="*/ 3722914 w 3722914"/>
              <a:gd name="csY2" fmla="*/ 0 h 1791382"/>
              <a:gd name="csX3" fmla="*/ 3722914 w 3722914"/>
              <a:gd name="csY3" fmla="*/ 0 h 17913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722914" h="1791382">
                <a:moveTo>
                  <a:pt x="0" y="1230086"/>
                </a:moveTo>
                <a:cubicBezTo>
                  <a:pt x="146957" y="1582964"/>
                  <a:pt x="293914" y="1935843"/>
                  <a:pt x="914400" y="1730829"/>
                </a:cubicBezTo>
                <a:cubicBezTo>
                  <a:pt x="1534886" y="1525815"/>
                  <a:pt x="3722914" y="0"/>
                  <a:pt x="3722914" y="0"/>
                </a:cubicBezTo>
                <a:lnTo>
                  <a:pt x="3722914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74C3497-CE65-DC4A-42C9-4A22B99A31CE}"/>
              </a:ext>
            </a:extLst>
          </p:cNvPr>
          <p:cNvCxnSpPr/>
          <p:nvPr/>
        </p:nvCxnSpPr>
        <p:spPr>
          <a:xfrm flipV="1">
            <a:off x="10831287" y="3795780"/>
            <a:ext cx="674915" cy="478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89288E6-8BE5-5386-1504-01007F95E519}"/>
              </a:ext>
            </a:extLst>
          </p:cNvPr>
          <p:cNvSpPr txBox="1"/>
          <p:nvPr/>
        </p:nvSpPr>
        <p:spPr>
          <a:xfrm>
            <a:off x="9413812" y="5113945"/>
            <a:ext cx="379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Quality of forecast (AI)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724F87-3000-8C2A-1EB1-5FA2F05A95E1}"/>
              </a:ext>
            </a:extLst>
          </p:cNvPr>
          <p:cNvSpPr txBox="1"/>
          <p:nvPr/>
        </p:nvSpPr>
        <p:spPr>
          <a:xfrm>
            <a:off x="8081702" y="6136386"/>
            <a:ext cx="379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Integration (Text to voice)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DE072FC-9EFD-876E-B5CC-FC11FAB9A4D9}"/>
              </a:ext>
            </a:extLst>
          </p:cNvPr>
          <p:cNvSpPr/>
          <p:nvPr/>
        </p:nvSpPr>
        <p:spPr>
          <a:xfrm>
            <a:off x="11585037" y="3484342"/>
            <a:ext cx="444427" cy="36695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1D41BE-DC4C-777B-B7A2-DDBF56A54A35}"/>
              </a:ext>
            </a:extLst>
          </p:cNvPr>
          <p:cNvSpPr txBox="1"/>
          <p:nvPr/>
        </p:nvSpPr>
        <p:spPr>
          <a:xfrm>
            <a:off x="6313715" y="2926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CIMMYT - Bilateral 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9DC77F0-86E5-F51E-DE8E-D65357D62151}"/>
              </a:ext>
            </a:extLst>
          </p:cNvPr>
          <p:cNvSpPr/>
          <p:nvPr/>
        </p:nvSpPr>
        <p:spPr>
          <a:xfrm>
            <a:off x="8458202" y="622245"/>
            <a:ext cx="444427" cy="36695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602BF3-830F-4C1E-CD23-67720C83EB2F}"/>
              </a:ext>
            </a:extLst>
          </p:cNvPr>
          <p:cNvSpPr txBox="1"/>
          <p:nvPr/>
        </p:nvSpPr>
        <p:spPr>
          <a:xfrm>
            <a:off x="5201314" y="6444547"/>
            <a:ext cx="16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bundle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1419D9-595C-430F-4050-DCC621DA84F4}"/>
              </a:ext>
            </a:extLst>
          </p:cNvPr>
          <p:cNvSpPr txBox="1"/>
          <p:nvPr/>
        </p:nvSpPr>
        <p:spPr>
          <a:xfrm>
            <a:off x="8647953" y="860879"/>
            <a:ext cx="16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crops</a:t>
            </a:r>
          </a:p>
        </p:txBody>
      </p:sp>
    </p:spTree>
    <p:extLst>
      <p:ext uri="{BB962C8B-B14F-4D97-AF65-F5344CB8AC3E}">
        <p14:creationId xmlns:p14="http://schemas.microsoft.com/office/powerpoint/2010/main" val="14189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AFEB-82F9-9FFD-4A9D-4738A50CA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1487" y="1011096"/>
            <a:ext cx="4952200" cy="937363"/>
          </a:xfrm>
        </p:spPr>
        <p:txBody>
          <a:bodyPr/>
          <a:lstStyle/>
          <a:p>
            <a:r>
              <a:rPr lang="en-US" dirty="0"/>
              <a:t>Why adopt </a:t>
            </a:r>
            <a:r>
              <a:rPr lang="en-US" dirty="0" err="1"/>
              <a:t>Agvisely</a:t>
            </a:r>
            <a:r>
              <a:rPr lang="en-US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500F5-D433-C364-5B18-24E0F87E30AD}"/>
              </a:ext>
            </a:extLst>
          </p:cNvPr>
          <p:cNvSpPr txBox="1"/>
          <p:nvPr/>
        </p:nvSpPr>
        <p:spPr>
          <a:xfrm>
            <a:off x="841032" y="4364953"/>
            <a:ext cx="1579163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Disease forecasting bundle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AD1C1C-3AD2-868D-EE65-4B54540C354A}"/>
              </a:ext>
            </a:extLst>
          </p:cNvPr>
          <p:cNvSpPr txBox="1"/>
          <p:nvPr/>
        </p:nvSpPr>
        <p:spPr>
          <a:xfrm>
            <a:off x="7302227" y="2326596"/>
            <a:ext cx="1621972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Food safety bundle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EA95C0-62B6-DFBE-E4FD-C5CE15613D91}"/>
              </a:ext>
            </a:extLst>
          </p:cNvPr>
          <p:cNvSpPr txBox="1"/>
          <p:nvPr/>
        </p:nvSpPr>
        <p:spPr>
          <a:xfrm>
            <a:off x="7272926" y="4401074"/>
            <a:ext cx="162197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AI bundle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B34360-0E79-2A43-6298-3ADE23413278}"/>
              </a:ext>
            </a:extLst>
          </p:cNvPr>
          <p:cNvSpPr txBox="1"/>
          <p:nvPr/>
        </p:nvSpPr>
        <p:spPr>
          <a:xfrm>
            <a:off x="861299" y="5867357"/>
            <a:ext cx="1558896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Service provision bundle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E92082-18A2-58C6-E19E-66B1B7BD57A1}"/>
              </a:ext>
            </a:extLst>
          </p:cNvPr>
          <p:cNvSpPr txBox="1"/>
          <p:nvPr/>
        </p:nvSpPr>
        <p:spPr>
          <a:xfrm>
            <a:off x="870761" y="3660109"/>
            <a:ext cx="1621972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Insurance bundle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FF8480-8048-ACB9-9B16-D74FC823A98F}"/>
              </a:ext>
            </a:extLst>
          </p:cNvPr>
          <p:cNvSpPr txBox="1"/>
          <p:nvPr/>
        </p:nvSpPr>
        <p:spPr>
          <a:xfrm>
            <a:off x="7272926" y="3238107"/>
            <a:ext cx="162197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Fertilizer bundle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89A46B-3CB6-E4A6-1E6C-BD4844FED2A0}"/>
              </a:ext>
            </a:extLst>
          </p:cNvPr>
          <p:cNvSpPr txBox="1"/>
          <p:nvPr/>
        </p:nvSpPr>
        <p:spPr>
          <a:xfrm>
            <a:off x="893292" y="1518771"/>
            <a:ext cx="1621972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Extension bundle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4C8822-33B3-B195-D5FD-1215A516347D}"/>
              </a:ext>
            </a:extLst>
          </p:cNvPr>
          <p:cNvSpPr txBox="1"/>
          <p:nvPr/>
        </p:nvSpPr>
        <p:spPr>
          <a:xfrm>
            <a:off x="870761" y="2955264"/>
            <a:ext cx="162197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Agitech</a:t>
            </a:r>
            <a:r>
              <a:rPr lang="en-US" dirty="0"/>
              <a:t> bundle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5CBD80-F330-87A6-FADC-5AA47FC2A1C8}"/>
              </a:ext>
            </a:extLst>
          </p:cNvPr>
          <p:cNvSpPr txBox="1"/>
          <p:nvPr/>
        </p:nvSpPr>
        <p:spPr>
          <a:xfrm>
            <a:off x="870761" y="2247410"/>
            <a:ext cx="162197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Finance bundle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9007C2-3D0E-D51A-4DBD-94BF9A9E51EC}"/>
              </a:ext>
            </a:extLst>
          </p:cNvPr>
          <p:cNvSpPr txBox="1"/>
          <p:nvPr/>
        </p:nvSpPr>
        <p:spPr>
          <a:xfrm>
            <a:off x="2924413" y="1507631"/>
            <a:ext cx="20353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Institutional mandate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3F6EE4-D371-104A-92A3-04DD7A86E400}"/>
              </a:ext>
            </a:extLst>
          </p:cNvPr>
          <p:cNvSpPr txBox="1"/>
          <p:nvPr/>
        </p:nvSpPr>
        <p:spPr>
          <a:xfrm>
            <a:off x="861299" y="5393154"/>
            <a:ext cx="155889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NGO bundle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8E0BA2-7EF0-6FF9-E54F-B7C6B39B7F90}"/>
              </a:ext>
            </a:extLst>
          </p:cNvPr>
          <p:cNvSpPr txBox="1"/>
          <p:nvPr/>
        </p:nvSpPr>
        <p:spPr>
          <a:xfrm>
            <a:off x="4542516" y="1530629"/>
            <a:ext cx="20353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Lead farmers’ social capital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DC0AD9-7C9D-2C7F-35B8-2FEDCF2BEB4A}"/>
              </a:ext>
            </a:extLst>
          </p:cNvPr>
          <p:cNvSpPr txBox="1"/>
          <p:nvPr/>
        </p:nvSpPr>
        <p:spPr>
          <a:xfrm>
            <a:off x="2719458" y="3668268"/>
            <a:ext cx="3646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Cost efficiency in access to advisories and claims settlement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68F5DE-AD81-83A0-E2CD-E6F709B396B5}"/>
              </a:ext>
            </a:extLst>
          </p:cNvPr>
          <p:cNvSpPr txBox="1"/>
          <p:nvPr/>
        </p:nvSpPr>
        <p:spPr>
          <a:xfrm>
            <a:off x="2755484" y="3053441"/>
            <a:ext cx="3646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Enhanced value proposition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6A30DB-E6BB-A9B3-32EF-6F9FCF06FA25}"/>
              </a:ext>
            </a:extLst>
          </p:cNvPr>
          <p:cNvSpPr txBox="1"/>
          <p:nvPr/>
        </p:nvSpPr>
        <p:spPr>
          <a:xfrm>
            <a:off x="2755484" y="2368850"/>
            <a:ext cx="3646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Reduction in loan defaults /delays in payments by customers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2BE396-2152-AF00-73A9-80EB012A773A}"/>
              </a:ext>
            </a:extLst>
          </p:cNvPr>
          <p:cNvSpPr txBox="1"/>
          <p:nvPr/>
        </p:nvSpPr>
        <p:spPr>
          <a:xfrm>
            <a:off x="2719458" y="4560365"/>
            <a:ext cx="3646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Enhanced value proposition  of </a:t>
            </a:r>
            <a:r>
              <a:rPr lang="en-US" dirty="0" err="1"/>
              <a:t>Agvisely</a:t>
            </a:r>
            <a:r>
              <a:rPr lang="en-US" dirty="0"/>
              <a:t> tool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491F2E-DA6A-06B3-AF90-F9B13C2811A9}"/>
              </a:ext>
            </a:extLst>
          </p:cNvPr>
          <p:cNvSpPr txBox="1"/>
          <p:nvPr/>
        </p:nvSpPr>
        <p:spPr>
          <a:xfrm>
            <a:off x="2719458" y="5116155"/>
            <a:ext cx="36461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Enhanced value proposition offering climate related project and microfinance schemes.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FAE33D-558A-2BB0-161C-952E3A59DAFB}"/>
              </a:ext>
            </a:extLst>
          </p:cNvPr>
          <p:cNvSpPr txBox="1"/>
          <p:nvPr/>
        </p:nvSpPr>
        <p:spPr>
          <a:xfrm>
            <a:off x="2719458" y="5915184"/>
            <a:ext cx="3646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Enhanced business opportunities and cost reduction possibilities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AAD3D8-79C4-EF64-E3B6-8B597BD9C772}"/>
              </a:ext>
            </a:extLst>
          </p:cNvPr>
          <p:cNvSpPr txBox="1"/>
          <p:nvPr/>
        </p:nvSpPr>
        <p:spPr>
          <a:xfrm>
            <a:off x="9098370" y="2465095"/>
            <a:ext cx="3646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Enhanced value proposition offering new scaling paths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5E9414-19BB-045B-6D93-71E066A0DA3E}"/>
              </a:ext>
            </a:extLst>
          </p:cNvPr>
          <p:cNvSpPr txBox="1"/>
          <p:nvPr/>
        </p:nvSpPr>
        <p:spPr>
          <a:xfrm>
            <a:off x="9000399" y="3298936"/>
            <a:ext cx="3646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Alignment with Govt. policy and carbon markets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A0DF28-F4AC-56C1-1E2A-93F523FA4855}"/>
              </a:ext>
            </a:extLst>
          </p:cNvPr>
          <p:cNvSpPr txBox="1"/>
          <p:nvPr/>
        </p:nvSpPr>
        <p:spPr>
          <a:xfrm>
            <a:off x="9006998" y="4409776"/>
            <a:ext cx="3646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Inclusive high value service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21BF2E-60C8-1B2B-361F-B4168F7A2191}"/>
              </a:ext>
            </a:extLst>
          </p:cNvPr>
          <p:cNvSpPr/>
          <p:nvPr/>
        </p:nvSpPr>
        <p:spPr>
          <a:xfrm>
            <a:off x="337457" y="1654629"/>
            <a:ext cx="503575" cy="49933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2CE175-C536-118C-6A15-45C35C06FD97}"/>
              </a:ext>
            </a:extLst>
          </p:cNvPr>
          <p:cNvSpPr/>
          <p:nvPr/>
        </p:nvSpPr>
        <p:spPr>
          <a:xfrm>
            <a:off x="314434" y="2334016"/>
            <a:ext cx="503575" cy="49933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F93522-4AE9-4C5F-572A-36977551372F}"/>
              </a:ext>
            </a:extLst>
          </p:cNvPr>
          <p:cNvSpPr/>
          <p:nvPr/>
        </p:nvSpPr>
        <p:spPr>
          <a:xfrm>
            <a:off x="314435" y="3695600"/>
            <a:ext cx="503575" cy="49933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2CB9336-6E9C-677D-163E-D0DE24E0F71E}"/>
              </a:ext>
            </a:extLst>
          </p:cNvPr>
          <p:cNvSpPr/>
          <p:nvPr/>
        </p:nvSpPr>
        <p:spPr>
          <a:xfrm>
            <a:off x="310248" y="5328153"/>
            <a:ext cx="503575" cy="49933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A8CFF11-85B4-0F93-3396-E0C9A2C6FB09}"/>
              </a:ext>
            </a:extLst>
          </p:cNvPr>
          <p:cNvSpPr/>
          <p:nvPr/>
        </p:nvSpPr>
        <p:spPr>
          <a:xfrm>
            <a:off x="300777" y="6079355"/>
            <a:ext cx="503575" cy="49933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CD010A-104C-8D0D-56CC-4396030C909B}"/>
              </a:ext>
            </a:extLst>
          </p:cNvPr>
          <p:cNvSpPr/>
          <p:nvPr/>
        </p:nvSpPr>
        <p:spPr>
          <a:xfrm>
            <a:off x="6713301" y="4425028"/>
            <a:ext cx="503575" cy="49933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90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AC06E-2B93-E40D-F2B1-776A0F7CD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72" y="1217697"/>
            <a:ext cx="1963571" cy="937363"/>
          </a:xfrm>
        </p:spPr>
        <p:txBody>
          <a:bodyPr>
            <a:normAutofit fontScale="90000"/>
          </a:bodyPr>
          <a:lstStyle/>
          <a:p>
            <a:r>
              <a:rPr lang="en-US" dirty="0"/>
              <a:t>Targets - 2026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CBC2C2-CC0E-E820-F936-41DA192EBF1F}"/>
              </a:ext>
            </a:extLst>
          </p:cNvPr>
          <p:cNvSpPr txBox="1"/>
          <p:nvPr/>
        </p:nvSpPr>
        <p:spPr>
          <a:xfrm>
            <a:off x="4614720" y="3222568"/>
            <a:ext cx="1807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Disease forecasting bundle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9988CF4-EE7D-012C-3E3F-B095D7022862}"/>
              </a:ext>
            </a:extLst>
          </p:cNvPr>
          <p:cNvGrpSpPr/>
          <p:nvPr/>
        </p:nvGrpSpPr>
        <p:grpSpPr>
          <a:xfrm>
            <a:off x="2973329" y="2259416"/>
            <a:ext cx="6694822" cy="3103373"/>
            <a:chOff x="3231171" y="3297302"/>
            <a:chExt cx="6694822" cy="3103373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3F10DB5-7590-3AD3-CC4A-A4AA7E64A3E2}"/>
                </a:ext>
              </a:extLst>
            </p:cNvPr>
            <p:cNvSpPr/>
            <p:nvPr/>
          </p:nvSpPr>
          <p:spPr>
            <a:xfrm>
              <a:off x="3231171" y="3744506"/>
              <a:ext cx="6095999" cy="2656169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512770B-1D51-83DB-C14A-8E72D61EFBAB}"/>
                </a:ext>
              </a:extLst>
            </p:cNvPr>
            <p:cNvCxnSpPr/>
            <p:nvPr/>
          </p:nvCxnSpPr>
          <p:spPr>
            <a:xfrm flipV="1">
              <a:off x="9251078" y="3297302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1C7951-2D28-F4C4-4520-547224DC7A29}"/>
              </a:ext>
            </a:extLst>
          </p:cNvPr>
          <p:cNvGrpSpPr/>
          <p:nvPr/>
        </p:nvGrpSpPr>
        <p:grpSpPr>
          <a:xfrm>
            <a:off x="2877797" y="3345056"/>
            <a:ext cx="6694822" cy="3103373"/>
            <a:chOff x="3231171" y="3297302"/>
            <a:chExt cx="6694822" cy="310337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6737485-C6E4-BC8C-95A7-527289B166B4}"/>
                </a:ext>
              </a:extLst>
            </p:cNvPr>
            <p:cNvSpPr/>
            <p:nvPr/>
          </p:nvSpPr>
          <p:spPr>
            <a:xfrm>
              <a:off x="3231171" y="3744506"/>
              <a:ext cx="6095999" cy="2656169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4FD1A25-6FF3-EA3D-FCC5-950B1C6FF84B}"/>
                </a:ext>
              </a:extLst>
            </p:cNvPr>
            <p:cNvCxnSpPr/>
            <p:nvPr/>
          </p:nvCxnSpPr>
          <p:spPr>
            <a:xfrm flipV="1">
              <a:off x="9251078" y="3297302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C2881069-50E2-3A45-AC8E-621012075EB3}"/>
              </a:ext>
            </a:extLst>
          </p:cNvPr>
          <p:cNvSpPr txBox="1"/>
          <p:nvPr/>
        </p:nvSpPr>
        <p:spPr>
          <a:xfrm>
            <a:off x="3287428" y="5743274"/>
            <a:ext cx="162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Food safety bundle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B5E3D0E-8BB4-7F4F-8ECB-8F4F7E6D7FEE}"/>
              </a:ext>
            </a:extLst>
          </p:cNvPr>
          <p:cNvGrpSpPr/>
          <p:nvPr/>
        </p:nvGrpSpPr>
        <p:grpSpPr>
          <a:xfrm>
            <a:off x="2782356" y="3763761"/>
            <a:ext cx="6694822" cy="3103373"/>
            <a:chOff x="3231171" y="3297302"/>
            <a:chExt cx="6694822" cy="3103373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2D8F6C2-164E-6774-B0A2-8FC4013D04E0}"/>
                </a:ext>
              </a:extLst>
            </p:cNvPr>
            <p:cNvSpPr/>
            <p:nvPr/>
          </p:nvSpPr>
          <p:spPr>
            <a:xfrm>
              <a:off x="3231171" y="3744506"/>
              <a:ext cx="6095999" cy="2656169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7F71998-AA6A-6313-714B-3B68525B37C2}"/>
                </a:ext>
              </a:extLst>
            </p:cNvPr>
            <p:cNvCxnSpPr/>
            <p:nvPr/>
          </p:nvCxnSpPr>
          <p:spPr>
            <a:xfrm flipV="1">
              <a:off x="9251078" y="3297302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4F6E9C9-9DFA-C74C-4C1D-D178BF7FC181}"/>
              </a:ext>
            </a:extLst>
          </p:cNvPr>
          <p:cNvSpPr txBox="1"/>
          <p:nvPr/>
        </p:nvSpPr>
        <p:spPr>
          <a:xfrm>
            <a:off x="3223420" y="6437140"/>
            <a:ext cx="16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bundle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E62573-C926-DED2-B0FD-A39499BAA0F9}"/>
              </a:ext>
            </a:extLst>
          </p:cNvPr>
          <p:cNvSpPr txBox="1"/>
          <p:nvPr/>
        </p:nvSpPr>
        <p:spPr>
          <a:xfrm>
            <a:off x="3640292" y="3907835"/>
            <a:ext cx="1621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 provision bundle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3B2A60A-DDFA-321D-8679-B00A2D7109B3}"/>
              </a:ext>
            </a:extLst>
          </p:cNvPr>
          <p:cNvGrpSpPr/>
          <p:nvPr/>
        </p:nvGrpSpPr>
        <p:grpSpPr>
          <a:xfrm>
            <a:off x="3416913" y="2043798"/>
            <a:ext cx="5889537" cy="2828155"/>
            <a:chOff x="2775857" y="968829"/>
            <a:chExt cx="4397829" cy="2270353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15BD2F4-92C7-979C-3256-542ECBE1E993}"/>
                </a:ext>
              </a:extLst>
            </p:cNvPr>
            <p:cNvSpPr/>
            <p:nvPr/>
          </p:nvSpPr>
          <p:spPr>
            <a:xfrm>
              <a:off x="2775857" y="1447800"/>
              <a:ext cx="3722914" cy="1791382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2EA2468-3062-BC0F-9DF9-208F5AA30C93}"/>
                </a:ext>
              </a:extLst>
            </p:cNvPr>
            <p:cNvCxnSpPr/>
            <p:nvPr/>
          </p:nvCxnSpPr>
          <p:spPr>
            <a:xfrm flipV="1">
              <a:off x="6498771" y="968829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20B52DA5-237E-863A-14DE-F6DF44352EF3}"/>
              </a:ext>
            </a:extLst>
          </p:cNvPr>
          <p:cNvSpPr txBox="1"/>
          <p:nvPr/>
        </p:nvSpPr>
        <p:spPr>
          <a:xfrm>
            <a:off x="3178898" y="3058879"/>
            <a:ext cx="162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Insurance bundle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6590C4-DBF6-82B1-FCC8-A2E8A859AF97}"/>
              </a:ext>
            </a:extLst>
          </p:cNvPr>
          <p:cNvSpPr txBox="1"/>
          <p:nvPr/>
        </p:nvSpPr>
        <p:spPr>
          <a:xfrm>
            <a:off x="3473965" y="4759528"/>
            <a:ext cx="162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Fertilizer bundle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0EA2B41-93C8-3734-D2ED-0691877BCF08}"/>
              </a:ext>
            </a:extLst>
          </p:cNvPr>
          <p:cNvGrpSpPr/>
          <p:nvPr/>
        </p:nvGrpSpPr>
        <p:grpSpPr>
          <a:xfrm>
            <a:off x="3248560" y="919636"/>
            <a:ext cx="2721007" cy="1102039"/>
            <a:chOff x="2775857" y="968829"/>
            <a:chExt cx="4397829" cy="2270353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9B7637E-0E42-23F9-4067-9CDD7C47851B}"/>
                </a:ext>
              </a:extLst>
            </p:cNvPr>
            <p:cNvSpPr/>
            <p:nvPr/>
          </p:nvSpPr>
          <p:spPr>
            <a:xfrm>
              <a:off x="2775857" y="1447800"/>
              <a:ext cx="3722914" cy="1791382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4B58BF7-35D9-732C-CDBE-14C7BDAD36E5}"/>
                </a:ext>
              </a:extLst>
            </p:cNvPr>
            <p:cNvCxnSpPr/>
            <p:nvPr/>
          </p:nvCxnSpPr>
          <p:spPr>
            <a:xfrm flipV="1">
              <a:off x="6498771" y="968829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7AADD5B-E64D-DA23-784B-00CBA38D27E1}"/>
              </a:ext>
            </a:extLst>
          </p:cNvPr>
          <p:cNvSpPr/>
          <p:nvPr/>
        </p:nvSpPr>
        <p:spPr>
          <a:xfrm>
            <a:off x="3079613" y="1249255"/>
            <a:ext cx="4137509" cy="1281236"/>
          </a:xfrm>
          <a:custGeom>
            <a:avLst/>
            <a:gdLst>
              <a:gd name="csX0" fmla="*/ 0 w 3722914"/>
              <a:gd name="csY0" fmla="*/ 1230086 h 1791382"/>
              <a:gd name="csX1" fmla="*/ 914400 w 3722914"/>
              <a:gd name="csY1" fmla="*/ 1730829 h 1791382"/>
              <a:gd name="csX2" fmla="*/ 3722914 w 3722914"/>
              <a:gd name="csY2" fmla="*/ 0 h 1791382"/>
              <a:gd name="csX3" fmla="*/ 3722914 w 3722914"/>
              <a:gd name="csY3" fmla="*/ 0 h 17913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722914" h="1791382">
                <a:moveTo>
                  <a:pt x="0" y="1230086"/>
                </a:moveTo>
                <a:cubicBezTo>
                  <a:pt x="146957" y="1582964"/>
                  <a:pt x="293914" y="1935843"/>
                  <a:pt x="914400" y="1730829"/>
                </a:cubicBezTo>
                <a:cubicBezTo>
                  <a:pt x="1534886" y="1525815"/>
                  <a:pt x="3722914" y="0"/>
                  <a:pt x="3722914" y="0"/>
                </a:cubicBezTo>
                <a:lnTo>
                  <a:pt x="3722914" y="0"/>
                </a:lnTo>
              </a:path>
            </a:pathLst>
          </a:cu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F19B66-0ABB-3B54-6AAA-5C699F25AA12}"/>
              </a:ext>
            </a:extLst>
          </p:cNvPr>
          <p:cNvSpPr txBox="1"/>
          <p:nvPr/>
        </p:nvSpPr>
        <p:spPr>
          <a:xfrm>
            <a:off x="3223420" y="1293003"/>
            <a:ext cx="162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Extension bundle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5F46FC-DB7F-67E1-DDF0-9BCBDD026D0E}"/>
              </a:ext>
            </a:extLst>
          </p:cNvPr>
          <p:cNvSpPr txBox="1"/>
          <p:nvPr/>
        </p:nvSpPr>
        <p:spPr>
          <a:xfrm>
            <a:off x="3267942" y="1882838"/>
            <a:ext cx="162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Finance bundle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E53BCE-7308-DF7B-6B85-D4D2FBAB9868}"/>
              </a:ext>
            </a:extLst>
          </p:cNvPr>
          <p:cNvSpPr txBox="1"/>
          <p:nvPr/>
        </p:nvSpPr>
        <p:spPr>
          <a:xfrm>
            <a:off x="5909761" y="896698"/>
            <a:ext cx="1332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650,000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0489CA-5CFC-F25F-4FF0-BB6BB75F5988}"/>
              </a:ext>
            </a:extLst>
          </p:cNvPr>
          <p:cNvSpPr txBox="1"/>
          <p:nvPr/>
        </p:nvSpPr>
        <p:spPr>
          <a:xfrm>
            <a:off x="7151613" y="967709"/>
            <a:ext cx="1332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100,000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9E8B6E-D7FD-4259-E14D-84758CF40747}"/>
              </a:ext>
            </a:extLst>
          </p:cNvPr>
          <p:cNvSpPr txBox="1"/>
          <p:nvPr/>
        </p:nvSpPr>
        <p:spPr>
          <a:xfrm>
            <a:off x="7665899" y="1159923"/>
            <a:ext cx="1332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20,000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43CA4F82-D1E1-EA69-9F5D-AFE5DB75E934}"/>
              </a:ext>
            </a:extLst>
          </p:cNvPr>
          <p:cNvSpPr/>
          <p:nvPr/>
        </p:nvSpPr>
        <p:spPr>
          <a:xfrm>
            <a:off x="3005092" y="1383395"/>
            <a:ext cx="4699287" cy="1717144"/>
          </a:xfrm>
          <a:custGeom>
            <a:avLst/>
            <a:gdLst>
              <a:gd name="csX0" fmla="*/ 0 w 3722914"/>
              <a:gd name="csY0" fmla="*/ 1230086 h 1791382"/>
              <a:gd name="csX1" fmla="*/ 914400 w 3722914"/>
              <a:gd name="csY1" fmla="*/ 1730829 h 1791382"/>
              <a:gd name="csX2" fmla="*/ 3722914 w 3722914"/>
              <a:gd name="csY2" fmla="*/ 0 h 1791382"/>
              <a:gd name="csX3" fmla="*/ 3722914 w 3722914"/>
              <a:gd name="csY3" fmla="*/ 0 h 17913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722914" h="1791382">
                <a:moveTo>
                  <a:pt x="0" y="1230086"/>
                </a:moveTo>
                <a:cubicBezTo>
                  <a:pt x="146957" y="1582964"/>
                  <a:pt x="293914" y="1935843"/>
                  <a:pt x="914400" y="1730829"/>
                </a:cubicBezTo>
                <a:cubicBezTo>
                  <a:pt x="1534886" y="1525815"/>
                  <a:pt x="3722914" y="0"/>
                  <a:pt x="3722914" y="0"/>
                </a:cubicBezTo>
                <a:lnTo>
                  <a:pt x="3722914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A6E20B-E05D-3526-A8D6-0F1EB46236DB}"/>
              </a:ext>
            </a:extLst>
          </p:cNvPr>
          <p:cNvSpPr txBox="1"/>
          <p:nvPr/>
        </p:nvSpPr>
        <p:spPr>
          <a:xfrm>
            <a:off x="7742205" y="1576526"/>
            <a:ext cx="1773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50,000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1E4E28-F333-8386-44D6-52AC35BE6D00}"/>
              </a:ext>
            </a:extLst>
          </p:cNvPr>
          <p:cNvSpPr txBox="1"/>
          <p:nvPr/>
        </p:nvSpPr>
        <p:spPr>
          <a:xfrm>
            <a:off x="9572619" y="2061463"/>
            <a:ext cx="1773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10,000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40D014-53A5-3261-C32B-8CF22F123054}"/>
              </a:ext>
            </a:extLst>
          </p:cNvPr>
          <p:cNvSpPr txBox="1"/>
          <p:nvPr/>
        </p:nvSpPr>
        <p:spPr>
          <a:xfrm>
            <a:off x="8534687" y="1644915"/>
            <a:ext cx="1773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25,000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D3DC1A-B54A-BC2E-D857-F5B3A31A1D57}"/>
              </a:ext>
            </a:extLst>
          </p:cNvPr>
          <p:cNvSpPr txBox="1"/>
          <p:nvPr/>
        </p:nvSpPr>
        <p:spPr>
          <a:xfrm>
            <a:off x="9409644" y="3581379"/>
            <a:ext cx="1773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1,000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1C776D-627E-F0E4-9614-186BC99FDF82}"/>
              </a:ext>
            </a:extLst>
          </p:cNvPr>
          <p:cNvSpPr txBox="1"/>
          <p:nvPr/>
        </p:nvSpPr>
        <p:spPr>
          <a:xfrm>
            <a:off x="9327170" y="1660223"/>
            <a:ext cx="1773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10,000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FDEAB97-984D-9725-9A66-1E4CFFC4C3BD}"/>
              </a:ext>
            </a:extLst>
          </p:cNvPr>
          <p:cNvGrpSpPr/>
          <p:nvPr/>
        </p:nvGrpSpPr>
        <p:grpSpPr>
          <a:xfrm>
            <a:off x="2967122" y="2763693"/>
            <a:ext cx="6694822" cy="3103373"/>
            <a:chOff x="3231171" y="3297302"/>
            <a:chExt cx="6694822" cy="3103373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75520DC-6176-BC0B-1C90-FB0A46CAF93A}"/>
                </a:ext>
              </a:extLst>
            </p:cNvPr>
            <p:cNvSpPr/>
            <p:nvPr/>
          </p:nvSpPr>
          <p:spPr>
            <a:xfrm>
              <a:off x="3231171" y="3744506"/>
              <a:ext cx="6095999" cy="2656169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A93E2337-D9BF-F882-2B33-E008ACF24726}"/>
                </a:ext>
              </a:extLst>
            </p:cNvPr>
            <p:cNvCxnSpPr/>
            <p:nvPr/>
          </p:nvCxnSpPr>
          <p:spPr>
            <a:xfrm flipV="1">
              <a:off x="9251078" y="3297302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BA08DAC0-6239-9CFE-159C-3502376E2810}"/>
              </a:ext>
            </a:extLst>
          </p:cNvPr>
          <p:cNvSpPr txBox="1"/>
          <p:nvPr/>
        </p:nvSpPr>
        <p:spPr>
          <a:xfrm>
            <a:off x="3307638" y="5363594"/>
            <a:ext cx="16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NGO bundle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9B7C5A-C9BE-51A2-49AE-73A40AB6E82C}"/>
              </a:ext>
            </a:extLst>
          </p:cNvPr>
          <p:cNvSpPr txBox="1"/>
          <p:nvPr/>
        </p:nvSpPr>
        <p:spPr>
          <a:xfrm>
            <a:off x="9594410" y="2594657"/>
            <a:ext cx="1332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100,000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038E06-A138-40DB-23F2-0BB3CFB4DB10}"/>
              </a:ext>
            </a:extLst>
          </p:cNvPr>
          <p:cNvSpPr txBox="1"/>
          <p:nvPr/>
        </p:nvSpPr>
        <p:spPr>
          <a:xfrm>
            <a:off x="9241133" y="4946239"/>
            <a:ext cx="2636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Reach : 1 </a:t>
            </a:r>
            <a:r>
              <a:rPr lang="en-US" b="1" dirty="0" err="1"/>
              <a:t>mllion</a:t>
            </a:r>
            <a:r>
              <a:rPr lang="en-US" b="1" dirty="0"/>
              <a:t> farmers in 2026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56610B-FE92-99FB-A554-E57D03E1B494}"/>
              </a:ext>
            </a:extLst>
          </p:cNvPr>
          <p:cNvSpPr txBox="1"/>
          <p:nvPr/>
        </p:nvSpPr>
        <p:spPr>
          <a:xfrm>
            <a:off x="9306450" y="5864287"/>
            <a:ext cx="2636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Reach :3.5 </a:t>
            </a:r>
            <a:r>
              <a:rPr lang="en-US" b="1" dirty="0" err="1"/>
              <a:t>mllion</a:t>
            </a:r>
            <a:r>
              <a:rPr lang="en-US" b="1" dirty="0"/>
              <a:t> farmers by 2028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33A206B-F4FD-30E1-77D6-C1C5309E44F7}"/>
              </a:ext>
            </a:extLst>
          </p:cNvPr>
          <p:cNvGrpSpPr/>
          <p:nvPr/>
        </p:nvGrpSpPr>
        <p:grpSpPr>
          <a:xfrm>
            <a:off x="4381120" y="1976002"/>
            <a:ext cx="4397829" cy="2270353"/>
            <a:chOff x="2775857" y="968829"/>
            <a:chExt cx="4397829" cy="2270353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346A6D74-1803-3BD3-B904-C6FE1355A28D}"/>
                </a:ext>
              </a:extLst>
            </p:cNvPr>
            <p:cNvSpPr/>
            <p:nvPr/>
          </p:nvSpPr>
          <p:spPr>
            <a:xfrm>
              <a:off x="2775857" y="1447800"/>
              <a:ext cx="3722914" cy="1791382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AD383564-ECEE-98CE-8C45-04C8B2C66DCB}"/>
                </a:ext>
              </a:extLst>
            </p:cNvPr>
            <p:cNvCxnSpPr/>
            <p:nvPr/>
          </p:nvCxnSpPr>
          <p:spPr>
            <a:xfrm flipV="1">
              <a:off x="6498771" y="968829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52C7039-058B-F5C3-A868-13E268F9F5CC}"/>
              </a:ext>
            </a:extLst>
          </p:cNvPr>
          <p:cNvGrpSpPr/>
          <p:nvPr/>
        </p:nvGrpSpPr>
        <p:grpSpPr>
          <a:xfrm>
            <a:off x="2948864" y="1902280"/>
            <a:ext cx="4948884" cy="1921856"/>
            <a:chOff x="2775857" y="968829"/>
            <a:chExt cx="4397829" cy="2270353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9AC8BBA-DE3E-28B4-1D76-2B0B0DCE1E89}"/>
                </a:ext>
              </a:extLst>
            </p:cNvPr>
            <p:cNvSpPr/>
            <p:nvPr/>
          </p:nvSpPr>
          <p:spPr>
            <a:xfrm>
              <a:off x="2775857" y="1447800"/>
              <a:ext cx="3722914" cy="1791382"/>
            </a:xfrm>
            <a:custGeom>
              <a:avLst/>
              <a:gdLst>
                <a:gd name="csX0" fmla="*/ 0 w 3722914"/>
                <a:gd name="csY0" fmla="*/ 1230086 h 1791382"/>
                <a:gd name="csX1" fmla="*/ 914400 w 3722914"/>
                <a:gd name="csY1" fmla="*/ 1730829 h 1791382"/>
                <a:gd name="csX2" fmla="*/ 3722914 w 3722914"/>
                <a:gd name="csY2" fmla="*/ 0 h 1791382"/>
                <a:gd name="csX3" fmla="*/ 3722914 w 3722914"/>
                <a:gd name="csY3" fmla="*/ 0 h 1791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22914" h="1791382">
                  <a:moveTo>
                    <a:pt x="0" y="1230086"/>
                  </a:moveTo>
                  <a:cubicBezTo>
                    <a:pt x="146957" y="1582964"/>
                    <a:pt x="293914" y="1935843"/>
                    <a:pt x="914400" y="1730829"/>
                  </a:cubicBezTo>
                  <a:cubicBezTo>
                    <a:pt x="1534886" y="1525815"/>
                    <a:pt x="3722914" y="0"/>
                    <a:pt x="3722914" y="0"/>
                  </a:cubicBezTo>
                  <a:lnTo>
                    <a:pt x="372291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E66CBE01-B56D-D18E-AA12-5976246071CD}"/>
                </a:ext>
              </a:extLst>
            </p:cNvPr>
            <p:cNvCxnSpPr/>
            <p:nvPr/>
          </p:nvCxnSpPr>
          <p:spPr>
            <a:xfrm flipV="1">
              <a:off x="6498771" y="968829"/>
              <a:ext cx="674915" cy="4789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D464E8D1-8EDA-A3A5-255B-68EE08FFDB07}"/>
              </a:ext>
            </a:extLst>
          </p:cNvPr>
          <p:cNvSpPr txBox="1"/>
          <p:nvPr/>
        </p:nvSpPr>
        <p:spPr>
          <a:xfrm>
            <a:off x="576942" y="3147463"/>
            <a:ext cx="1675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Expected Bilateral funding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230D145-5325-EA02-6D49-528C37A18DED}"/>
              </a:ext>
            </a:extLst>
          </p:cNvPr>
          <p:cNvSpPr txBox="1"/>
          <p:nvPr/>
        </p:nvSpPr>
        <p:spPr>
          <a:xfrm>
            <a:off x="554397" y="4164930"/>
            <a:ext cx="126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300K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D65359-285B-969E-5B22-7F94CC184DD7}"/>
              </a:ext>
            </a:extLst>
          </p:cNvPr>
          <p:cNvSpPr txBox="1"/>
          <p:nvPr/>
        </p:nvSpPr>
        <p:spPr>
          <a:xfrm>
            <a:off x="3223420" y="2464556"/>
            <a:ext cx="1621972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Agitech</a:t>
            </a:r>
            <a:r>
              <a:rPr lang="en-US" dirty="0"/>
              <a:t> bundle</a:t>
            </a:r>
          </a:p>
        </p:txBody>
      </p:sp>
    </p:spTree>
    <p:extLst>
      <p:ext uri="{BB962C8B-B14F-4D97-AF65-F5344CB8AC3E}">
        <p14:creationId xmlns:p14="http://schemas.microsoft.com/office/powerpoint/2010/main" val="4277754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87B5-5FFC-01EE-8730-59781B7A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20" y="744380"/>
            <a:ext cx="10515600" cy="937363"/>
          </a:xfrm>
        </p:spPr>
        <p:txBody>
          <a:bodyPr/>
          <a:lstStyle/>
          <a:p>
            <a:r>
              <a:rPr lang="en-US" dirty="0"/>
              <a:t>Scaling and Demand Partners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BC3A5-595A-111C-3007-87BD732B3D90}"/>
              </a:ext>
            </a:extLst>
          </p:cNvPr>
          <p:cNvSpPr txBox="1"/>
          <p:nvPr/>
        </p:nvSpPr>
        <p:spPr>
          <a:xfrm>
            <a:off x="1232919" y="5000210"/>
            <a:ext cx="1579163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Disease forecasting bundle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783ED-14D6-563E-4C5F-8A879E0EE49A}"/>
              </a:ext>
            </a:extLst>
          </p:cNvPr>
          <p:cNvSpPr txBox="1"/>
          <p:nvPr/>
        </p:nvSpPr>
        <p:spPr>
          <a:xfrm>
            <a:off x="6997429" y="3328079"/>
            <a:ext cx="1621972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Food safety bundle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08691-8151-DD0F-25F9-93797AD8CD6F}"/>
              </a:ext>
            </a:extLst>
          </p:cNvPr>
          <p:cNvSpPr txBox="1"/>
          <p:nvPr/>
        </p:nvSpPr>
        <p:spPr>
          <a:xfrm>
            <a:off x="6968128" y="5402557"/>
            <a:ext cx="162197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AI bundle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D5AE6-93DA-9CBF-215A-E8FA2A5E782D}"/>
              </a:ext>
            </a:extLst>
          </p:cNvPr>
          <p:cNvSpPr txBox="1"/>
          <p:nvPr/>
        </p:nvSpPr>
        <p:spPr>
          <a:xfrm>
            <a:off x="7060505" y="2243255"/>
            <a:ext cx="1558896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Service provision bundle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75BB9-53DC-6825-0174-33D63BDC784C}"/>
              </a:ext>
            </a:extLst>
          </p:cNvPr>
          <p:cNvSpPr txBox="1"/>
          <p:nvPr/>
        </p:nvSpPr>
        <p:spPr>
          <a:xfrm>
            <a:off x="1262648" y="4295366"/>
            <a:ext cx="1558896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Insurance bundle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FFB3B3-71A1-9BBF-ECE3-317288F5A884}"/>
              </a:ext>
            </a:extLst>
          </p:cNvPr>
          <p:cNvSpPr txBox="1"/>
          <p:nvPr/>
        </p:nvSpPr>
        <p:spPr>
          <a:xfrm>
            <a:off x="6968128" y="4239590"/>
            <a:ext cx="162197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Fertilizer bundle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84246-5927-1224-2BB5-3E3485325569}"/>
              </a:ext>
            </a:extLst>
          </p:cNvPr>
          <p:cNvSpPr txBox="1"/>
          <p:nvPr/>
        </p:nvSpPr>
        <p:spPr>
          <a:xfrm>
            <a:off x="1285179" y="2154028"/>
            <a:ext cx="1558896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Extension bundle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EF870E-888F-3E5A-BE3F-8A63EC2B8FA9}"/>
              </a:ext>
            </a:extLst>
          </p:cNvPr>
          <p:cNvSpPr txBox="1"/>
          <p:nvPr/>
        </p:nvSpPr>
        <p:spPr>
          <a:xfrm>
            <a:off x="1262648" y="3590521"/>
            <a:ext cx="1558896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Agitech</a:t>
            </a:r>
            <a:r>
              <a:rPr lang="en-US" dirty="0"/>
              <a:t> bundle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0FF243-9FFC-EA63-16A1-B0DBC5A8B1A0}"/>
              </a:ext>
            </a:extLst>
          </p:cNvPr>
          <p:cNvSpPr txBox="1"/>
          <p:nvPr/>
        </p:nvSpPr>
        <p:spPr>
          <a:xfrm>
            <a:off x="1262648" y="2882667"/>
            <a:ext cx="1558896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Finance bundle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B972D2-729A-8EEE-BC6D-F4E444AD65D7}"/>
              </a:ext>
            </a:extLst>
          </p:cNvPr>
          <p:cNvSpPr txBox="1"/>
          <p:nvPr/>
        </p:nvSpPr>
        <p:spPr>
          <a:xfrm>
            <a:off x="1253186" y="6028411"/>
            <a:ext cx="155889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NGO bundle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D8604A-E42C-BF90-0267-7E984CF83AA1}"/>
              </a:ext>
            </a:extLst>
          </p:cNvPr>
          <p:cNvSpPr txBox="1"/>
          <p:nvPr/>
        </p:nvSpPr>
        <p:spPr>
          <a:xfrm>
            <a:off x="3124200" y="2243255"/>
            <a:ext cx="145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DAE, AIS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3C3C11-EC15-347C-7A14-9F7999E2DB1C}"/>
              </a:ext>
            </a:extLst>
          </p:cNvPr>
          <p:cNvSpPr txBox="1"/>
          <p:nvPr/>
        </p:nvSpPr>
        <p:spPr>
          <a:xfrm>
            <a:off x="3124199" y="2981919"/>
            <a:ext cx="170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PKSF, </a:t>
            </a:r>
            <a:r>
              <a:rPr lang="en-US" dirty="0" err="1"/>
              <a:t>iFarmer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F8C0CC-537A-3527-0061-93960FA42D3B}"/>
              </a:ext>
            </a:extLst>
          </p:cNvPr>
          <p:cNvSpPr txBox="1"/>
          <p:nvPr/>
        </p:nvSpPr>
        <p:spPr>
          <a:xfrm>
            <a:off x="3060877" y="3720059"/>
            <a:ext cx="1958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Genius Farms Ltd. WF, Khamari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B801B5-A1F1-119F-1B72-27722E3AB897}"/>
              </a:ext>
            </a:extLst>
          </p:cNvPr>
          <p:cNvSpPr txBox="1"/>
          <p:nvPr/>
        </p:nvSpPr>
        <p:spPr>
          <a:xfrm>
            <a:off x="3097528" y="4346885"/>
            <a:ext cx="1709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Pranisheba</a:t>
            </a:r>
            <a:r>
              <a:rPr lang="en-US" dirty="0"/>
              <a:t>, Green Delta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432614-253A-6BDE-1DB3-E267749967FD}"/>
              </a:ext>
            </a:extLst>
          </p:cNvPr>
          <p:cNvSpPr txBox="1"/>
          <p:nvPr/>
        </p:nvSpPr>
        <p:spPr>
          <a:xfrm>
            <a:off x="3119297" y="5097552"/>
            <a:ext cx="170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61218D-B35F-4B27-5AB2-9584ED7FECF9}"/>
              </a:ext>
            </a:extLst>
          </p:cNvPr>
          <p:cNvSpPr txBox="1"/>
          <p:nvPr/>
        </p:nvSpPr>
        <p:spPr>
          <a:xfrm>
            <a:off x="2999014" y="5827667"/>
            <a:ext cx="1709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IRRI, CIMMYT and WF partner NGOs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7BA0CE-0AC5-DF0C-ABA6-3BE63A42921B}"/>
              </a:ext>
            </a:extLst>
          </p:cNvPr>
          <p:cNvSpPr txBox="1"/>
          <p:nvPr/>
        </p:nvSpPr>
        <p:spPr>
          <a:xfrm>
            <a:off x="9009141" y="2150922"/>
            <a:ext cx="1709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Combine and reaper service providers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D5E5C5-9B44-3A82-B30A-EBFCE87CCFF8}"/>
              </a:ext>
            </a:extLst>
          </p:cNvPr>
          <p:cNvSpPr txBox="1"/>
          <p:nvPr/>
        </p:nvSpPr>
        <p:spPr>
          <a:xfrm>
            <a:off x="9074455" y="3359538"/>
            <a:ext cx="170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286BEA-6D48-2A27-3EC8-5F94FE5C5E84}"/>
              </a:ext>
            </a:extLst>
          </p:cNvPr>
          <p:cNvSpPr txBox="1"/>
          <p:nvPr/>
        </p:nvSpPr>
        <p:spPr>
          <a:xfrm>
            <a:off x="8946062" y="1461218"/>
            <a:ext cx="1859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Rice transplanter SPs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D59E6C-BC66-8891-CEED-F60853B2D948}"/>
              </a:ext>
            </a:extLst>
          </p:cNvPr>
          <p:cNvSpPr txBox="1"/>
          <p:nvPr/>
        </p:nvSpPr>
        <p:spPr>
          <a:xfrm>
            <a:off x="8946063" y="4366914"/>
            <a:ext cx="170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FF3744-A6B4-A29D-CFA0-BDA842549FDD}"/>
              </a:ext>
            </a:extLst>
          </p:cNvPr>
          <p:cNvSpPr txBox="1"/>
          <p:nvPr/>
        </p:nvSpPr>
        <p:spPr>
          <a:xfrm>
            <a:off x="8984400" y="5282218"/>
            <a:ext cx="1579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Multiple partners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DFAF34-5B57-5B6A-07CB-2E7CFAB79BC7}"/>
              </a:ext>
            </a:extLst>
          </p:cNvPr>
          <p:cNvSpPr txBox="1"/>
          <p:nvPr/>
        </p:nvSpPr>
        <p:spPr>
          <a:xfrm>
            <a:off x="4708071" y="2087520"/>
            <a:ext cx="1709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Circular under process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E7C71C-BD58-7811-DB74-A5F89CC0F8B7}"/>
              </a:ext>
            </a:extLst>
          </p:cNvPr>
          <p:cNvSpPr txBox="1"/>
          <p:nvPr/>
        </p:nvSpPr>
        <p:spPr>
          <a:xfrm>
            <a:off x="4828354" y="2860419"/>
            <a:ext cx="1458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Formal requests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3EE177-BE43-712E-8DE0-F73AD0EE9D94}"/>
              </a:ext>
            </a:extLst>
          </p:cNvPr>
          <p:cNvSpPr txBox="1"/>
          <p:nvPr/>
        </p:nvSpPr>
        <p:spPr>
          <a:xfrm>
            <a:off x="4859925" y="3720583"/>
            <a:ext cx="1458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Formal request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CD59D0-A68B-4D46-6E98-48CE4EB95E9F}"/>
              </a:ext>
            </a:extLst>
          </p:cNvPr>
          <p:cNvSpPr txBox="1"/>
          <p:nvPr/>
        </p:nvSpPr>
        <p:spPr>
          <a:xfrm>
            <a:off x="4828354" y="4367211"/>
            <a:ext cx="1458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Formal request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79A415-825B-A3E4-054E-1E7E99EF74B2}"/>
              </a:ext>
            </a:extLst>
          </p:cNvPr>
          <p:cNvSpPr txBox="1"/>
          <p:nvPr/>
        </p:nvSpPr>
        <p:spPr>
          <a:xfrm>
            <a:off x="4859924" y="5015183"/>
            <a:ext cx="1621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Existing collaboration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D893BF-8791-604B-855A-DAB45A2BE57E}"/>
              </a:ext>
            </a:extLst>
          </p:cNvPr>
          <p:cNvSpPr txBox="1"/>
          <p:nvPr/>
        </p:nvSpPr>
        <p:spPr>
          <a:xfrm>
            <a:off x="4895003" y="5889911"/>
            <a:ext cx="1621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 Surveys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F91A6E-4A98-1BDA-1860-60D1F314D17D}"/>
              </a:ext>
            </a:extLst>
          </p:cNvPr>
          <p:cNvSpPr txBox="1"/>
          <p:nvPr/>
        </p:nvSpPr>
        <p:spPr>
          <a:xfrm>
            <a:off x="10783512" y="2171942"/>
            <a:ext cx="1621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 Surveys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6D721E-106D-B421-31C4-00294DCC1B96}"/>
              </a:ext>
            </a:extLst>
          </p:cNvPr>
          <p:cNvSpPr txBox="1"/>
          <p:nvPr/>
        </p:nvSpPr>
        <p:spPr>
          <a:xfrm>
            <a:off x="10783512" y="3356168"/>
            <a:ext cx="1621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Bilateral investment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177229-4808-4680-8F77-DE356D49B34E}"/>
              </a:ext>
            </a:extLst>
          </p:cNvPr>
          <p:cNvSpPr txBox="1"/>
          <p:nvPr/>
        </p:nvSpPr>
        <p:spPr>
          <a:xfrm>
            <a:off x="10751643" y="4346885"/>
            <a:ext cx="1621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Govt. policy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5EF62E-7A6C-DF8F-7511-C6A3BF994C17}"/>
              </a:ext>
            </a:extLst>
          </p:cNvPr>
          <p:cNvSpPr txBox="1"/>
          <p:nvPr/>
        </p:nvSpPr>
        <p:spPr>
          <a:xfrm>
            <a:off x="10793303" y="5243580"/>
            <a:ext cx="1621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 Surveys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1A3543-5FB1-009E-BADF-986C5235CDF2}"/>
              </a:ext>
            </a:extLst>
          </p:cNvPr>
          <p:cNvSpPr txBox="1"/>
          <p:nvPr/>
        </p:nvSpPr>
        <p:spPr>
          <a:xfrm>
            <a:off x="4708071" y="1560772"/>
            <a:ext cx="1458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Evidence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0FA7CB-8648-79C0-0848-B1B31563F6B7}"/>
              </a:ext>
            </a:extLst>
          </p:cNvPr>
          <p:cNvSpPr txBox="1"/>
          <p:nvPr/>
        </p:nvSpPr>
        <p:spPr>
          <a:xfrm>
            <a:off x="10688413" y="1070200"/>
            <a:ext cx="1458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Evidence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4511DB-C1A2-CC62-785B-7BD30FAC2B4A}"/>
              </a:ext>
            </a:extLst>
          </p:cNvPr>
          <p:cNvSpPr txBox="1"/>
          <p:nvPr/>
        </p:nvSpPr>
        <p:spPr>
          <a:xfrm>
            <a:off x="1255574" y="1611287"/>
            <a:ext cx="1458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Bundle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E7A842-9666-1B42-C07C-8442D913502C}"/>
              </a:ext>
            </a:extLst>
          </p:cNvPr>
          <p:cNvSpPr txBox="1"/>
          <p:nvPr/>
        </p:nvSpPr>
        <p:spPr>
          <a:xfrm>
            <a:off x="3060877" y="1611287"/>
            <a:ext cx="1458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partner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83E1FA-620F-AA6D-7F93-E1CFD3F60C48}"/>
              </a:ext>
            </a:extLst>
          </p:cNvPr>
          <p:cNvSpPr txBox="1"/>
          <p:nvPr/>
        </p:nvSpPr>
        <p:spPr>
          <a:xfrm>
            <a:off x="7131413" y="1086161"/>
            <a:ext cx="1458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Bundle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D91F03-E07D-84B0-60E6-B0365D367342}"/>
              </a:ext>
            </a:extLst>
          </p:cNvPr>
          <p:cNvSpPr txBox="1"/>
          <p:nvPr/>
        </p:nvSpPr>
        <p:spPr>
          <a:xfrm>
            <a:off x="8946062" y="1070200"/>
            <a:ext cx="1458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partner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67CA016-A635-9C17-51D7-3EF6B22E095E}"/>
              </a:ext>
            </a:extLst>
          </p:cNvPr>
          <p:cNvSpPr/>
          <p:nvPr/>
        </p:nvSpPr>
        <p:spPr>
          <a:xfrm>
            <a:off x="6516974" y="3429000"/>
            <a:ext cx="385140" cy="3180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9C5E21B-AF40-894B-845E-926C68EA0E6A}"/>
              </a:ext>
            </a:extLst>
          </p:cNvPr>
          <p:cNvSpPr/>
          <p:nvPr/>
        </p:nvSpPr>
        <p:spPr>
          <a:xfrm>
            <a:off x="788563" y="5402557"/>
            <a:ext cx="385140" cy="3180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663D01-1183-A212-2C2E-E1F97CFC33D5}"/>
              </a:ext>
            </a:extLst>
          </p:cNvPr>
          <p:cNvSpPr txBox="1"/>
          <p:nvPr/>
        </p:nvSpPr>
        <p:spPr>
          <a:xfrm>
            <a:off x="7060504" y="6215743"/>
            <a:ext cx="387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 Lead farmers , BAU and MSPs are demand partners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E2E1836-F8F8-4A3E-624A-B8B3C55D6E1D}"/>
              </a:ext>
            </a:extLst>
          </p:cNvPr>
          <p:cNvSpPr/>
          <p:nvPr/>
        </p:nvSpPr>
        <p:spPr>
          <a:xfrm>
            <a:off x="6516974" y="4398136"/>
            <a:ext cx="385140" cy="3180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10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A5727-E83B-9D30-129D-E42C00BC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2658B-E997-5488-25E8-03F48453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958" y="787741"/>
            <a:ext cx="10515600" cy="937363"/>
          </a:xfrm>
        </p:spPr>
        <p:txBody>
          <a:bodyPr/>
          <a:lstStyle/>
          <a:p>
            <a:r>
              <a:rPr lang="en-US" dirty="0"/>
              <a:t>Partners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BA6423-F4C8-AD22-C7C3-83CEB2640F83}"/>
              </a:ext>
            </a:extLst>
          </p:cNvPr>
          <p:cNvSpPr txBox="1"/>
          <p:nvPr/>
        </p:nvSpPr>
        <p:spPr>
          <a:xfrm>
            <a:off x="1232919" y="5000210"/>
            <a:ext cx="1579163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Disease forecasting bundle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F9ECB-90F5-5F78-4909-4452C562EE1F}"/>
              </a:ext>
            </a:extLst>
          </p:cNvPr>
          <p:cNvSpPr txBox="1"/>
          <p:nvPr/>
        </p:nvSpPr>
        <p:spPr>
          <a:xfrm>
            <a:off x="6997429" y="3328079"/>
            <a:ext cx="1621972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Food safety bundle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84C0F9-86C3-9E67-720A-BB72694427A6}"/>
              </a:ext>
            </a:extLst>
          </p:cNvPr>
          <p:cNvSpPr txBox="1"/>
          <p:nvPr/>
        </p:nvSpPr>
        <p:spPr>
          <a:xfrm>
            <a:off x="6968128" y="5402557"/>
            <a:ext cx="162197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AI bundle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D47100-3F2B-B745-4FB4-E7749B828E54}"/>
              </a:ext>
            </a:extLst>
          </p:cNvPr>
          <p:cNvSpPr txBox="1"/>
          <p:nvPr/>
        </p:nvSpPr>
        <p:spPr>
          <a:xfrm>
            <a:off x="7060505" y="2243255"/>
            <a:ext cx="1558896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Service provision bundle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B7158F-56C4-6226-296B-A12A6A28FADA}"/>
              </a:ext>
            </a:extLst>
          </p:cNvPr>
          <p:cNvSpPr txBox="1"/>
          <p:nvPr/>
        </p:nvSpPr>
        <p:spPr>
          <a:xfrm>
            <a:off x="1262648" y="4295366"/>
            <a:ext cx="1558896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Insurance bundle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7D559-5397-19E1-015B-F285C09D8FF5}"/>
              </a:ext>
            </a:extLst>
          </p:cNvPr>
          <p:cNvSpPr txBox="1"/>
          <p:nvPr/>
        </p:nvSpPr>
        <p:spPr>
          <a:xfrm>
            <a:off x="6968128" y="4239590"/>
            <a:ext cx="162197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Fertilizer bundle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B824EC-C457-F244-F5CF-5F9899757FA7}"/>
              </a:ext>
            </a:extLst>
          </p:cNvPr>
          <p:cNvSpPr txBox="1"/>
          <p:nvPr/>
        </p:nvSpPr>
        <p:spPr>
          <a:xfrm>
            <a:off x="1285179" y="2154028"/>
            <a:ext cx="1558896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Extension bundle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980515-FA5A-7053-6042-0D1A45EFDCA4}"/>
              </a:ext>
            </a:extLst>
          </p:cNvPr>
          <p:cNvSpPr txBox="1"/>
          <p:nvPr/>
        </p:nvSpPr>
        <p:spPr>
          <a:xfrm>
            <a:off x="1262648" y="3590521"/>
            <a:ext cx="1558896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Agitech</a:t>
            </a:r>
            <a:r>
              <a:rPr lang="en-US" dirty="0"/>
              <a:t> bundle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219C7A-3FE6-82B5-BC5E-B3DFE53E299F}"/>
              </a:ext>
            </a:extLst>
          </p:cNvPr>
          <p:cNvSpPr txBox="1"/>
          <p:nvPr/>
        </p:nvSpPr>
        <p:spPr>
          <a:xfrm>
            <a:off x="1262648" y="2882667"/>
            <a:ext cx="1558896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Finance bundle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9482B1-AA36-2025-15F3-7CBC2E6BDC03}"/>
              </a:ext>
            </a:extLst>
          </p:cNvPr>
          <p:cNvSpPr txBox="1"/>
          <p:nvPr/>
        </p:nvSpPr>
        <p:spPr>
          <a:xfrm>
            <a:off x="1253186" y="6028411"/>
            <a:ext cx="155889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NGO bundle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C7F187-77BE-1EE4-BC68-B0111E53324F}"/>
              </a:ext>
            </a:extLst>
          </p:cNvPr>
          <p:cNvSpPr txBox="1"/>
          <p:nvPr/>
        </p:nvSpPr>
        <p:spPr>
          <a:xfrm>
            <a:off x="3124200" y="2243255"/>
            <a:ext cx="145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DAE, AIS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14BB1C-C014-E02C-CB93-5ECCF3B1CB87}"/>
              </a:ext>
            </a:extLst>
          </p:cNvPr>
          <p:cNvSpPr txBox="1"/>
          <p:nvPr/>
        </p:nvSpPr>
        <p:spPr>
          <a:xfrm>
            <a:off x="3124199" y="2981919"/>
            <a:ext cx="170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PKSF, </a:t>
            </a:r>
            <a:r>
              <a:rPr lang="en-US" dirty="0" err="1"/>
              <a:t>iFarmer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1BE10C-753D-E150-B1E9-340A2F7786DD}"/>
              </a:ext>
            </a:extLst>
          </p:cNvPr>
          <p:cNvSpPr txBox="1"/>
          <p:nvPr/>
        </p:nvSpPr>
        <p:spPr>
          <a:xfrm>
            <a:off x="3024716" y="3720059"/>
            <a:ext cx="1958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Genius Farms Ltd. WF, BARC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711A5D-4A20-281C-9F68-6BE441203701}"/>
              </a:ext>
            </a:extLst>
          </p:cNvPr>
          <p:cNvSpPr txBox="1"/>
          <p:nvPr/>
        </p:nvSpPr>
        <p:spPr>
          <a:xfrm>
            <a:off x="3097528" y="4346885"/>
            <a:ext cx="1709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Pranisheba</a:t>
            </a:r>
            <a:r>
              <a:rPr lang="en-US" dirty="0"/>
              <a:t>, Green Delta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E89B23-B15C-EAC1-E176-D6E81679F8D1}"/>
              </a:ext>
            </a:extLst>
          </p:cNvPr>
          <p:cNvSpPr txBox="1"/>
          <p:nvPr/>
        </p:nvSpPr>
        <p:spPr>
          <a:xfrm>
            <a:off x="3119297" y="5097552"/>
            <a:ext cx="170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4FC8B2-B90D-784F-AF05-5DFC14E21CB8}"/>
              </a:ext>
            </a:extLst>
          </p:cNvPr>
          <p:cNvSpPr txBox="1"/>
          <p:nvPr/>
        </p:nvSpPr>
        <p:spPr>
          <a:xfrm>
            <a:off x="2999014" y="5827667"/>
            <a:ext cx="1709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IRRI, CIMMYT and WF partner NGOs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3BA0DC-B0F4-FD29-928F-BDBA6EAA27E9}"/>
              </a:ext>
            </a:extLst>
          </p:cNvPr>
          <p:cNvSpPr txBox="1"/>
          <p:nvPr/>
        </p:nvSpPr>
        <p:spPr>
          <a:xfrm>
            <a:off x="9009141" y="2150922"/>
            <a:ext cx="1709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Combine and reaper service providers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64F08E-D570-8900-1F8E-F75DD9081A4B}"/>
              </a:ext>
            </a:extLst>
          </p:cNvPr>
          <p:cNvSpPr txBox="1"/>
          <p:nvPr/>
        </p:nvSpPr>
        <p:spPr>
          <a:xfrm>
            <a:off x="9074455" y="3359538"/>
            <a:ext cx="170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D5F9C1-C6AE-4725-ACFD-E1F664643D5A}"/>
              </a:ext>
            </a:extLst>
          </p:cNvPr>
          <p:cNvSpPr txBox="1"/>
          <p:nvPr/>
        </p:nvSpPr>
        <p:spPr>
          <a:xfrm>
            <a:off x="8946062" y="1461218"/>
            <a:ext cx="1859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Rice transplanter SPs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D81A45-DF91-B082-D55A-9FC17387A78E}"/>
              </a:ext>
            </a:extLst>
          </p:cNvPr>
          <p:cNvSpPr txBox="1"/>
          <p:nvPr/>
        </p:nvSpPr>
        <p:spPr>
          <a:xfrm>
            <a:off x="8946063" y="4366914"/>
            <a:ext cx="170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4A70F3-0B05-2902-B6B5-6C6910AEE35D}"/>
              </a:ext>
            </a:extLst>
          </p:cNvPr>
          <p:cNvSpPr txBox="1"/>
          <p:nvPr/>
        </p:nvSpPr>
        <p:spPr>
          <a:xfrm>
            <a:off x="8984400" y="5282218"/>
            <a:ext cx="1579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Multiple partners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833AEE-3526-AAC8-9058-39A079DACAEB}"/>
              </a:ext>
            </a:extLst>
          </p:cNvPr>
          <p:cNvSpPr txBox="1"/>
          <p:nvPr/>
        </p:nvSpPr>
        <p:spPr>
          <a:xfrm>
            <a:off x="4626942" y="2073173"/>
            <a:ext cx="2473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Institutionalization and Lead farmer as Digital service providers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51AD5C-B184-BA00-A0E5-0D9D1EAC5D65}"/>
              </a:ext>
            </a:extLst>
          </p:cNvPr>
          <p:cNvSpPr txBox="1"/>
          <p:nvPr/>
        </p:nvSpPr>
        <p:spPr>
          <a:xfrm>
            <a:off x="4828354" y="2860419"/>
            <a:ext cx="1458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Institutionalization, API integration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81E6C6-940D-BBEF-1808-0FABA6B22598}"/>
              </a:ext>
            </a:extLst>
          </p:cNvPr>
          <p:cNvSpPr txBox="1"/>
          <p:nvPr/>
        </p:nvSpPr>
        <p:spPr>
          <a:xfrm>
            <a:off x="4859925" y="3720583"/>
            <a:ext cx="1458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API integration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C7E62F-E0C6-8A48-309D-073E5D0C32FC}"/>
              </a:ext>
            </a:extLst>
          </p:cNvPr>
          <p:cNvSpPr txBox="1"/>
          <p:nvPr/>
        </p:nvSpPr>
        <p:spPr>
          <a:xfrm>
            <a:off x="4828353" y="4367211"/>
            <a:ext cx="1783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API integration, training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B8B2CC-CF8B-AD44-493F-0CC4E2A3FD00}"/>
              </a:ext>
            </a:extLst>
          </p:cNvPr>
          <p:cNvSpPr txBox="1"/>
          <p:nvPr/>
        </p:nvSpPr>
        <p:spPr>
          <a:xfrm>
            <a:off x="4859925" y="5114755"/>
            <a:ext cx="1621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Institutionalization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BD3517-F239-BE0E-802E-4C4564B06E7B}"/>
              </a:ext>
            </a:extLst>
          </p:cNvPr>
          <p:cNvSpPr txBox="1"/>
          <p:nvPr/>
        </p:nvSpPr>
        <p:spPr>
          <a:xfrm>
            <a:off x="4895003" y="5889911"/>
            <a:ext cx="1621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and Institutionalization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D374FD-1B2E-ADA9-130B-161149BD18AC}"/>
              </a:ext>
            </a:extLst>
          </p:cNvPr>
          <p:cNvSpPr txBox="1"/>
          <p:nvPr/>
        </p:nvSpPr>
        <p:spPr>
          <a:xfrm>
            <a:off x="10783512" y="2171942"/>
            <a:ext cx="1621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and business creation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37D536-8397-C819-E9EA-C4DDC7B57D0B}"/>
              </a:ext>
            </a:extLst>
          </p:cNvPr>
          <p:cNvSpPr txBox="1"/>
          <p:nvPr/>
        </p:nvSpPr>
        <p:spPr>
          <a:xfrm>
            <a:off x="10783512" y="3356168"/>
            <a:ext cx="1621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Agvisely</a:t>
            </a:r>
            <a:r>
              <a:rPr lang="en-US" dirty="0"/>
              <a:t> integration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316331-3623-DF2D-78F3-17551A268438}"/>
              </a:ext>
            </a:extLst>
          </p:cNvPr>
          <p:cNvSpPr txBox="1"/>
          <p:nvPr/>
        </p:nvSpPr>
        <p:spPr>
          <a:xfrm>
            <a:off x="10805341" y="4346885"/>
            <a:ext cx="1621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645B2E-AC8F-A540-6736-D5CA0D697280}"/>
              </a:ext>
            </a:extLst>
          </p:cNvPr>
          <p:cNvSpPr txBox="1"/>
          <p:nvPr/>
        </p:nvSpPr>
        <p:spPr>
          <a:xfrm>
            <a:off x="10751642" y="5437920"/>
            <a:ext cx="1621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- </a:t>
            </a:r>
            <a:r>
              <a:rPr lang="en-US" dirty="0" err="1"/>
              <a:t>Agvisely</a:t>
            </a:r>
            <a:r>
              <a:rPr lang="en-US" dirty="0"/>
              <a:t> hotline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B98A50-12E3-DF79-225F-B55F107AE1C3}"/>
              </a:ext>
            </a:extLst>
          </p:cNvPr>
          <p:cNvSpPr txBox="1"/>
          <p:nvPr/>
        </p:nvSpPr>
        <p:spPr>
          <a:xfrm>
            <a:off x="4708071" y="1611287"/>
            <a:ext cx="1458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867100-EB7C-0DE6-D535-25610CA592E2}"/>
              </a:ext>
            </a:extLst>
          </p:cNvPr>
          <p:cNvSpPr txBox="1"/>
          <p:nvPr/>
        </p:nvSpPr>
        <p:spPr>
          <a:xfrm>
            <a:off x="10688413" y="1070200"/>
            <a:ext cx="1458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528DC-3C4B-8285-78DD-58C7231BEA18}"/>
              </a:ext>
            </a:extLst>
          </p:cNvPr>
          <p:cNvSpPr txBox="1"/>
          <p:nvPr/>
        </p:nvSpPr>
        <p:spPr>
          <a:xfrm>
            <a:off x="1255574" y="1611287"/>
            <a:ext cx="1458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Bundle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30EA69-A558-61A1-7336-C3F5CF159DD9}"/>
              </a:ext>
            </a:extLst>
          </p:cNvPr>
          <p:cNvSpPr txBox="1"/>
          <p:nvPr/>
        </p:nvSpPr>
        <p:spPr>
          <a:xfrm>
            <a:off x="3060877" y="1611287"/>
            <a:ext cx="1458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partner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4E5E57-6412-7A08-9694-1D697FC12920}"/>
              </a:ext>
            </a:extLst>
          </p:cNvPr>
          <p:cNvSpPr txBox="1"/>
          <p:nvPr/>
        </p:nvSpPr>
        <p:spPr>
          <a:xfrm>
            <a:off x="7131413" y="1086161"/>
            <a:ext cx="1458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Bundle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0F76B8-3C34-A333-0210-DE63EC8B30C4}"/>
              </a:ext>
            </a:extLst>
          </p:cNvPr>
          <p:cNvSpPr txBox="1"/>
          <p:nvPr/>
        </p:nvSpPr>
        <p:spPr>
          <a:xfrm>
            <a:off x="8946062" y="1070200"/>
            <a:ext cx="1458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partner</a:t>
            </a:r>
          </a:p>
        </p:txBody>
      </p:sp>
    </p:spTree>
    <p:extLst>
      <p:ext uri="{BB962C8B-B14F-4D97-AF65-F5344CB8AC3E}">
        <p14:creationId xmlns:p14="http://schemas.microsoft.com/office/powerpoint/2010/main" val="3926080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6A5A-AC0B-FEE3-F743-8D3FD9A2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8" y="930700"/>
            <a:ext cx="10515600" cy="937363"/>
          </a:xfrm>
        </p:spPr>
        <p:txBody>
          <a:bodyPr/>
          <a:lstStyle/>
          <a:p>
            <a:r>
              <a:rPr lang="en-US" dirty="0"/>
              <a:t>Scaling strategy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AF03-189F-4AC3-0569-D6E51616C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4" y="1868063"/>
            <a:ext cx="8675916" cy="5529942"/>
          </a:xfrm>
        </p:spPr>
        <p:txBody>
          <a:bodyPr>
            <a:normAutofit/>
          </a:bodyPr>
          <a:lstStyle/>
          <a:p>
            <a:r>
              <a:rPr lang="en-US" sz="2200" b="1" dirty="0"/>
              <a:t>Scaling as bundled services</a:t>
            </a:r>
            <a:br>
              <a:rPr lang="en-US" sz="2200" dirty="0"/>
            </a:br>
            <a:r>
              <a:rPr lang="en-US" sz="2200" dirty="0" err="1"/>
              <a:t>Agvisely</a:t>
            </a:r>
            <a:r>
              <a:rPr lang="en-US" sz="2200" dirty="0"/>
              <a:t> advisories are getting embedded in:</a:t>
            </a:r>
          </a:p>
          <a:p>
            <a:pPr lvl="1"/>
            <a:r>
              <a:rPr lang="en-US" sz="2200" dirty="0"/>
              <a:t>Insurance products  -  </a:t>
            </a:r>
          </a:p>
          <a:p>
            <a:pPr lvl="1"/>
            <a:r>
              <a:rPr lang="en-US" sz="2200" dirty="0"/>
              <a:t>Finance platforms   -</a:t>
            </a:r>
          </a:p>
          <a:p>
            <a:pPr lvl="1"/>
            <a:r>
              <a:rPr lang="en-US" sz="2200" dirty="0"/>
              <a:t>Mechanization services - </a:t>
            </a:r>
          </a:p>
          <a:p>
            <a:pPr lvl="1"/>
            <a:r>
              <a:rPr lang="en-US" sz="2200" dirty="0"/>
              <a:t>NGO programs</a:t>
            </a:r>
          </a:p>
          <a:p>
            <a:pPr lvl="1"/>
            <a:r>
              <a:rPr lang="en-US" sz="2200" dirty="0"/>
              <a:t>Extension delivery channels </a:t>
            </a:r>
          </a:p>
          <a:p>
            <a:r>
              <a:rPr lang="en-US" sz="2200" b="1" dirty="0"/>
              <a:t>Institutional anchoring</a:t>
            </a:r>
            <a:endParaRPr lang="en-US" sz="2200" dirty="0"/>
          </a:p>
          <a:p>
            <a:pPr lvl="1"/>
            <a:r>
              <a:rPr lang="en-US" sz="2200" dirty="0"/>
              <a:t>Institutionalization of the </a:t>
            </a:r>
            <a:r>
              <a:rPr lang="en-US" sz="2200" dirty="0" err="1"/>
              <a:t>Agvisely</a:t>
            </a:r>
            <a:r>
              <a:rPr lang="en-US" sz="2200" dirty="0"/>
              <a:t> services, especially in Govt. and non-govt organizations, </a:t>
            </a:r>
          </a:p>
          <a:p>
            <a:r>
              <a:rPr lang="en-US" sz="2200" b="1" dirty="0"/>
              <a:t>Evidence-driven expansion</a:t>
            </a:r>
            <a:endParaRPr lang="en-US" sz="2200" dirty="0"/>
          </a:p>
          <a:p>
            <a:pPr lvl="1"/>
            <a:r>
              <a:rPr lang="en-US" sz="2200" dirty="0"/>
              <a:t>Performance data feeds back into bundle refinement</a:t>
            </a:r>
          </a:p>
          <a:p>
            <a:pPr lvl="1"/>
            <a:r>
              <a:rPr lang="en-US" sz="2200" dirty="0"/>
              <a:t>Evidence supports bilateral investment and policy uptake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35540-7D01-6AC6-F190-3BC4ECC394C4}"/>
              </a:ext>
            </a:extLst>
          </p:cNvPr>
          <p:cNvSpPr txBox="1"/>
          <p:nvPr/>
        </p:nvSpPr>
        <p:spPr>
          <a:xfrm>
            <a:off x="8626929" y="1612816"/>
            <a:ext cx="25744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Increasing direct access for farmers to the </a:t>
            </a:r>
            <a:r>
              <a:rPr lang="en-US" dirty="0" err="1"/>
              <a:t>Agvisely</a:t>
            </a:r>
            <a:r>
              <a:rPr lang="en-US" dirty="0"/>
              <a:t> advisories . Farmers doesn’t have smart phones or data packages.   </a:t>
            </a:r>
          </a:p>
          <a:p>
            <a:endParaRPr lang="en-US" dirty="0"/>
          </a:p>
          <a:p>
            <a:r>
              <a:rPr lang="en-US" b="1" dirty="0"/>
              <a:t>AI text to voice for dynamic content and creating </a:t>
            </a:r>
            <a:r>
              <a:rPr lang="en-US" b="1" dirty="0" err="1"/>
              <a:t>Agvisely</a:t>
            </a:r>
            <a:r>
              <a:rPr lang="en-US" b="1" dirty="0"/>
              <a:t> voice assistant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591793-6D29-55E0-9FE8-9509703AC74C}"/>
              </a:ext>
            </a:extLst>
          </p:cNvPr>
          <p:cNvSpPr txBox="1"/>
          <p:nvPr/>
        </p:nvSpPr>
        <p:spPr>
          <a:xfrm>
            <a:off x="8626929" y="1175517"/>
            <a:ext cx="2748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Challenges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80319-68B5-C041-68FE-2200013DBFBE}"/>
              </a:ext>
            </a:extLst>
          </p:cNvPr>
          <p:cNvSpPr txBox="1"/>
          <p:nvPr/>
        </p:nvSpPr>
        <p:spPr>
          <a:xfrm>
            <a:off x="8670473" y="4736242"/>
            <a:ext cx="25744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Increasing quality of forecasts and hence advisories – Investment required</a:t>
            </a:r>
          </a:p>
          <a:p>
            <a:endParaRPr lang="en-US" dirty="0"/>
          </a:p>
          <a:p>
            <a:r>
              <a:rPr lang="en-US" dirty="0"/>
              <a:t>Use of sensors for water temperature is new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833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64530-D490-FCAE-FD16-4CE7A8C6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997AEDA-8CC9-5013-EDC7-636485EC77E7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ea typeface="+mj-lt"/>
                <a:cs typeface="+mj-lt"/>
              </a:rPr>
              <a:t>Scaling Pathway(s)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BD19BE3-19FC-D5A0-6420-DCEC849444BF}"/>
              </a:ext>
            </a:extLst>
          </p:cNvPr>
          <p:cNvSpPr txBox="1">
            <a:spLocks/>
          </p:cNvSpPr>
          <p:nvPr/>
        </p:nvSpPr>
        <p:spPr>
          <a:xfrm>
            <a:off x="344632" y="1222231"/>
            <a:ext cx="10898188" cy="8239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Theory of change statement</a:t>
            </a:r>
            <a:endParaRPr lang="en-US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BDECF6DD-5497-E362-5574-9C8631420014}"/>
              </a:ext>
            </a:extLst>
          </p:cNvPr>
          <p:cNvSpPr txBox="1">
            <a:spLocks/>
          </p:cNvSpPr>
          <p:nvPr/>
        </p:nvSpPr>
        <p:spPr>
          <a:xfrm>
            <a:off x="292679" y="1890279"/>
            <a:ext cx="11556278" cy="402438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By automating the translation of weather forecast and biological thresholds into stage-specific advisories as well as providing stage specific good agricultural/livestock/aquacultural practices and integrated pest/disease management advisories  and bundling them with finance, insurance, </a:t>
            </a:r>
            <a:r>
              <a:rPr lang="en-US" dirty="0" err="1"/>
              <a:t>agri</a:t>
            </a:r>
            <a:r>
              <a:rPr lang="en-US" dirty="0"/>
              <a:t>-tech, mechanization, and extension service intermediaries as well as ensuring direct access through a voice assistant, </a:t>
            </a:r>
            <a:r>
              <a:rPr lang="en-US" dirty="0" err="1"/>
              <a:t>Agvisely</a:t>
            </a:r>
            <a:r>
              <a:rPr lang="en-US" dirty="0"/>
              <a:t> enables millions of Bangladeshi farmers to take timely action, reduce climate and pests/disease risks, and sustainably increase productivity and income at scale.</a:t>
            </a:r>
          </a:p>
        </p:txBody>
      </p:sp>
    </p:spTree>
    <p:extLst>
      <p:ext uri="{BB962C8B-B14F-4D97-AF65-F5344CB8AC3E}">
        <p14:creationId xmlns:p14="http://schemas.microsoft.com/office/powerpoint/2010/main" val="139944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6D748-4A75-8AFA-53FF-211323C9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380CB6B-40DA-D79F-0E9A-4ADE34AD1781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Implementation Gannt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BA81F9-85B9-24FA-BFE6-514DA2119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69" y="2218625"/>
            <a:ext cx="12705445" cy="390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649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BB0B5-D8A4-7F5E-0408-897AD636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B2AC76D-E8AD-5723-2427-B77C4A66C2D8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Bilateral projects and </a:t>
            </a:r>
            <a:r>
              <a:rPr lang="en-US" sz="2800" err="1">
                <a:solidFill>
                  <a:schemeClr val="bg1"/>
                </a:solidFill>
              </a:rPr>
              <a:t>S4I</a:t>
            </a:r>
            <a:r>
              <a:rPr lang="en-US" sz="2800">
                <a:solidFill>
                  <a:schemeClr val="bg1"/>
                </a:solidFill>
              </a:rPr>
              <a:t> additionality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A7CEE2D-F44B-31A5-129C-4CC675044BAF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Bilateral description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06E22E-43C2-7AD0-D40C-0D65B52BF08D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 dirty="0"/>
              <a:t>CIMMYT – Aurora Project (upcoming)</a:t>
            </a:r>
          </a:p>
          <a:p>
            <a:r>
              <a:rPr lang="en-US" sz="2000" i="1" dirty="0"/>
              <a:t>                     Mechanization project</a:t>
            </a:r>
          </a:p>
          <a:p>
            <a:r>
              <a:rPr lang="en-US" sz="2000" i="1" dirty="0"/>
              <a:t>IRRI – Climate Smart Agriculture (DAE)</a:t>
            </a:r>
          </a:p>
          <a:p>
            <a:r>
              <a:rPr lang="en-US" sz="2000" i="1" dirty="0"/>
              <a:t>WF - V</a:t>
            </a:r>
            <a:r>
              <a:rPr lang="en-US" sz="2000" dirty="0"/>
              <a:t>alue added fish and fishery project (upcoming)</a:t>
            </a:r>
          </a:p>
          <a:p>
            <a:r>
              <a:rPr lang="en-US" sz="2000" dirty="0"/>
              <a:t>Sustainable animal and aquatic food  (SAAF)</a:t>
            </a:r>
          </a:p>
          <a:p>
            <a:endParaRPr lang="en-US" sz="2000" i="1" dirty="0"/>
          </a:p>
          <a:p>
            <a:endParaRPr lang="en-US" sz="2000" i="1" dirty="0"/>
          </a:p>
          <a:p>
            <a:endParaRPr lang="en-US" sz="2000" i="1" dirty="0"/>
          </a:p>
          <a:p>
            <a:endParaRPr lang="en-US" sz="2000" i="1" dirty="0"/>
          </a:p>
          <a:p>
            <a:endParaRPr lang="en-US" sz="2000" i="1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9554C5F-3D7C-9417-2E10-5BEA4615F20A}"/>
              </a:ext>
            </a:extLst>
          </p:cNvPr>
          <p:cNvSpPr txBox="1">
            <a:spLocks/>
          </p:cNvSpPr>
          <p:nvPr/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/>
              <a:t>S4I</a:t>
            </a:r>
            <a:r>
              <a:rPr lang="en-US" b="1"/>
              <a:t> additionality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EC09744-C3FB-2298-4052-F894AC025FAF}"/>
              </a:ext>
            </a:extLst>
          </p:cNvPr>
          <p:cNvSpPr txBox="1">
            <a:spLocks/>
          </p:cNvSpPr>
          <p:nvPr/>
        </p:nvSpPr>
        <p:spPr>
          <a:xfrm>
            <a:off x="6141131" y="2276475"/>
            <a:ext cx="5157787" cy="368458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 dirty="0"/>
              <a:t>S4I catalyzes the different scaling pathways that were not otherwise focused. </a:t>
            </a: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4062402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5C4C-5C0B-2A75-E12A-3744932AB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99002A4-E5F7-BDB9-E234-1BBFBF1E3C51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PRMS evidence and reference materials 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1EDDFF7-AB2C-D597-B331-77D83F2DFD8C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PRMS linkages*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CF02D37-341A-FD2B-B3C0-31FB6164B018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>
                <a:hlinkClick r:id="rId2"/>
              </a:rPr>
              <a:t>https://reporting.cgiar.org/reports/result-details/397</a:t>
            </a:r>
            <a:endParaRPr lang="en-US" sz="1600" i="1" dirty="0"/>
          </a:p>
          <a:p>
            <a:r>
              <a:rPr lang="en-US" sz="1600" i="1" dirty="0">
                <a:hlinkClick r:id="rId3"/>
              </a:rPr>
              <a:t>https://reporting.cgiar.org/reports/result-details/404</a:t>
            </a:r>
            <a:endParaRPr lang="en-US" sz="1600" i="1" dirty="0"/>
          </a:p>
          <a:p>
            <a:r>
              <a:rPr lang="en-US" sz="1600" i="1" dirty="0">
                <a:hlinkClick r:id="rId4"/>
              </a:rPr>
              <a:t>https://reporting.cgiar.org/reports/result-details/5194</a:t>
            </a:r>
            <a:endParaRPr lang="en-US" sz="1600" i="1" dirty="0"/>
          </a:p>
          <a:p>
            <a:r>
              <a:rPr lang="en-US" sz="1600" i="1" dirty="0">
                <a:hlinkClick r:id="rId5"/>
              </a:rPr>
              <a:t>https://reporting.cgiar.org/reports/result-details/5344</a:t>
            </a:r>
            <a:endParaRPr lang="en-US" sz="1600" i="1" dirty="0"/>
          </a:p>
          <a:p>
            <a:r>
              <a:rPr lang="en-US" sz="1600" i="1" dirty="0">
                <a:hlinkClick r:id="rId6"/>
              </a:rPr>
              <a:t>https://reporting.cgiar.org/reports/result-details/7011</a:t>
            </a:r>
            <a:endParaRPr lang="en-US" sz="1600" i="1" dirty="0"/>
          </a:p>
          <a:p>
            <a:r>
              <a:rPr lang="en-US" sz="1600" i="1" dirty="0">
                <a:hlinkClick r:id="rId7"/>
              </a:rPr>
              <a:t>https://reporting.cgiar.org/reports/result-details/7651</a:t>
            </a:r>
            <a:endParaRPr lang="en-US" sz="1600" i="1" dirty="0"/>
          </a:p>
          <a:p>
            <a:endParaRPr lang="en-US" sz="1600" i="1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A38957B-90DA-885B-D9A0-41893AC7FBB3}"/>
              </a:ext>
            </a:extLst>
          </p:cNvPr>
          <p:cNvSpPr txBox="1">
            <a:spLocks/>
          </p:cNvSpPr>
          <p:nvPr/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Other evidence and reference materials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EF57EE5-9B75-1534-A6AF-3DA6ED3E8A14}"/>
              </a:ext>
            </a:extLst>
          </p:cNvPr>
          <p:cNvSpPr txBox="1">
            <a:spLocks/>
          </p:cNvSpPr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i="1" dirty="0"/>
          </a:p>
          <a:p>
            <a:r>
              <a:rPr lang="en-US" sz="2000" i="1" dirty="0"/>
              <a:t>Other relevant evidences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595535-70DE-5F64-08A3-A78706439743}"/>
              </a:ext>
            </a:extLst>
          </p:cNvPr>
          <p:cNvSpPr txBox="1"/>
          <p:nvPr/>
        </p:nvSpPr>
        <p:spPr>
          <a:xfrm>
            <a:off x="836612" y="5727998"/>
            <a:ext cx="11110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* PRMS = CGIAR’s Performance and Results Management System where CGIAR tracks innovation development</a:t>
            </a:r>
            <a:br>
              <a:rPr lang="en-US"/>
            </a:br>
            <a:r>
              <a:rPr lang="en-US"/>
              <a:t>and innovation use (scaling) progress. Visit: </a:t>
            </a:r>
            <a:r>
              <a:rPr lang="en-US">
                <a:hlinkClick r:id="rId8"/>
              </a:rPr>
              <a:t>www.reporting.cgiar.org</a:t>
            </a:r>
            <a:r>
              <a:rPr lang="en-US"/>
              <a:t> or</a:t>
            </a:r>
            <a:br>
              <a:rPr lang="en-US"/>
            </a:br>
            <a:r>
              <a:rPr lang="en-US"/>
              <a:t> </a:t>
            </a:r>
            <a:r>
              <a:rPr lang="en-US">
                <a:hlinkClick r:id="rId9"/>
              </a:rPr>
              <a:t>https://www.cgiar.org/food-security-impact/new-results-dashboard/</a:t>
            </a:r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6513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A2AD-F262-5BA9-B34C-87719D3F8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171" y="2573658"/>
            <a:ext cx="10515600" cy="937363"/>
          </a:xfrm>
        </p:spPr>
        <p:txBody>
          <a:bodyPr>
            <a:normAutofit fontScale="90000"/>
          </a:bodyPr>
          <a:lstStyle/>
          <a:p>
            <a:r>
              <a:rPr lang="en-US" dirty="0"/>
              <a:t>Thanks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1D631-FA09-C64F-FF73-74DE2D5F2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971" y="3979108"/>
            <a:ext cx="10478386" cy="36663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Dr. T.S. </a:t>
            </a:r>
            <a:r>
              <a:rPr lang="en-US" sz="2000" dirty="0" err="1"/>
              <a:t>Amjath</a:t>
            </a:r>
            <a:r>
              <a:rPr lang="en-US" sz="2000" dirty="0"/>
              <a:t> Babu (CIMMYT)  (t.amjath@cgiar.org)</a:t>
            </a:r>
          </a:p>
          <a:p>
            <a:r>
              <a:rPr lang="en-US" sz="2000" dirty="0"/>
              <a:t>Dr. </a:t>
            </a:r>
            <a:r>
              <a:rPr lang="en-US" sz="2000" dirty="0" err="1"/>
              <a:t>Humnath</a:t>
            </a:r>
            <a:r>
              <a:rPr lang="en-US" sz="2000" dirty="0"/>
              <a:t> Bhandari (IRRI)  </a:t>
            </a:r>
          </a:p>
          <a:p>
            <a:r>
              <a:rPr lang="en-US" sz="2000" dirty="0"/>
              <a:t>Dr. Ahmad Salahuddin (IRRI)</a:t>
            </a:r>
          </a:p>
          <a:p>
            <a:r>
              <a:rPr lang="en-US" sz="2000" dirty="0"/>
              <a:t>Dr. Rumana </a:t>
            </a:r>
            <a:r>
              <a:rPr lang="en-US" sz="2000" dirty="0" err="1"/>
              <a:t>Peerzadi</a:t>
            </a:r>
            <a:r>
              <a:rPr lang="en-US" sz="2000" dirty="0"/>
              <a:t> Hossain (WorldFish)</a:t>
            </a:r>
          </a:p>
          <a:p>
            <a:r>
              <a:rPr lang="en-US" sz="2000" dirty="0"/>
              <a:t>Dr. Michelle </a:t>
            </a:r>
            <a:r>
              <a:rPr lang="en-US" sz="2000" dirty="0" err="1"/>
              <a:t>Tigchelaar</a:t>
            </a:r>
            <a:r>
              <a:rPr lang="en-US" sz="2000" dirty="0"/>
              <a:t> (WorldFish)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644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3101</TotalTime>
  <Words>1291</Words>
  <Application>Microsoft Office PowerPoint</Application>
  <PresentationFormat>Widescreen</PresentationFormat>
  <Paragraphs>267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Noto Sans Bold</vt:lpstr>
      <vt:lpstr>Office Theme</vt:lpstr>
      <vt:lpstr>1_Custom Design</vt:lpstr>
      <vt:lpstr>Custom Design</vt:lpstr>
      <vt:lpstr>PowerPoint Presentation</vt:lpstr>
      <vt:lpstr> Scaling Track Presentation Outline</vt:lpstr>
      <vt:lpstr> – Farming system level advisories</vt:lpstr>
      <vt:lpstr>Agvisely scaling plan</vt:lpstr>
      <vt:lpstr>Agvisely scaling plan</vt:lpstr>
      <vt:lpstr>Agvisely scaling plan by increasing value proposition</vt:lpstr>
      <vt:lpstr>Why adopt Agvisely?</vt:lpstr>
      <vt:lpstr>Targets - 2026</vt:lpstr>
      <vt:lpstr>Scaling and Demand Partners</vt:lpstr>
      <vt:lpstr>Partners</vt:lpstr>
      <vt:lpstr>Scaling strategy and challenges</vt:lpstr>
      <vt:lpstr>PowerPoint Presentation</vt:lpstr>
      <vt:lpstr>PowerPoint Presentation</vt:lpstr>
      <vt:lpstr>PowerPoint Presentation</vt:lpstr>
      <vt:lpstr>PowerPoint Presentation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S4I AoW2 Mid-Year Report 2025</dc:title>
  <dc:creator>RANA, Md. Masud (CIMMYT-Bangladesh)</dc:creator>
  <cp:lastModifiedBy>RANA, Md. Masud (CIMMYT-Bangladesh)</cp:lastModifiedBy>
  <cp:revision>43</cp:revision>
  <cp:lastPrinted>2025-07-21T06:09:53Z</cp:lastPrinted>
  <dcterms:created xsi:type="dcterms:W3CDTF">2025-07-15T06:10:02Z</dcterms:created>
  <dcterms:modified xsi:type="dcterms:W3CDTF">2026-01-28T12:33:48Z</dcterms:modified>
</cp:coreProperties>
</file>