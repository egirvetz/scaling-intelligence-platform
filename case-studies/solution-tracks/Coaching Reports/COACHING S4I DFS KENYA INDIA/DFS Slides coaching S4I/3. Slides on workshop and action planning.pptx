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9" r:id="rId6"/>
    <p:sldId id="271" r:id="rId7"/>
    <p:sldId id="264" r:id="rId8"/>
    <p:sldId id="267" r:id="rId9"/>
    <p:sldId id="268" r:id="rId10"/>
    <p:sldId id="272" r:id="rId11"/>
    <p:sldId id="273" r:id="rId12"/>
    <p:sldId id="274" r:id="rId13"/>
    <p:sldId id="275" r:id="rId14"/>
    <p:sldId id="276" r:id="rId15"/>
    <p:sldId id="266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080937-4735-F743-B934-631685F203D0}" name="Paulina Smith Ruiz" initials="PS" userId="693a6dc59c2944a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, Cheng (IFPRI)" initials="" lastIdx="1" clrIdx="0"/>
  <p:cmAuthor id="2" name="de Brauw, Alan (IFPRI)" initials="" lastIdx="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A99D17-00D8-17E0-0B70-864BF71603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61924-F9A8-D863-D58B-AD67DDB977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DCC7FDE-3C71-1148-99CF-EEAE2C40C06D}" type="datetimeFigureOut">
              <a:rPr lang="en-US"/>
              <a:pPr>
                <a:defRPr/>
              </a:pPr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356ED-783E-98EA-EBFA-21A8D554CF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48831-A11E-585D-D8C2-0040917264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3EB7F25-5CB6-FB4E-899E-1E8D487CE9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F5C341-220C-0CFC-42FF-8601F3CF44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E088D-A8B6-EADD-AAF1-2BAEED94C5A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768DBBCD-3EC0-6649-82B6-83E58CDA2187}" type="datetimeFigureOut">
              <a:rPr lang="en-US"/>
              <a:pPr>
                <a:defRPr/>
              </a:pPr>
              <a:t>6/15/2026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A9415E8-5E8B-6CF9-5A1E-1B5305405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F96327E-24CE-BAD2-7564-034102E10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9871-EBAB-4686-4362-6D2FBE658B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80A12-C4BB-8844-17D9-CF0B23477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8A56C39C-8A58-D04B-B8BF-2D1854782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FPRI Title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506E7890-0745-7F77-A780-8EEF8933D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1130300"/>
            <a:ext cx="7681913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endParaRPr lang="en-US" altLang="en-US" sz="4400">
              <a:solidFill>
                <a:srgbClr val="62BB46"/>
              </a:solidFill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3844B63D-F24E-35BB-D809-469498548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652463"/>
            <a:ext cx="3832225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 descr="A colorful flower with people in it&#10;&#10;Description automatically generated">
            <a:extLst>
              <a:ext uri="{FF2B5EF4-FFF2-40B4-BE49-F238E27FC236}">
                <a16:creationId xmlns:a16="http://schemas.microsoft.com/office/drawing/2014/main" id="{995DBB90-48B3-5A7A-A51E-009666704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06"/>
          <a:stretch>
            <a:fillRect/>
          </a:stretch>
        </p:blipFill>
        <p:spPr bwMode="auto">
          <a:xfrm>
            <a:off x="8769350" y="26988"/>
            <a:ext cx="3422650" cy="680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876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9F33E54-5D6A-139A-B049-1E34DC19D2CB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12192000" cy="838200"/>
            <a:chOff x="1" y="6019072"/>
            <a:chExt cx="12191999" cy="8389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17F3992-4FE6-10CB-223B-56AC16A5CE01}"/>
                </a:ext>
              </a:extLst>
            </p:cNvPr>
            <p:cNvSpPr/>
            <p:nvPr/>
          </p:nvSpPr>
          <p:spPr>
            <a:xfrm rot="5400000">
              <a:off x="5320362" y="1205565"/>
              <a:ext cx="332076" cy="10972799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62BB46"/>
                </a:solidFill>
              </a:endParaRPr>
            </a:p>
          </p:txBody>
        </p:sp>
        <p:pic>
          <p:nvPicPr>
            <p:cNvPr id="4" name="Picture 7" descr="A colorful flower with people in it&#10;&#10;Description automatically generated">
              <a:extLst>
                <a:ext uri="{FF2B5EF4-FFF2-40B4-BE49-F238E27FC236}">
                  <a16:creationId xmlns:a16="http://schemas.microsoft.com/office/drawing/2014/main" id="{1A4B4D6E-9ADE-D2AC-9AD4-3D1A80C3FC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9706"/>
            <a:stretch>
              <a:fillRect/>
            </a:stretch>
          </p:blipFill>
          <p:spPr bwMode="auto">
            <a:xfrm rot="5400000">
              <a:off x="11355529" y="6021530"/>
              <a:ext cx="838929" cy="83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83220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177F9B2A-25DC-1E77-40CE-778FB3DB3002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12192000" cy="838200"/>
            <a:chOff x="1" y="6019072"/>
            <a:chExt cx="12191999" cy="8389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AADBC4-1F6E-BD85-DD88-A36747454A9E}"/>
                </a:ext>
              </a:extLst>
            </p:cNvPr>
            <p:cNvSpPr/>
            <p:nvPr/>
          </p:nvSpPr>
          <p:spPr>
            <a:xfrm rot="5400000">
              <a:off x="5320362" y="1205565"/>
              <a:ext cx="332076" cy="10972799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62BB46"/>
                </a:solidFill>
              </a:endParaRPr>
            </a:p>
          </p:txBody>
        </p:sp>
        <p:pic>
          <p:nvPicPr>
            <p:cNvPr id="6" name="Picture 7" descr="A colorful flower with people in it&#10;&#10;Description automatically generated">
              <a:extLst>
                <a:ext uri="{FF2B5EF4-FFF2-40B4-BE49-F238E27FC236}">
                  <a16:creationId xmlns:a16="http://schemas.microsoft.com/office/drawing/2014/main" id="{247063F6-30DA-B353-2923-881B733F23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9706"/>
            <a:stretch>
              <a:fillRect/>
            </a:stretch>
          </p:blipFill>
          <p:spPr bwMode="auto">
            <a:xfrm rot="5400000">
              <a:off x="11355529" y="6021530"/>
              <a:ext cx="838929" cy="83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Font typeface="Courier New" charset="0"/>
              <a:buChar char="o"/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6464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8A983C0-F543-7A4A-F02B-BB395498CCEB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12192000" cy="838200"/>
            <a:chOff x="1" y="6019072"/>
            <a:chExt cx="12191999" cy="838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18044DF-F9F7-53EF-995D-1D21D20DD45F}"/>
                </a:ext>
              </a:extLst>
            </p:cNvPr>
            <p:cNvSpPr/>
            <p:nvPr/>
          </p:nvSpPr>
          <p:spPr>
            <a:xfrm rot="5400000">
              <a:off x="5320362" y="1205565"/>
              <a:ext cx="332076" cy="10972799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62BB46"/>
                </a:solidFill>
              </a:endParaRPr>
            </a:p>
          </p:txBody>
        </p:sp>
        <p:pic>
          <p:nvPicPr>
            <p:cNvPr id="7" name="Picture 7" descr="A colorful flower with people in it&#10;&#10;Description automatically generated">
              <a:extLst>
                <a:ext uri="{FF2B5EF4-FFF2-40B4-BE49-F238E27FC236}">
                  <a16:creationId xmlns:a16="http://schemas.microsoft.com/office/drawing/2014/main" id="{A8BC87D7-8F68-F6D4-F88D-C5695B1CA3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9706"/>
            <a:stretch>
              <a:fillRect/>
            </a:stretch>
          </p:blipFill>
          <p:spPr bwMode="auto">
            <a:xfrm rot="5400000">
              <a:off x="11355529" y="6021530"/>
              <a:ext cx="838929" cy="83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solidFill>
                  <a:srgbClr val="435464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51456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BF858A3-F937-1E95-2168-4946A83DD7BC}"/>
              </a:ext>
            </a:extLst>
          </p:cNvPr>
          <p:cNvGrpSpPr>
            <a:grpSpLocks/>
          </p:cNvGrpSpPr>
          <p:nvPr/>
        </p:nvGrpSpPr>
        <p:grpSpPr bwMode="auto">
          <a:xfrm>
            <a:off x="0" y="6019800"/>
            <a:ext cx="12192000" cy="838200"/>
            <a:chOff x="1" y="6019072"/>
            <a:chExt cx="12191999" cy="8389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0B23B7F-8373-75A7-9848-2C71181F6B57}"/>
                </a:ext>
              </a:extLst>
            </p:cNvPr>
            <p:cNvSpPr/>
            <p:nvPr/>
          </p:nvSpPr>
          <p:spPr>
            <a:xfrm rot="5400000">
              <a:off x="5320362" y="1205565"/>
              <a:ext cx="332076" cy="10972799"/>
            </a:xfrm>
            <a:prstGeom prst="rect">
              <a:avLst/>
            </a:prstGeom>
            <a:gradFill>
              <a:gsLst>
                <a:gs pos="0">
                  <a:srgbClr val="62BB46">
                    <a:alpha val="0"/>
                  </a:srgbClr>
                </a:gs>
                <a:gs pos="100000">
                  <a:srgbClr val="62BB46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62BB46"/>
                </a:solidFill>
              </a:endParaRPr>
            </a:p>
          </p:txBody>
        </p:sp>
        <p:pic>
          <p:nvPicPr>
            <p:cNvPr id="4" name="Picture 7" descr="A colorful flower with people in it&#10;&#10;Description automatically generated">
              <a:extLst>
                <a:ext uri="{FF2B5EF4-FFF2-40B4-BE49-F238E27FC236}">
                  <a16:creationId xmlns:a16="http://schemas.microsoft.com/office/drawing/2014/main" id="{0650D878-0C84-19B5-2392-1E3E979F29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9706"/>
            <a:stretch>
              <a:fillRect/>
            </a:stretch>
          </p:blipFill>
          <p:spPr bwMode="auto">
            <a:xfrm rot="5400000">
              <a:off x="11355529" y="6021530"/>
              <a:ext cx="838929" cy="83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4441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377126E-B131-A468-28FE-616C8880C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n-US"/>
              <a:t>Haz clic para modificar el estilo de título del patrón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FA7B127-76C6-B1DD-ED74-CC0524B5A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n-US"/>
              <a:t>Haga clic para modificar los estilos de texto del patrón</a:t>
            </a:r>
          </a:p>
          <a:p>
            <a:pPr lvl="1"/>
            <a:r>
              <a:rPr lang="es-MX" altLang="en-US"/>
              <a:t>Segundo nivel</a:t>
            </a:r>
          </a:p>
          <a:p>
            <a:pPr lvl="2"/>
            <a:r>
              <a:rPr lang="es-MX" altLang="en-US"/>
              <a:t>Tercer nivel</a:t>
            </a:r>
          </a:p>
          <a:p>
            <a:pPr lvl="3"/>
            <a:r>
              <a:rPr lang="es-MX" altLang="en-US"/>
              <a:t>Cuarto nivel</a:t>
            </a:r>
          </a:p>
          <a:p>
            <a:pPr lvl="4"/>
            <a:r>
              <a:rPr lang="es-MX" altLang="en-US"/>
              <a:t>Quinto nivel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435464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Wingdings" pitchFamily="2" charset="2"/>
        <a:buChar char="§"/>
        <a:defRPr sz="240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ourier New" panose="02070309020205020404" pitchFamily="49" charset="0"/>
        <a:buChar char="o"/>
        <a:defRPr sz="240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ourier New" panose="02070309020205020404" pitchFamily="49" charset="0"/>
        <a:buChar char="o"/>
        <a:defRPr sz="240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ourier New" panose="02070309020205020404" pitchFamily="49" charset="0"/>
        <a:buChar char="o"/>
        <a:defRPr sz="240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ourier New" panose="02070309020205020404" pitchFamily="49" charset="0"/>
        <a:buChar char="o"/>
        <a:defRPr sz="2400" kern="1200">
          <a:solidFill>
            <a:srgbClr val="435464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extBox 1">
            <a:extLst>
              <a:ext uri="{FF2B5EF4-FFF2-40B4-BE49-F238E27FC236}">
                <a16:creationId xmlns:a16="http://schemas.microsoft.com/office/drawing/2014/main" id="{E9F67DDA-9096-283F-B2EB-57A21BAF3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4" y="1991632"/>
            <a:ext cx="9066213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000" b="1" dirty="0">
                <a:solidFill>
                  <a:srgbClr val="62BB46"/>
                </a:solidFill>
              </a:rPr>
              <a:t>IPSR WORKSHOP KENYA: BOTTLENECKS AND SOLUTIONS TO MEET SCALING AMBITION</a:t>
            </a:r>
          </a:p>
          <a:p>
            <a:pPr eaLnBrk="1" hangingPunct="1"/>
            <a:endParaRPr lang="en-US" altLang="en-US" sz="4000" b="1" dirty="0">
              <a:solidFill>
                <a:srgbClr val="62BB46"/>
              </a:solidFill>
            </a:endParaRPr>
          </a:p>
        </p:txBody>
      </p:sp>
      <p:sp>
        <p:nvSpPr>
          <p:cNvPr id="9218" name="TextBox 2">
            <a:extLst>
              <a:ext uri="{FF2B5EF4-FFF2-40B4-BE49-F238E27FC236}">
                <a16:creationId xmlns:a16="http://schemas.microsoft.com/office/drawing/2014/main" id="{F0C97C62-A39B-F247-F6CB-1F9976D0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3946525"/>
            <a:ext cx="9066213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435464"/>
                </a:solidFill>
              </a:rPr>
              <a:t>Digital Financial Services for Smallholder Farmers in India and Kenya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23AA8-557D-16C0-35C7-82EE56262B81}"/>
              </a:ext>
            </a:extLst>
          </p:cNvPr>
          <p:cNvSpPr txBox="1"/>
          <p:nvPr/>
        </p:nvSpPr>
        <p:spPr>
          <a:xfrm>
            <a:off x="549275" y="5257800"/>
            <a:ext cx="7716838" cy="90328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Berber Kramer, PhD | Senior Research Fellow, IFPRI</a:t>
            </a: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Nairobi, Kenya | June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FBC0-83F5-B952-70A7-FA38C6B8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 descr="Africa con relleno sólido">
            <a:extLst>
              <a:ext uri="{FF2B5EF4-FFF2-40B4-BE49-F238E27FC236}">
                <a16:creationId xmlns:a16="http://schemas.microsoft.com/office/drawing/2014/main" id="{4B5CA27B-90E4-C73E-16CB-53E40F13E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60" y="3190539"/>
            <a:ext cx="3261360" cy="3261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14225-4482-985F-6646-8FAFB0030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 Ambition: Updated during IPSR workshop.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D269A-FDC3-2CB8-7859-1B6C0667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9939"/>
            <a:ext cx="10515600" cy="3555402"/>
          </a:xfrm>
        </p:spPr>
        <p:txBody>
          <a:bodyPr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00" i="1" dirty="0"/>
              <a:t>By 2028, CGIAR, ACRE Africa, </a:t>
            </a:r>
            <a:r>
              <a:rPr lang="en-US" sz="1900" i="1" dirty="0">
                <a:solidFill>
                  <a:schemeClr val="accent1"/>
                </a:solidFill>
              </a:rPr>
              <a:t>Dvara E-Registry </a:t>
            </a:r>
            <a:r>
              <a:rPr lang="en-US" sz="1900" i="1" dirty="0"/>
              <a:t>and partners will work with financial institutions, lenders, loan officers, and aggregators to scale bundled digital financial services combining localized climate and remote-sensing based risk scoring, digital credit, and picture-based crop insurance, reaching 50,000 smallholder farmers across food crop-producing areas in Kenya </a:t>
            </a:r>
            <a:r>
              <a:rPr lang="en-US" sz="1900" i="1" dirty="0">
                <a:solidFill>
                  <a:schemeClr val="accent1"/>
                </a:solidFill>
              </a:rPr>
              <a:t>and 50,000 in India </a:t>
            </a:r>
            <a:r>
              <a:rPr lang="en-US" sz="1900" i="1" dirty="0"/>
              <a:t>– including at least 50% women and 25% youth (&lt;35 years), and 5% marginalized (including, refugee populations, people with disabilities, widows in Kenya</a:t>
            </a:r>
            <a:r>
              <a:rPr lang="en-US" sz="1900" i="1" dirty="0">
                <a:solidFill>
                  <a:schemeClr val="accent1"/>
                </a:solidFill>
              </a:rPr>
              <a:t>; and scheduled caste / tribes in India</a:t>
            </a:r>
            <a:r>
              <a:rPr lang="en-US" sz="1900" i="1" dirty="0"/>
              <a:t>) - thereby expanding access to formal finance, enabling investment in climate-smart agriculture, and strengthening inclusive and sustainable lending systems. </a:t>
            </a:r>
            <a:r>
              <a:rPr lang="" sz="1900" dirty="0"/>
              <a:t> 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60047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4205E-A088-ED7F-1D52-759FD6B2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 descr="Upward trend con relleno sólido">
            <a:extLst>
              <a:ext uri="{FF2B5EF4-FFF2-40B4-BE49-F238E27FC236}">
                <a16:creationId xmlns:a16="http://schemas.microsoft.com/office/drawing/2014/main" id="{39B73194-A2EB-6454-1A28-96C3D2192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4360" y="844909"/>
            <a:ext cx="3129000" cy="31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D011BA-FF5C-85EE-C4EE-F7111590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20760" cy="1325563"/>
          </a:xfrm>
        </p:spPr>
        <p:txBody>
          <a:bodyPr/>
          <a:lstStyle/>
          <a:p>
            <a:r>
              <a:rPr lang="en-US" dirty="0"/>
              <a:t>Scaling Ambition: Discussion Points in Kenya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882DF-7D3D-C3FC-7769-3A8237AA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" y="2409409"/>
            <a:ext cx="10124440" cy="2962440"/>
          </a:xfrm>
        </p:spPr>
        <p:txBody>
          <a:bodyPr/>
          <a:lstStyle/>
          <a:p>
            <a:r>
              <a:rPr lang="en-US" dirty="0"/>
              <a:t>Targets for parametric vs picture-based insurance </a:t>
            </a:r>
            <a:r>
              <a:rPr lang="" dirty="0"/>
              <a:t> </a:t>
            </a:r>
          </a:p>
          <a:p>
            <a:r>
              <a:rPr lang="en-US" dirty="0"/>
              <a:t>Framing marginalized groups in terms of crops too</a:t>
            </a:r>
            <a:r>
              <a:rPr lang="" dirty="0"/>
              <a:t> </a:t>
            </a:r>
          </a:p>
          <a:p>
            <a:r>
              <a:rPr lang="en-US" dirty="0"/>
              <a:t>50,000 agreed upon – realistic but still ambitious</a:t>
            </a:r>
            <a:endParaRPr lang="" dirty="0"/>
          </a:p>
          <a:p>
            <a:r>
              <a:rPr lang="en-US" dirty="0"/>
              <a:t>Going beyond formal credit to meet 50% gender target </a:t>
            </a:r>
            <a:r>
              <a:rPr lang="" dirty="0"/>
              <a:t> 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59128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 descr="Route (Two Pins With A Path) con relleno sólido">
            <a:extLst>
              <a:ext uri="{FF2B5EF4-FFF2-40B4-BE49-F238E27FC236}">
                <a16:creationId xmlns:a16="http://schemas.microsoft.com/office/drawing/2014/main" id="{78EB2747-B64F-F95D-AD68-E33AFB917C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7200" y="2906395"/>
            <a:ext cx="3586480" cy="3586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83DDCE-0F7F-A6A5-E180-4CAB8524B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Bottlenecks to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C2B3E-6E73-B939-9ADF-30C86EBE8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400" y="1591945"/>
            <a:ext cx="10185400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200" dirty="0"/>
              <a:t>Use awareness, confidence and trust of the core solution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User access, availability and affordability of the core solution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Compatibility of the core solution with existing farming / market / policy systems or business models</a:t>
            </a:r>
            <a:endParaRPr lang="" sz="2200" dirty="0"/>
          </a:p>
          <a:p>
            <a:pPr>
              <a:lnSpc>
                <a:spcPct val="120000"/>
              </a:lnSpc>
            </a:pPr>
            <a:r>
              <a:rPr lang="en-US" sz="2200" dirty="0"/>
              <a:t>User capacity and knowhow to appropriately use the core solution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Gender equality and social inclusion related to scaling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Legal conditions and governance required to scale the core solution</a:t>
            </a:r>
          </a:p>
          <a:p>
            <a:pPr>
              <a:lnSpc>
                <a:spcPct val="120000"/>
              </a:lnSpc>
            </a:pPr>
            <a:r>
              <a:rPr lang="en-US" sz="2200" dirty="0"/>
              <a:t>Stakeholder coordination and scaling partnerships</a:t>
            </a:r>
          </a:p>
        </p:txBody>
      </p:sp>
    </p:spTree>
    <p:extLst>
      <p:ext uri="{BB962C8B-B14F-4D97-AF65-F5344CB8AC3E}">
        <p14:creationId xmlns:p14="http://schemas.microsoft.com/office/powerpoint/2010/main" val="80838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BE81-7E30-B7C7-7BFB-03A65E85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7649-2EAF-5141-999B-B949EA63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Identified to Adress the Key Bottlenecks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43AE8D8-A65C-13E4-5B77-9290890409AF}"/>
              </a:ext>
            </a:extLst>
          </p:cNvPr>
          <p:cNvSpPr/>
          <p:nvPr/>
        </p:nvSpPr>
        <p:spPr>
          <a:xfrm>
            <a:off x="1275080" y="1994219"/>
            <a:ext cx="1899920" cy="10220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Credit Guarantees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2CFF267-DC7A-FD74-23DB-4734AE2DBE4B}"/>
              </a:ext>
            </a:extLst>
          </p:cNvPr>
          <p:cNvSpPr/>
          <p:nvPr/>
        </p:nvSpPr>
        <p:spPr>
          <a:xfrm>
            <a:off x="5146040" y="1994219"/>
            <a:ext cx="1899920" cy="102203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Technical Steering Committee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0662713-F614-5110-10EB-455A917DFE52}"/>
              </a:ext>
            </a:extLst>
          </p:cNvPr>
          <p:cNvSpPr/>
          <p:nvPr/>
        </p:nvSpPr>
        <p:spPr>
          <a:xfrm>
            <a:off x="9017000" y="1994219"/>
            <a:ext cx="1899920" cy="10220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Gender and Social Inclusion Action Plan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C9059C8-E5DD-2032-8619-75A98631DF4F}"/>
              </a:ext>
            </a:extLst>
          </p:cNvPr>
          <p:cNvSpPr/>
          <p:nvPr/>
        </p:nvSpPr>
        <p:spPr>
          <a:xfrm>
            <a:off x="1275080" y="3794760"/>
            <a:ext cx="1899920" cy="118364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National Financial Inclusion Strategy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8486AC0-A64D-662F-21E1-CA52FCC62E5D}"/>
              </a:ext>
            </a:extLst>
          </p:cNvPr>
          <p:cNvSpPr/>
          <p:nvPr/>
        </p:nvSpPr>
        <p:spPr>
          <a:xfrm>
            <a:off x="5146040" y="3794760"/>
            <a:ext cx="1899920" cy="11836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 Awareness and Capacity-Building 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491067B-2F90-A595-B2D2-CA1F8D4C0AFF}"/>
              </a:ext>
            </a:extLst>
          </p:cNvPr>
          <p:cNvSpPr/>
          <p:nvPr/>
        </p:nvSpPr>
        <p:spPr>
          <a:xfrm>
            <a:off x="9017000" y="3794760"/>
            <a:ext cx="1899920" cy="118364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Localized Aggregation Model</a:t>
            </a:r>
          </a:p>
        </p:txBody>
      </p:sp>
      <p:sp>
        <p:nvSpPr>
          <p:cNvPr id="5" name="Rectángulo: esquinas redondeadas 7">
            <a:extLst>
              <a:ext uri="{FF2B5EF4-FFF2-40B4-BE49-F238E27FC236}">
                <a16:creationId xmlns:a16="http://schemas.microsoft.com/office/drawing/2014/main" id="{EF5CABEB-DFFF-F0E1-1089-03AD798618B7}"/>
              </a:ext>
            </a:extLst>
          </p:cNvPr>
          <p:cNvSpPr/>
          <p:nvPr/>
        </p:nvSpPr>
        <p:spPr>
          <a:xfrm>
            <a:off x="5146040" y="5329089"/>
            <a:ext cx="1899920" cy="102203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Strengthening the core, evidence base</a:t>
            </a:r>
          </a:p>
        </p:txBody>
      </p:sp>
    </p:spTree>
    <p:extLst>
      <p:ext uri="{BB962C8B-B14F-4D97-AF65-F5344CB8AC3E}">
        <p14:creationId xmlns:p14="http://schemas.microsoft.com/office/powerpoint/2010/main" val="167200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38EB-C364-0738-60BC-EA73D8ECF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CD61-0536-9AB7-6620-8BBAE054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Plans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741C0-D5A9-E1CC-A671-AC00FEC2D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606"/>
            <a:ext cx="10515600" cy="31823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Bottleneck: </a:t>
            </a:r>
            <a:r>
              <a:rPr lang="en-US" dirty="0"/>
              <a:t>High cost of credit, need to provide affordable products.</a:t>
            </a:r>
          </a:p>
          <a:p>
            <a:pPr>
              <a:lnSpc>
                <a:spcPct val="120000"/>
              </a:lnSpc>
            </a:pPr>
            <a:r>
              <a:rPr lang="en-US" dirty="0"/>
              <a:t>Map out credit guarantee providers and other stakeholders. </a:t>
            </a:r>
          </a:p>
          <a:p>
            <a:pPr>
              <a:lnSpc>
                <a:spcPct val="120000"/>
              </a:lnSpc>
            </a:pPr>
            <a:r>
              <a:rPr lang="en-US" dirty="0"/>
              <a:t>Onboard at least 2 credit guarantees institutions and initiate discussions with at least one financial institution. </a:t>
            </a:r>
          </a:p>
          <a:p>
            <a:pPr>
              <a:lnSpc>
                <a:spcPct val="120000"/>
              </a:lnSpc>
            </a:pPr>
            <a:r>
              <a:rPr lang="en-US" dirty="0"/>
              <a:t>Ensure that insurance policies and credit guarantees are complementary (negotiate lower fees for credit guarantees conditional on insurance cover) </a:t>
            </a:r>
          </a:p>
          <a:p>
            <a:pPr>
              <a:lnSpc>
                <a:spcPct val="120000"/>
              </a:lnSpc>
            </a:pPr>
            <a:r>
              <a:rPr lang="en-US" dirty="0"/>
              <a:t>Develop complementary features in TARA to show linkages with FIs to partner with.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8F67EFD-18A6-2AD7-DA78-966DA4526908}"/>
              </a:ext>
            </a:extLst>
          </p:cNvPr>
          <p:cNvSpPr/>
          <p:nvPr/>
        </p:nvSpPr>
        <p:spPr>
          <a:xfrm>
            <a:off x="838200" y="1445579"/>
            <a:ext cx="6480000" cy="432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Credit Guarantees</a:t>
            </a:r>
          </a:p>
        </p:txBody>
      </p:sp>
    </p:spTree>
    <p:extLst>
      <p:ext uri="{BB962C8B-B14F-4D97-AF65-F5344CB8AC3E}">
        <p14:creationId xmlns:p14="http://schemas.microsoft.com/office/powerpoint/2010/main" val="84476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16CDF-7ADF-D042-F986-8167719E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9254-A2F0-4B26-7D37-984295DC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Plans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D1F48-F07E-B141-9579-B3672DE3C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23247"/>
            <a:ext cx="10635343" cy="373019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GB" b="1" dirty="0"/>
              <a:t>Bottleneck:</a:t>
            </a:r>
            <a:r>
              <a:rPr lang="en-GB" dirty="0"/>
              <a:t> Limited feedback mechanisms and lack of continuous improvement</a:t>
            </a:r>
          </a:p>
          <a:p>
            <a:pPr>
              <a:lnSpc>
                <a:spcPct val="120000"/>
              </a:lnSpc>
            </a:pPr>
            <a:r>
              <a:rPr lang="en-GB" dirty="0"/>
              <a:t>Conduct a stakeholder identification and mapping (leveraging IPSR workshop), identify and engage core group as well as other stakeholders.</a:t>
            </a:r>
          </a:p>
          <a:p>
            <a:pPr>
              <a:lnSpc>
                <a:spcPct val="120000"/>
              </a:lnSpc>
            </a:pPr>
            <a:r>
              <a:rPr lang="en-GB" dirty="0"/>
              <a:t>Define the scope, focal points with their roles, and internal governance. Address key frictions, monitoring, coordination, gender, supply and demand sides.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5175CAA-EE12-7BA6-4289-D237CCF2C314}"/>
              </a:ext>
            </a:extLst>
          </p:cNvPr>
          <p:cNvSpPr/>
          <p:nvPr/>
        </p:nvSpPr>
        <p:spPr>
          <a:xfrm>
            <a:off x="838200" y="1447023"/>
            <a:ext cx="6480000" cy="43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Technical Steering Committee</a:t>
            </a:r>
          </a:p>
        </p:txBody>
      </p:sp>
    </p:spTree>
    <p:extLst>
      <p:ext uri="{BB962C8B-B14F-4D97-AF65-F5344CB8AC3E}">
        <p14:creationId xmlns:p14="http://schemas.microsoft.com/office/powerpoint/2010/main" val="414816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4EBF-531C-8CEB-1CEF-31FDF1C1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FE37-7CEE-8D2D-654D-32E974C9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Plans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6F42-C8D4-0AC0-240B-0F373C04E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7845"/>
            <a:ext cx="10515600" cy="345408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Bottleneck:</a:t>
            </a:r>
            <a:r>
              <a:rPr lang="en-US" dirty="0"/>
              <a:t> Gender and Social Inclusion</a:t>
            </a:r>
          </a:p>
          <a:p>
            <a:pPr>
              <a:lnSpc>
                <a:spcPct val="120000"/>
              </a:lnSpc>
            </a:pPr>
            <a:r>
              <a:rPr lang="en-US" dirty="0"/>
              <a:t>Rather than developing a gender-responsive product in the workshop, the proposal was to evaluate current research and frameworks on the topic, both from CGIAR and other institutions.</a:t>
            </a:r>
          </a:p>
          <a:p>
            <a:pPr>
              <a:lnSpc>
                <a:spcPct val="120000"/>
              </a:lnSpc>
            </a:pPr>
            <a:r>
              <a:rPr lang="en-US" dirty="0"/>
              <a:t>Conceptualize a work plan that mainstreams GESI aspects into each solution.</a:t>
            </a:r>
          </a:p>
          <a:p>
            <a:pPr>
              <a:lnSpc>
                <a:spcPct val="120000"/>
              </a:lnSpc>
            </a:pPr>
            <a:r>
              <a:rPr lang="en-US" dirty="0"/>
              <a:t>Determine an inclusion focal point that will participate in the technical steering committee.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3729B99-84AC-E6F7-180A-FCBF3A5A3D5C}"/>
              </a:ext>
            </a:extLst>
          </p:cNvPr>
          <p:cNvSpPr/>
          <p:nvPr/>
        </p:nvSpPr>
        <p:spPr>
          <a:xfrm>
            <a:off x="838200" y="1592266"/>
            <a:ext cx="6480000" cy="432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Gender and Social Inclusion Action Plan</a:t>
            </a:r>
          </a:p>
        </p:txBody>
      </p:sp>
    </p:spTree>
    <p:extLst>
      <p:ext uri="{BB962C8B-B14F-4D97-AF65-F5344CB8AC3E}">
        <p14:creationId xmlns:p14="http://schemas.microsoft.com/office/powerpoint/2010/main" val="3219758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9C14-D277-20DA-3953-F45B69B8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5A9D9-CE98-D117-F499-DCB9576B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Plans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3AF4B-09ED-A41B-D997-97075D9F4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880" y="1951614"/>
            <a:ext cx="10515600" cy="444022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GB" b="1" dirty="0"/>
              <a:t>Bottleneck:</a:t>
            </a:r>
            <a:r>
              <a:rPr lang="en-GB" dirty="0"/>
              <a:t> Governance, legal and policy issues</a:t>
            </a:r>
          </a:p>
          <a:p>
            <a:pPr>
              <a:lnSpc>
                <a:spcPct val="120000"/>
              </a:lnSpc>
            </a:pPr>
            <a:r>
              <a:rPr lang="en-GB" dirty="0"/>
              <a:t>CGIAR to support a working group including National Treasury, Central Bank of Kenya, Ministry of Agriculture, Micro Finance Institutions, etc.</a:t>
            </a:r>
          </a:p>
          <a:p>
            <a:pPr>
              <a:lnSpc>
                <a:spcPct val="120000"/>
              </a:lnSpc>
            </a:pPr>
            <a:r>
              <a:rPr lang="en-GB" dirty="0"/>
              <a:t>Regulation to encourage </a:t>
            </a:r>
            <a:r>
              <a:rPr lang="en-GB" b="1" dirty="0"/>
              <a:t>bundling</a:t>
            </a:r>
            <a:r>
              <a:rPr lang="en-GB" dirty="0"/>
              <a:t> credit with insurance; payouts to match </a:t>
            </a:r>
            <a:r>
              <a:rPr lang="en-GB" b="1" dirty="0"/>
              <a:t>repayment schedules</a:t>
            </a:r>
            <a:r>
              <a:rPr lang="en-GB" dirty="0"/>
              <a:t>; link with public sector </a:t>
            </a:r>
            <a:r>
              <a:rPr lang="en-GB" b="1" dirty="0"/>
              <a:t>credit guarantees</a:t>
            </a:r>
            <a:r>
              <a:rPr lang="en-GB" dirty="0"/>
              <a:t>; widen use of </a:t>
            </a:r>
            <a:r>
              <a:rPr lang="en-GB" b="1" dirty="0"/>
              <a:t>insurance subsidy </a:t>
            </a:r>
            <a:r>
              <a:rPr lang="en-GB" dirty="0"/>
              <a:t>scheme beyond area yield, include MFIs as distributors; and facilitate the use of </a:t>
            </a:r>
            <a:r>
              <a:rPr lang="en-GB" b="1" dirty="0"/>
              <a:t>crop as collateral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GB" dirty="0"/>
              <a:t>For the </a:t>
            </a:r>
            <a:r>
              <a:rPr lang="en-GB" b="1" dirty="0"/>
              <a:t>core solution</a:t>
            </a:r>
            <a:r>
              <a:rPr lang="en-GB" dirty="0"/>
              <a:t>: Understand how climate affects loan repayment over time and use TARA monitoring to leverage crops as collateral.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1AA7D52-9CF7-167D-07D1-CBF470329E16}"/>
              </a:ext>
            </a:extLst>
          </p:cNvPr>
          <p:cNvSpPr/>
          <p:nvPr/>
        </p:nvSpPr>
        <p:spPr>
          <a:xfrm>
            <a:off x="817880" y="1389151"/>
            <a:ext cx="6480000" cy="4320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National Financial Inclusion Strategy</a:t>
            </a:r>
          </a:p>
        </p:txBody>
      </p:sp>
    </p:spTree>
    <p:extLst>
      <p:ext uri="{BB962C8B-B14F-4D97-AF65-F5344CB8AC3E}">
        <p14:creationId xmlns:p14="http://schemas.microsoft.com/office/powerpoint/2010/main" val="56023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8C9A1-999D-F20B-5530-C61C07A1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B979-BC69-E6E8-7EE4-1C4A0085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Plans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ACA69-2545-46FD-B503-C044995E9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2238102"/>
            <a:ext cx="10515600" cy="345408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Bottleneck:</a:t>
            </a:r>
            <a:r>
              <a:rPr lang="en-US" dirty="0"/>
              <a:t> Limited understanding of the value proposition</a:t>
            </a:r>
          </a:p>
          <a:p>
            <a:pPr>
              <a:lnSpc>
                <a:spcPct val="120000"/>
              </a:lnSpc>
            </a:pPr>
            <a:r>
              <a:rPr lang="en-US" dirty="0"/>
              <a:t>Financial and insurance literacy programs, targeting in particular smallholder farmers and loan officers, including GESI considerations.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Develop a market strategy with a clear value proposition.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Determine who to involve, how to get to them, and training materials.  Including clear mechanisms and targets.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Develop demo programs. 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2F00E31-A88E-315C-AA06-303098A6B1E4}"/>
              </a:ext>
            </a:extLst>
          </p:cNvPr>
          <p:cNvSpPr/>
          <p:nvPr/>
        </p:nvSpPr>
        <p:spPr>
          <a:xfrm>
            <a:off x="828040" y="1452303"/>
            <a:ext cx="6480000" cy="432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 Awareness and Capacity-Building </a:t>
            </a:r>
          </a:p>
        </p:txBody>
      </p:sp>
    </p:spTree>
    <p:extLst>
      <p:ext uri="{BB962C8B-B14F-4D97-AF65-F5344CB8AC3E}">
        <p14:creationId xmlns:p14="http://schemas.microsoft.com/office/powerpoint/2010/main" val="956153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07C3-D6A1-3EB0-F067-AB19B0F9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7DCD-728D-64CE-9A9D-4E6BCA706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Plans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C827-6F7B-2F4A-C782-D806D2F0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951614"/>
            <a:ext cx="10515600" cy="345408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Bottleneck:</a:t>
            </a:r>
            <a:r>
              <a:rPr lang="en-US" dirty="0"/>
              <a:t> Limited access to quality inputs and markets constrains farmers’ return on investment.</a:t>
            </a:r>
          </a:p>
          <a:p>
            <a:pPr>
              <a:lnSpc>
                <a:spcPct val="120000"/>
              </a:lnSpc>
            </a:pPr>
            <a:r>
              <a:rPr lang="en-US" dirty="0"/>
              <a:t>Expand TARA’s capability to include an aggregation channel, in collaboration (assess portfolio risk and provide meso-level insurance)</a:t>
            </a:r>
          </a:p>
          <a:p>
            <a:pPr>
              <a:lnSpc>
                <a:spcPct val="120000"/>
              </a:lnSpc>
            </a:pPr>
            <a:r>
              <a:rPr lang="en-GB" dirty="0"/>
              <a:t>Conversations to at least two partners to adopt the expanded TARA model, e.g. linking with </a:t>
            </a:r>
            <a:r>
              <a:rPr lang="en-GB" dirty="0" err="1"/>
              <a:t>offtakers</a:t>
            </a:r>
            <a:r>
              <a:rPr lang="en-GB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Develop a case study on </a:t>
            </a:r>
            <a:r>
              <a:rPr lang="en-GB" dirty="0"/>
              <a:t>TARA’s aggregation model approach for documentation.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A34E7E0-DA0D-A57D-1764-48A1D0350AE5}"/>
              </a:ext>
            </a:extLst>
          </p:cNvPr>
          <p:cNvSpPr/>
          <p:nvPr/>
        </p:nvSpPr>
        <p:spPr>
          <a:xfrm>
            <a:off x="828040" y="1389151"/>
            <a:ext cx="6480000" cy="432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Localized Aggregation Model</a:t>
            </a:r>
          </a:p>
        </p:txBody>
      </p:sp>
    </p:spTree>
    <p:extLst>
      <p:ext uri="{BB962C8B-B14F-4D97-AF65-F5344CB8AC3E}">
        <p14:creationId xmlns:p14="http://schemas.microsoft.com/office/powerpoint/2010/main" val="1813201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DD6903C7-5C40-AA86-202D-22A7F3600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1527175"/>
            <a:ext cx="9066213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000" b="1" dirty="0">
                <a:solidFill>
                  <a:srgbClr val="62BB46"/>
                </a:solidFill>
              </a:rPr>
              <a:t>COMMENTS OR QUESTIONS?</a:t>
            </a:r>
          </a:p>
          <a:p>
            <a:pPr eaLnBrk="1" hangingPunct="1"/>
            <a:endParaRPr lang="en-US" altLang="en-US" sz="4000" b="1" dirty="0">
              <a:solidFill>
                <a:srgbClr val="62BB46"/>
              </a:solidFill>
            </a:endParaRPr>
          </a:p>
        </p:txBody>
      </p:sp>
      <p:pic>
        <p:nvPicPr>
          <p:cNvPr id="5" name="Imagen 4" descr="Person with idea concept">
            <a:extLst>
              <a:ext uri="{FF2B5EF4-FFF2-40B4-BE49-F238E27FC236}">
                <a16:creationId xmlns:a16="http://schemas.microsoft.com/office/drawing/2014/main" id="{6445F47D-72CA-9449-A592-D01900B3A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240" y="2947035"/>
            <a:ext cx="4033520" cy="26890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16AF13-90AE-7AEE-753D-4346EF3777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665"/>
          <a:stretch>
            <a:fillRect/>
          </a:stretch>
        </p:blipFill>
        <p:spPr>
          <a:xfrm>
            <a:off x="9138193" y="253335"/>
            <a:ext cx="2738847" cy="114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82804"/>
      </p:ext>
    </p:extLst>
  </p:cSld>
  <p:clrMapOvr>
    <a:masterClrMapping/>
  </p:clrMapOvr>
</p:sld>
</file>

<file path=ppt/theme/theme1.xml><?xml version="1.0" encoding="utf-8"?>
<a:theme xmlns:a="http://schemas.openxmlformats.org/drawingml/2006/main" name="IFPRI 2017">
  <a:themeElements>
    <a:clrScheme name="IFPRI Color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2BA45"/>
      </a:accent1>
      <a:accent2>
        <a:srgbClr val="00AE9A"/>
      </a:accent2>
      <a:accent3>
        <a:srgbClr val="EF463B"/>
      </a:accent3>
      <a:accent4>
        <a:srgbClr val="F7921E"/>
      </a:accent4>
      <a:accent5>
        <a:srgbClr val="8850A0"/>
      </a:accent5>
      <a:accent6>
        <a:srgbClr val="007DB3"/>
      </a:accent6>
      <a:hlink>
        <a:srgbClr val="3C5567"/>
      </a:hlink>
      <a:folHlink>
        <a:srgbClr val="95C94F"/>
      </a:folHlink>
    </a:clrScheme>
    <a:fontScheme name="IFPRI 201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Autofit/>
      </a:bodyPr>
      <a:lstStyle>
        <a:defPPr algn="r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IFPRI_2025_Light_2.24.25" id="{89BAABAC-26A8-1042-96AB-BEC4527B4AEA}" vid="{0C450747-99AF-5240-B849-40FF58D07C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40d6c8f-0257-4dbc-8b38-87f6342cb05f" xsi:nil="true"/>
    <lcf76f155ced4ddcb4097134ff3c332f xmlns="2fed0d51-3823-4547-8ace-ae345831a2a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A2A8E4BF80EB4B96A6C7C61F70E328" ma:contentTypeVersion="12" ma:contentTypeDescription="Create a new document." ma:contentTypeScope="" ma:versionID="30f2ed3d5a176bb632ff9b77a019b27a">
  <xsd:schema xmlns:xsd="http://www.w3.org/2001/XMLSchema" xmlns:xs="http://www.w3.org/2001/XMLSchema" xmlns:p="http://schemas.microsoft.com/office/2006/metadata/properties" xmlns:ns2="2fed0d51-3823-4547-8ace-ae345831a2a6" xmlns:ns3="940d6c8f-0257-4dbc-8b38-87f6342cb05f" targetNamespace="http://schemas.microsoft.com/office/2006/metadata/properties" ma:root="true" ma:fieldsID="320dd367f84c9fb1ace1875d11d773db" ns2:_="" ns3:_="">
    <xsd:import namespace="2fed0d51-3823-4547-8ace-ae345831a2a6"/>
    <xsd:import namespace="940d6c8f-0257-4dbc-8b38-87f6342cb0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d0d51-3823-4547-8ace-ae345831a2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616629-9183-4d38-9e3a-f9db27d53a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d6c8f-0257-4dbc-8b38-87f6342cb0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6336e77-64c5-449a-a32f-8fc14182430a}" ma:internalName="TaxCatchAll" ma:showField="CatchAllData" ma:web="940d6c8f-0257-4dbc-8b38-87f6342cb0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3554A7-4E97-4A05-8DC3-288154C7B6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16F6CA-B6CC-4273-8A4C-C64AAC5E3252}">
  <ds:schemaRefs>
    <ds:schemaRef ds:uri="http://schemas.microsoft.com/office/2006/metadata/properties"/>
    <ds:schemaRef ds:uri="http://schemas.microsoft.com/office/infopath/2007/PartnerControls"/>
    <ds:schemaRef ds:uri="cc614aa8-0f7f-444d-9b27-c2636ddf68e4"/>
    <ds:schemaRef ds:uri="940d6c8f-0257-4dbc-8b38-87f6342cb05f"/>
    <ds:schemaRef ds:uri="2fed0d51-3823-4547-8ace-ae345831a2a6"/>
  </ds:schemaRefs>
</ds:datastoreItem>
</file>

<file path=customXml/itemProps3.xml><?xml version="1.0" encoding="utf-8"?>
<ds:datastoreItem xmlns:ds="http://schemas.openxmlformats.org/officeDocument/2006/customXml" ds:itemID="{8A25DFC3-4DFF-438F-8294-3C39AF4483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ed0d51-3823-4547-8ace-ae345831a2a6"/>
    <ds:schemaRef ds:uri="940d6c8f-0257-4dbc-8b38-87f6342cb0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S4I coaching sessions - bottlenecks to scaling and solutions</Template>
  <TotalTime>64</TotalTime>
  <Words>793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IFPRI 2017</vt:lpstr>
      <vt:lpstr>PowerPoint Presentation</vt:lpstr>
      <vt:lpstr>Scaling Ambition: Updated during IPSR workshop.</vt:lpstr>
      <vt:lpstr>Scaling Ambition: Discussion Points in Kenya</vt:lpstr>
      <vt:lpstr>Key Bottlenecks to Scaling</vt:lpstr>
      <vt:lpstr>Solutions Identified to Adress the Key Bottlenecks</vt:lpstr>
      <vt:lpstr>Action Plans Developed</vt:lpstr>
      <vt:lpstr>Action Plans Developed</vt:lpstr>
      <vt:lpstr>Action Plans Developed</vt:lpstr>
      <vt:lpstr>Action Plans Developed</vt:lpstr>
      <vt:lpstr>Action Plans Developed</vt:lpstr>
      <vt:lpstr>Action Plans Developed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Paulina Smith Ruiz</dc:creator>
  <cp:lastModifiedBy>Kramer, Berber (IFPRI-Kenya)</cp:lastModifiedBy>
  <cp:revision>9</cp:revision>
  <dcterms:created xsi:type="dcterms:W3CDTF">2026-06-14T11:07:20Z</dcterms:created>
  <dcterms:modified xsi:type="dcterms:W3CDTF">2026-06-15T08:46:04Z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0x0101007AA2A8E4BF80EB4B96A6C7C61F70E328</vt:lpwstr>
  </property>
  <property fmtid="{D5CDD505-2E9C-101B-9397-08002B2CF9AE}" pid="3" name="format">
    <vt:lpwstr>rgb</vt:lpwstr>
  </property>
  <property fmtid="{D5CDD505-2E9C-101B-9397-08002B2CF9AE}" pid="4" name="color">
    <vt:lpwstr>black</vt:lpwstr>
  </property>
</Properties>
</file>