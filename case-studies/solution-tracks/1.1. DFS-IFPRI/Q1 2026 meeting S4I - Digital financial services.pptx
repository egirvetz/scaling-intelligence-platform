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60" r:id="rId3"/>
  </p:sldMasterIdLst>
  <p:notesMasterIdLst>
    <p:notesMasterId r:id="rId15"/>
  </p:notesMasterIdLst>
  <p:handoutMasterIdLst>
    <p:handoutMasterId r:id="rId16"/>
  </p:handoutMasterIdLst>
  <p:sldIdLst>
    <p:sldId id="256" r:id="rId4"/>
    <p:sldId id="2147475495" r:id="rId5"/>
    <p:sldId id="2147475496" r:id="rId6"/>
    <p:sldId id="2147475489" r:id="rId7"/>
    <p:sldId id="2147475493" r:id="rId8"/>
    <p:sldId id="2147475485" r:id="rId9"/>
    <p:sldId id="2147475486" r:id="rId10"/>
    <p:sldId id="2147475491" r:id="rId11"/>
    <p:sldId id="2147475494" r:id="rId12"/>
    <p:sldId id="2147475492" r:id="rId13"/>
    <p:sldId id="2147475497" r:id="rId1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F2E5E0F-49E5-8F12-C4A4-F73698175BDC}" name="Rice, Brendan (IFPRI-Italy)" initials="BR" userId="S::B.RICE@cgiar.org::d27cf286-7786-426b-8970-21663004259a" providerId="AD"/>
  <p188:author id="{358F9117-8D9A-EC00-E4EB-9B7477660C43}" name="KRUPNIK, Timothy Joseph (CIMMYT-Bangladesh)" initials="" userId="S::t.krupnik@cgiar.org::66a9580e-a7fc-4d2d-99e3-c6757b26337b" providerId="AD"/>
  <p188:author id="{9AE3E736-9C0F-7594-B597-EC19E5A58118}" name="Rice, Brendan (IFPRI-Italy)" initials="RB" userId="S::b.rice@cgiar.org::d27cf286-7786-426b-8970-21663004259a" providerId="AD"/>
  <p188:author id="{7F465343-947B-007E-6475-F8CE8974B6A4}" name="Girvetz, Evan (Alliance Bioversity-CIAT)" initials="GE(BC" userId="S::e.girvetz@cgiar.org::134deccc-b0f9-4a34-9036-937f79342107" providerId="AD"/>
  <p188:author id="{DDC10850-7D6F-677C-1D47-9B83028562A5}" name="Jacobs-Mata, Inga (IWMI)" initials="" userId="S::i.jacobs-mata@cgiar.org::9de18fd2-cbd7-4683-941f-749267bc2bfc" providerId="AD"/>
  <p188:author id="{74E8B856-FC0C-3BF0-55B8-08BF7BE5B3CC}" name="RANA, Md. Masud (CIMMYT-Bangladesh)" initials="" userId="S::MASUD.RANA@cgiar.org::1cb892da-30d3-41cf-ba3c-8e2eb59190ef" providerId="AD"/>
  <p188:author id="{2032D083-9EFA-BF1E-1676-7057796111F8}" name="Hanke-Louw, Nora (IWMI)" initials="HN" userId="S::n.hanke-louw@cgiar.org::16eface5-bfbf-4414-a40a-714a09057f4d" providerId="AD"/>
  <p188:author id="{FF0CFA88-CAE4-0F24-8A1A-BCF54DFFC25E}" name="Kramer, Berber (IFPRI-Kenya)" initials="KB" userId="S::b.kramer@cgiar.org::c30f419b-d72e-41fd-9f72-8c4a1c153bb4" providerId="AD"/>
  <p188:author id="{45B91EEB-7CF7-68B2-C5EC-65FF85FFFE80}" name="ISLAM, AKM Saiful (CIMMYT-Bangladesh)" initials="" userId="S::A.S.ISLAM@cgiar.org::663ad5ab-c617-4ce5-83a7-c8e06aa4911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A4B1"/>
    <a:srgbClr val="C2B2C0"/>
    <a:srgbClr val="C8B7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41C3A1-AD69-BD86-8A68-AE930CBC6DBA}" v="2102" dt="2026-01-10T08:46:34.901"/>
    <p1510:client id="{1DDDF2C3-00B3-4683-AE32-7583D9A3DB02}" v="93" dt="2026-01-09T16:12:28.712"/>
    <p1510:client id="{6BC1C7C5-0D63-4287-ADEE-82CDEB6CFD4B}" v="137" dt="2026-01-09T12:07:46.590"/>
    <p1510:client id="{76BEE7A2-B7CF-44AF-BFCD-209D490310B3}" v="51" dt="2026-01-09T16:22:30.972"/>
    <p1510:client id="{780A071B-28DA-41AB-B5C3-602D0D3F8020}" v="861" dt="2026-01-10T09:33:08.187"/>
    <p1510:client id="{8F68B348-8BF8-48FB-A325-B2DD6AE35542}" v="1" dt="2026-01-09T12:22:14.995"/>
    <p1510:client id="{A0DC6491-A176-4DBB-BEDC-159380AF0DB4}" v="78" dt="2026-01-10T10:32:08.544"/>
    <p1510:client id="{A9D8D58A-DA60-0647-01DB-2D9C800AD9C1}" v="6" dt="2026-01-09T12:29:26.617"/>
    <p1510:client id="{C0D2B33B-E39F-B79C-36FB-BBEBEDF7F001}" v="307" dt="2026-01-10T10:14:48.354"/>
    <p1510:client id="{D0E8FFF7-3238-6775-A501-68430187B47B}" v="20" dt="2026-01-10T09:49:43.1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C29FB6-EA06-517A-F3BB-D8CC8500BF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CE1292-EE5E-EEA2-5247-F9918EAE04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E8BDDDF-F1CD-40D3-9518-C237A779E073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28F19-FE23-00D7-1FFB-54B70B959C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4D1D6-66CB-4BF6-E30B-E9153A6B96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275824F-1BAF-46EA-92A0-997B3E21A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4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937F915-8234-436D-A7C2-72BD2C534D4D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A5A2097-C9A8-47E2-88A3-DB3F00F21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94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porting.cgiar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cgiar.org/food-security-impact/new-results-dashboard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sz="2000">
                <a:ea typeface="+mn-lt"/>
                <a:cs typeface="+mn-lt"/>
              </a:rPr>
              <a:t>In Odisha, access to the bundle increased borrowing from formal sources, insurance take-up, and renewal. Fewer repayment difficulties, increased profitability and greater use of irrigation in the dry season. </a:t>
            </a:r>
            <a:endParaRPr lang="en-US"/>
          </a:p>
          <a:p>
            <a:pPr lvl="1"/>
            <a:r>
              <a:rPr lang="en-US" sz="2000">
                <a:ea typeface="+mn-lt"/>
                <a:cs typeface="+mn-lt"/>
              </a:rPr>
              <a:t>In Kenya, the bundle encouraged climate-smart agricultural investments.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A2097-C9A8-47E2-88A3-DB3F00F21D9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307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* PRMS = CGIAR’s Performance and Results Management System where CGIAR tracks innovation development</a:t>
            </a:r>
            <a:br>
              <a:rPr lang="en-US"/>
            </a:br>
            <a:r>
              <a:rPr lang="en-US"/>
              <a:t>and innovation use (scaling) progress. Visit: </a:t>
            </a:r>
            <a:r>
              <a:rPr lang="en-US">
                <a:hlinkClick r:id="rId3"/>
              </a:rPr>
              <a:t>www.reporting.cgiar.org</a:t>
            </a:r>
            <a:r>
              <a:rPr lang="en-US"/>
              <a:t> or</a:t>
            </a:r>
            <a:br>
              <a:rPr lang="en-US"/>
            </a:br>
            <a:r>
              <a:rPr lang="en-US"/>
              <a:t> </a:t>
            </a:r>
            <a:r>
              <a:rPr lang="en-US">
                <a:hlinkClick r:id="rId4"/>
              </a:rPr>
              <a:t>https://www.cgiar.org/food-security-impact/new-results-dashboard/</a:t>
            </a:r>
            <a:r>
              <a:rPr lang="en-US"/>
              <a:t>  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A2097-C9A8-47E2-88A3-DB3F00F21D9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81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AF5C6-F4F2-8C78-357A-5200997F85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602" y="2049495"/>
            <a:ext cx="5945372" cy="175541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4AAC9-CBBA-3F90-9C0D-AD32A582D8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602" y="4162647"/>
            <a:ext cx="5945372" cy="1988287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1FF1F-A1A8-BBE0-B82C-78B997DBF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09E66-F411-1697-D25A-0C1AFF20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A45E-06E8-4374-A2D2-2BA025277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25BF274-CFFA-C539-E9D0-CA41BC40352C}"/>
              </a:ext>
            </a:extLst>
          </p:cNvPr>
          <p:cNvGrpSpPr/>
          <p:nvPr userDrawn="1"/>
        </p:nvGrpSpPr>
        <p:grpSpPr>
          <a:xfrm>
            <a:off x="7791" y="-88816"/>
            <a:ext cx="12321714" cy="7129542"/>
            <a:chOff x="7791" y="-88816"/>
            <a:chExt cx="12321714" cy="7129542"/>
          </a:xfrm>
        </p:grpSpPr>
        <p:sp>
          <p:nvSpPr>
            <p:cNvPr id="30" name="TextBox 5">
              <a:extLst>
                <a:ext uri="{FF2B5EF4-FFF2-40B4-BE49-F238E27FC236}">
                  <a16:creationId xmlns:a16="http://schemas.microsoft.com/office/drawing/2014/main" id="{8FD2F6C7-15A4-4CC5-46A0-2008ADB83369}"/>
                </a:ext>
              </a:extLst>
            </p:cNvPr>
            <p:cNvSpPr txBox="1"/>
            <p:nvPr/>
          </p:nvSpPr>
          <p:spPr>
            <a:xfrm>
              <a:off x="10152181" y="-10924"/>
              <a:ext cx="2036648" cy="866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88F3818C-4A4A-0CB6-004C-34B616786DA7}"/>
                </a:ext>
              </a:extLst>
            </p:cNvPr>
            <p:cNvSpPr txBox="1"/>
            <p:nvPr/>
          </p:nvSpPr>
          <p:spPr>
            <a:xfrm>
              <a:off x="7791" y="-88816"/>
              <a:ext cx="12181038" cy="983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338AF68E-8B52-4FB6-015B-0E6CF30A131C}"/>
                </a:ext>
              </a:extLst>
            </p:cNvPr>
            <p:cNvSpPr/>
            <p:nvPr/>
          </p:nvSpPr>
          <p:spPr>
            <a:xfrm>
              <a:off x="6055242" y="754912"/>
              <a:ext cx="6274263" cy="6285814"/>
            </a:xfrm>
            <a:custGeom>
              <a:avLst/>
              <a:gdLst/>
              <a:ahLst/>
              <a:cxnLst/>
              <a:rect l="l" t="t" r="r" b="b"/>
              <a:pathLst>
                <a:path w="12478229" h="12544672">
                  <a:moveTo>
                    <a:pt x="0" y="0"/>
                  </a:moveTo>
                  <a:lnTo>
                    <a:pt x="12478229" y="0"/>
                  </a:lnTo>
                  <a:lnTo>
                    <a:pt x="12478229" y="12544672"/>
                  </a:lnTo>
                  <a:lnTo>
                    <a:pt x="0" y="12544672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2">
                <a:alphaModFix amt="11000"/>
              </a:blip>
              <a:srcRect/>
              <a:stretch>
                <a:fillRect r="-148000"/>
              </a:stretch>
            </a:blipFill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</p:grpSp>
      <p:pic>
        <p:nvPicPr>
          <p:cNvPr id="34" name="Picture 33" descr="A green and white sign&#10;&#10;AI-generated content may be incorrect.">
            <a:extLst>
              <a:ext uri="{FF2B5EF4-FFF2-40B4-BE49-F238E27FC236}">
                <a16:creationId xmlns:a16="http://schemas.microsoft.com/office/drawing/2014/main" id="{AD3C3E09-5DBB-EEB2-633C-328A363050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4" y="137553"/>
            <a:ext cx="7037497" cy="167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23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purple and white gradient&#10;&#10;AI-generated content may be incorrect.">
            <a:extLst>
              <a:ext uri="{FF2B5EF4-FFF2-40B4-BE49-F238E27FC236}">
                <a16:creationId xmlns:a16="http://schemas.microsoft.com/office/drawing/2014/main" id="{0D2A358A-11B6-989A-92C7-FF7A613E56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79"/>
            <a:ext cx="12192000" cy="939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E76877-E83B-99C4-8B78-A6DBE8389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170186"/>
            <a:ext cx="10515600" cy="937363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>
                <a:solidFill>
                  <a:srgbClr val="D486F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Title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3B3C0-90C2-8D01-3CFA-67419DC85A9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498650"/>
            <a:ext cx="10478386" cy="36663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D095-834F-66D4-8F2C-836061AC3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BE5F8-5B17-CE2A-ED54-8420CFE67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69739-107D-4A19-8C9F-24C5A47CA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  <p:pic>
        <p:nvPicPr>
          <p:cNvPr id="19" name="Picture 18" descr="A close up of a logo&#10;&#10;AI-generated content may be incorrect.">
            <a:extLst>
              <a:ext uri="{FF2B5EF4-FFF2-40B4-BE49-F238E27FC236}">
                <a16:creationId xmlns:a16="http://schemas.microsoft.com/office/drawing/2014/main" id="{E3232194-93D9-EC47-D39F-3F07F389C8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8" y="49174"/>
            <a:ext cx="3509771" cy="835946"/>
          </a:xfrm>
          <a:prstGeom prst="rect">
            <a:avLst/>
          </a:prstGeom>
        </p:spPr>
      </p:pic>
      <p:sp>
        <p:nvSpPr>
          <p:cNvPr id="10" name="Freeform 10">
            <a:extLst>
              <a:ext uri="{FF2B5EF4-FFF2-40B4-BE49-F238E27FC236}">
                <a16:creationId xmlns:a16="http://schemas.microsoft.com/office/drawing/2014/main" id="{3F1C3CB6-1CE7-5EC9-2EC5-BAAECF35B50C}"/>
              </a:ext>
            </a:extLst>
          </p:cNvPr>
          <p:cNvSpPr/>
          <p:nvPr/>
        </p:nvSpPr>
        <p:spPr>
          <a:xfrm>
            <a:off x="-3108961" y="1389329"/>
            <a:ext cx="6233505" cy="6266696"/>
          </a:xfrm>
          <a:custGeom>
            <a:avLst/>
            <a:gdLst/>
            <a:ahLst/>
            <a:cxnLst/>
            <a:rect l="l" t="t" r="r" b="b"/>
            <a:pathLst>
              <a:path w="12478229" h="12544672">
                <a:moveTo>
                  <a:pt x="0" y="0"/>
                </a:moveTo>
                <a:lnTo>
                  <a:pt x="12478229" y="0"/>
                </a:lnTo>
                <a:lnTo>
                  <a:pt x="12478229" y="12544672"/>
                </a:lnTo>
                <a:lnTo>
                  <a:pt x="0" y="1254467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>
              <a:alphaModFix amt="11000"/>
            </a:blip>
            <a:srcRect/>
            <a:stretch>
              <a:fillRect r="-148000"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539866E-AE45-003C-B6FC-EFD1DABDBF39}"/>
              </a:ext>
            </a:extLst>
          </p:cNvPr>
          <p:cNvSpPr/>
          <p:nvPr/>
        </p:nvSpPr>
        <p:spPr>
          <a:xfrm>
            <a:off x="11396785" y="-1672"/>
            <a:ext cx="792044" cy="206921"/>
          </a:xfrm>
          <a:custGeom>
            <a:avLst/>
            <a:gdLst/>
            <a:ahLst/>
            <a:cxnLst/>
            <a:rect l="l" t="t" r="r" b="b"/>
            <a:pathLst>
              <a:path w="1585513" h="414215">
                <a:moveTo>
                  <a:pt x="0" y="0"/>
                </a:moveTo>
                <a:lnTo>
                  <a:pt x="1585513" y="0"/>
                </a:lnTo>
                <a:lnTo>
                  <a:pt x="1585513" y="414216"/>
                </a:lnTo>
                <a:lnTo>
                  <a:pt x="0" y="414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28AB790-CD73-964B-DAAF-45FFBD527039}"/>
              </a:ext>
            </a:extLst>
          </p:cNvPr>
          <p:cNvSpPr/>
          <p:nvPr/>
        </p:nvSpPr>
        <p:spPr>
          <a:xfrm>
            <a:off x="11396785" y="477779"/>
            <a:ext cx="792044" cy="206921"/>
          </a:xfrm>
          <a:custGeom>
            <a:avLst/>
            <a:gdLst/>
            <a:ahLst/>
            <a:cxnLst/>
            <a:rect l="l" t="t" r="r" b="b"/>
            <a:pathLst>
              <a:path w="1585513" h="414215">
                <a:moveTo>
                  <a:pt x="0" y="0"/>
                </a:moveTo>
                <a:lnTo>
                  <a:pt x="1585513" y="0"/>
                </a:lnTo>
                <a:lnTo>
                  <a:pt x="1585513" y="414215"/>
                </a:lnTo>
                <a:lnTo>
                  <a:pt x="0" y="4142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D8B400E5-20D3-B8D6-DC3F-4E58E0F11B5B}"/>
              </a:ext>
            </a:extLst>
          </p:cNvPr>
          <p:cNvSpPr/>
          <p:nvPr userDrawn="1"/>
        </p:nvSpPr>
        <p:spPr>
          <a:xfrm>
            <a:off x="11399956" y="710095"/>
            <a:ext cx="792044" cy="206921"/>
          </a:xfrm>
          <a:custGeom>
            <a:avLst/>
            <a:gdLst/>
            <a:ahLst/>
            <a:cxnLst/>
            <a:rect l="l" t="t" r="r" b="b"/>
            <a:pathLst>
              <a:path w="1585513" h="414215">
                <a:moveTo>
                  <a:pt x="0" y="0"/>
                </a:moveTo>
                <a:lnTo>
                  <a:pt x="1585513" y="0"/>
                </a:lnTo>
                <a:lnTo>
                  <a:pt x="1585513" y="414215"/>
                </a:lnTo>
                <a:lnTo>
                  <a:pt x="0" y="4142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9DB7C1C6-A4AE-7D1B-0338-2CCACA8664EE}"/>
              </a:ext>
            </a:extLst>
          </p:cNvPr>
          <p:cNvSpPr/>
          <p:nvPr userDrawn="1"/>
        </p:nvSpPr>
        <p:spPr>
          <a:xfrm>
            <a:off x="11396785" y="236896"/>
            <a:ext cx="792044" cy="206921"/>
          </a:xfrm>
          <a:custGeom>
            <a:avLst/>
            <a:gdLst/>
            <a:ahLst/>
            <a:cxnLst/>
            <a:rect l="l" t="t" r="r" b="b"/>
            <a:pathLst>
              <a:path w="1585513" h="414215">
                <a:moveTo>
                  <a:pt x="0" y="0"/>
                </a:moveTo>
                <a:lnTo>
                  <a:pt x="1585513" y="0"/>
                </a:lnTo>
                <a:lnTo>
                  <a:pt x="1585513" y="414215"/>
                </a:lnTo>
                <a:lnTo>
                  <a:pt x="0" y="4142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78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4D39E-C8F0-08C8-AFAD-27762937E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3934" y="1709738"/>
            <a:ext cx="405351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Thanks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4B0EF-BF59-9126-6A46-27F2694884A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93934" y="4589463"/>
            <a:ext cx="405351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Any Question?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2C918-A643-272D-12E1-40D9F1BB3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001EA-6A7A-608C-BEDA-1011D0611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10B23-8E91-347F-5A0E-4002CC64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9739A4A6-4791-5BA2-B1DD-0349D3540F39}"/>
              </a:ext>
            </a:extLst>
          </p:cNvPr>
          <p:cNvSpPr/>
          <p:nvPr userDrawn="1"/>
        </p:nvSpPr>
        <p:spPr>
          <a:xfrm>
            <a:off x="298774" y="517459"/>
            <a:ext cx="6233505" cy="6266696"/>
          </a:xfrm>
          <a:custGeom>
            <a:avLst/>
            <a:gdLst/>
            <a:ahLst/>
            <a:cxnLst/>
            <a:rect l="l" t="t" r="r" b="b"/>
            <a:pathLst>
              <a:path w="12478229" h="12544672">
                <a:moveTo>
                  <a:pt x="0" y="0"/>
                </a:moveTo>
                <a:lnTo>
                  <a:pt x="12478229" y="0"/>
                </a:lnTo>
                <a:lnTo>
                  <a:pt x="12478229" y="12544672"/>
                </a:lnTo>
                <a:lnTo>
                  <a:pt x="0" y="1254467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1000"/>
            </a:blip>
            <a:srcRect/>
            <a:stretch>
              <a:fillRect r="-148000"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21" name="Picture 20" descr="A green and white sign&#10;&#10;AI-generated content may be incorrect.">
            <a:extLst>
              <a:ext uri="{FF2B5EF4-FFF2-40B4-BE49-F238E27FC236}">
                <a16:creationId xmlns:a16="http://schemas.microsoft.com/office/drawing/2014/main" id="{FB8FD814-5707-0DDB-73AD-B2717CFE4E7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37" y="217298"/>
            <a:ext cx="6152789" cy="146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511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80375-85B1-0560-D1C3-6F61C37D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E5E18-0BB5-5170-FAD4-F5EBF768B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850F7-C965-CD03-8153-490183B97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AF2EF-0969-C516-1E3A-69B26E4DD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A6DD9-B316-057C-F5E5-3345A19E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A9A5E-B06A-2385-BA67-B5FE42A9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82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FB9C-8465-7775-838E-3EA78FF4C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06B35-DB06-15DB-0829-2E6F1CE77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13398-12C9-37D3-E21E-838DC5474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04619-5A30-CFF0-91F5-95C0ED334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97EE50-CC01-5117-79B4-A6D5C85525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61F1B-CED9-375A-DAD7-70EA73A96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76F369-740E-2A35-DEF5-583D0D8A6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A4C92-9489-C552-FDB4-1ADC4B70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21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C751-8772-0450-2666-D6532622C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5B705E-7503-4C57-851B-2F102E2B6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1D3ED8-E95A-289D-5B5A-5D70B8BD2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618A9-DD8C-AC6E-D1D7-DBDA48B6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C148ED-E586-BCB5-04D8-B9653BE4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E27125-89D4-1B47-F5C3-9769A3D60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AA77D-25C8-D73D-A7BD-F84AB865F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70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1205-4367-5544-31B4-4EB4B2B78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3F1A9-F712-E59E-3888-27BAB3F1E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0ED70-F518-1792-E4E4-4F7A9B81C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177E9-780E-BFC3-98E3-57111F1F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0E2B2-2345-D548-45F3-8F93ADB52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DF807-5C6B-65FB-A5C7-C318DA685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2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9DCB3-E7F2-5F57-E579-5F02B52F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156421-52E0-BDD0-2A5A-91B4E54B9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6C4E0-3754-6183-9696-F69C617C8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B555B-9437-EE32-BC33-02C7A3EE7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BF77E-D021-C8FA-9598-EA5286E58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E0A02-CC68-160F-FD97-68D6F7A94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9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DAD2-C661-890E-542B-3C520AE2C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F9F5A-DB2D-6DA8-2D3F-3295A6601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B66D2-71B0-26A0-F53B-102AA771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81F9B-B465-4DE7-A5C6-8C2FDB899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4B801-3022-BEB2-235A-FC4CE1BC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65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907F3F-C706-B48B-7AA0-2F08937567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6C6F4-87F9-744B-0941-A5029275B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5B6F1-0CDD-466D-136A-5911E0FA1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96DC1-8BA2-6E33-8510-D69182920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965D9-0E33-2BF4-1E5F-05588F78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98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487C-8799-ED7F-EDCA-8852EAEF0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D7059-4557-C5A0-56D2-06D9AA9A6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64388-421A-F9A9-E280-6143C99A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28F6E-D59C-6F43-2410-F9B295AD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D3154-F42A-D109-4E9B-01CCE9EA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44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8F643-2E71-7179-FE55-EFFB1F47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F36AD-951A-072B-F328-1EC903E7D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BB697-8F7F-B684-B607-E8B8C6831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9DD3C-24AA-6F19-87D8-893ACDE23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5227B-AABF-6933-2A61-7540CB6B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67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4353-6716-1943-9C2D-29AB7E4E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F471C-26D6-1F32-9E6E-25F5663A2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47F7-EB5D-4EF1-CEC8-D2ECA343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EA4F7-0472-3175-A173-49FD46706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546E1-7344-07D2-0CF5-C972A72F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224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E0619-DE70-314A-2F96-87825CCB3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30C75-D98C-0F54-26B5-4E0CE6F33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CFC74-AA5D-642A-55E9-D3903B07B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E643C-5700-8E02-FD82-3DE2D49B8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B1B44-D0CC-56D8-0B81-81EA3A3E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50D1E-EEF2-B4AC-B23A-F6992A20A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245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8C35F-4F2A-E585-37FF-66CCB788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CF15E-95CB-2377-E5A6-A8EA6DE26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F165D-F642-3896-9B30-7A5DC2486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667838-F4BA-2573-53A8-3FBA32FC9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D47A1-5EC3-A9D1-CEE7-C1F9BDA62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677AB4-5F99-B6E3-B642-C469726C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8B891E-D87C-EDFC-AA89-84CE51620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E0447E-0C4C-36E2-5274-DAF84088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75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1F1A-35D8-63E4-DA1F-58587063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38C130-63B3-C7C6-6858-AA5CB3887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B6805-A7A4-B57E-37AA-B91C5105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94EBE-04EF-EC0C-E546-49218C1E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464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714AE-B3A2-A1DA-DF4E-134667AD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57F28-2428-A2F3-CCF1-3B68C0FA7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4F877-91CF-26C2-180A-84712C9B3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42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E3AC-950A-45D3-3A91-FD5F99FE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A31AD-6C3B-A2C8-A33A-646BD3F68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9C523-39E7-87E1-696E-F7AC1C5EF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4773F-4CDE-E03E-AB83-4A4AA816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07DE6-2AFF-4EDB-6999-A3B2F763E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A90B4-FB4C-7956-6F96-04788AE7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592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5FB1-7244-02B6-3342-E98519EFF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346788-3281-933E-23AE-921C6704A3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016AF-3617-D46C-EC14-5C83DD22E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6A493-3452-BF89-3A46-BE25E319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90C00-5BB5-8EB8-9824-4E16E41E5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5B3DF-B643-39F9-0635-075827D75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72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9CD43-E7F5-1A00-2A37-5666B2E4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20D26-70D3-0C38-FE8C-F3860F5D6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7F8B3-6F54-1B24-A04C-057A3771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F17AD-AF33-0225-E32A-BA3298937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11502-D813-FD62-245A-E79B452A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879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414A76-63B3-35BF-5483-433E371FD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3F67E-19C6-F69E-61D6-122BA3895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82C80-F1D3-E9FE-578F-24A8A610A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E085-68F6-DC6A-24BD-64631EB5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8C730-C6CD-9CD7-A9F0-4C5556382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349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25CAF-CDB9-38EC-9679-0CC170B18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6014F-EA46-F520-F890-3F2726420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3A7D8-E7A6-CD69-2334-6E3704906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F03A9-1CC1-6F1E-14BF-B3E406E1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B8126-229E-EA0B-91E7-D1C1A288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945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56A94-F436-EEBF-1D6A-4784A2822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5215B-556C-7987-79A1-EFDF1E10D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6561C-C0BC-5BE1-8AFD-FBEC0C30A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CC1B3-02A3-EF23-470F-A74330947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A4BB1-D341-6677-8F6B-691C2ABDC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021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CA6EC-6058-CF74-05E8-EDC94BB5A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B4BA7-6476-2F5A-6AB2-2C3A45F9E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B5C6A-F79B-1C3F-59E2-9CE328C6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D236D-365E-93CB-63C1-BE576687D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2EED3-9C1A-A619-5C8A-1E136636F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02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30B32-FD46-5F86-9587-462E9C411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6405-8413-4364-AB81-B44EC6F93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D6109-3CD6-2DA5-D1D1-1183529EB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8EF10-4113-8C71-ABD0-77A1FDE65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DBDC8-0DBF-A973-9532-7E76F03B9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FC547-5060-BBAD-92CF-B6F11A966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355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8E6CB-F26D-2250-0506-19711F1B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69B9A-C138-5571-449F-0D13BA912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B6657-31AB-9192-75D3-BFD3338F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DEF5C5-8BA5-3C73-7C57-09E79BE16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A42F9-CABD-88B3-E7CF-0C08D697E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FFCD67-4175-1AED-7D15-B65BC391C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E3774F-6DB1-CDB5-0B80-B807ED372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ED9E43-11ED-9AAA-591A-C9ECED90B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938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C5E1F-30F5-DA80-E71E-BC161010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5D609E-F52B-763E-D463-1CB21921E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AC20C-63FC-AEF8-781E-A7EF3DF29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0E432-94A1-2985-BB6C-78526815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855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6A314-F676-4F17-F2FB-F412ECB01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6E3F7D-D7BF-9655-971E-F804D787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3A498-AA02-A31A-F840-BC9D326A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965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C7C20-A48A-F0A9-A1AF-368811467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ACF3F-B57E-DCB5-B24C-8EBB5221D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C2B2B-23F6-1BD7-E5CC-0B6F73EB3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D85E0-B2AA-BBCD-8E18-C00E509C8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14113-3EB6-2CF0-A5F5-5F87197DC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A26E2-3D28-A0DE-B626-BE747763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723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3659-2F28-13DC-1BA7-BB121A39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92F523-EF1E-E005-F363-799B15B313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F1691-AE46-FF53-3F22-B0DC41BE2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891D6-A03D-1A03-1BAF-8DB41E20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DEF8D-E9D0-691A-9FD7-8937E007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0AEB7-F177-BCA4-924A-DE0A71A0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188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9CEE-D88F-4A85-EF69-D517CB0FD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60BC9-B249-2A0B-5C15-EA4D5FBEF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04026-FDCB-9618-7011-CB432BF9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26139-661F-BE9B-F6C4-CB52041F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6CCC8-B562-D9E5-76AB-72A34160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361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138390-0E80-C790-597C-9EA905075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56CD8-E002-EBD5-68E4-6D38950EF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1F753-679C-0028-6E4E-83CBA736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83378-9FCD-0A8D-F5F6-0DAF4C9C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D802-C3B9-F7A8-9948-E19ABBEEA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2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86DAA8-C7A0-519C-0433-48868AA4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B805F-CCCB-7D40-9FBB-C50796A85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3FE7B-D4EE-6218-A2CE-D7E741E37C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2E528-5209-4A61-9A99-F9D5F086242B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2BBDC-2FC1-DB45-94A7-BE41BA6FC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A9156-448D-F167-BAB9-0744017C7A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50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EE145-8D5D-5495-1FBB-2152F6165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76F70-2B25-4835-BA43-47A512310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4FB0C-7B08-2AFD-21C9-0D751E553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FB9DFE-3346-49E3-82A1-34AE69B65C7E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BE12-D03E-3575-4DDD-A08D6A397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6285A-8CB1-4FBC-0117-EF3730173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764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51F5DB-7DF9-FB29-F9C1-63FE050E9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09277-3A6D-8B95-5E1D-569B47B38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A9438-0F0E-6AC0-4B26-07CB69CBD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9062B-7F7D-42B0-934B-234B52EDB4C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A7573-05C9-5688-301D-3471C9C21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13232-F972-14DD-B50F-FEE49646E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83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fpri.org/blog/from-satellite-images-to-real-world-impact-how-ifpri-dvara-collaboration-opened-new-doors-for-odishas-marginalized-farmer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gspace.cgiar.org/server/api/core/bitstreams/0b9b3aa8-c9b1-410a-890a-a510ddb56578/content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BAD58-E0AE-A464-D96C-9CF62D7F4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602" y="2049495"/>
            <a:ext cx="10216630" cy="1755418"/>
          </a:xfrm>
        </p:spPr>
        <p:txBody>
          <a:bodyPr>
            <a:noAutofit/>
          </a:bodyPr>
          <a:lstStyle/>
          <a:p>
            <a:r>
              <a:rPr lang="en-US" sz="4400"/>
              <a:t>Flagship Solution Scaling Tracks</a:t>
            </a:r>
            <a:br>
              <a:rPr lang="en-US" sz="4400"/>
            </a:br>
            <a:r>
              <a:rPr lang="en-US" sz="4400"/>
              <a:t>Inception Meeting and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3187F4-7561-B837-F7E9-1BE72B8E0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602" y="4981074"/>
            <a:ext cx="6437296" cy="1153310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sz="3200">
                <a:latin typeface="Aptos Display"/>
              </a:rPr>
              <a:t>Scaling bundled digital financial services for smallholder farmers to foster agricultural technology adoption</a:t>
            </a:r>
          </a:p>
          <a:p>
            <a:endParaRPr lang="en-US"/>
          </a:p>
          <a:p>
            <a:r>
              <a:rPr lang="en-US"/>
              <a:t>January 10th, 2026</a:t>
            </a:r>
          </a:p>
        </p:txBody>
      </p:sp>
    </p:spTree>
    <p:extLst>
      <p:ext uri="{BB962C8B-B14F-4D97-AF65-F5344CB8AC3E}">
        <p14:creationId xmlns:p14="http://schemas.microsoft.com/office/powerpoint/2010/main" val="2373847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3C511-B131-7456-2F7D-BFB8B02B9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2DF472-2BAD-5C92-21EA-2771FB11A3EE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Description of the innovation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C0C7E05-627E-3922-B523-5BAE3A6DFE1D}"/>
              </a:ext>
            </a:extLst>
          </p:cNvPr>
          <p:cNvSpPr txBox="1">
            <a:spLocks/>
          </p:cNvSpPr>
          <p:nvPr/>
        </p:nvSpPr>
        <p:spPr>
          <a:xfrm>
            <a:off x="253199" y="1291271"/>
            <a:ext cx="11698754" cy="538591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ea typeface="Calibri"/>
                <a:cs typeface="Calibri"/>
              </a:rPr>
              <a:t>Scale</a:t>
            </a:r>
            <a:r>
              <a:rPr lang="en-US" sz="2400">
                <a:latin typeface="Aptos"/>
                <a:ea typeface="Calibri"/>
                <a:cs typeface="Calibri"/>
              </a:rPr>
              <a:t> bundled digital financial services: picture-based insurance-backed credit</a:t>
            </a:r>
          </a:p>
          <a:p>
            <a:pPr marL="685800"/>
            <a:r>
              <a:rPr lang="en-US" sz="2000">
                <a:latin typeface="Aptos"/>
                <a:ea typeface="Calibri"/>
                <a:cs typeface="Calibri"/>
              </a:rPr>
              <a:t>Climate, soil, and remote-sensing data determine creditworthiness without land titles as collateral. </a:t>
            </a:r>
            <a:endParaRPr lang="en-US"/>
          </a:p>
          <a:p>
            <a:pPr marL="685800"/>
            <a:r>
              <a:rPr lang="en-US" sz="2000">
                <a:ea typeface="+mn-lt"/>
                <a:cs typeface="+mn-lt"/>
              </a:rPr>
              <a:t>Linked to picture-based insurance pioneered by IFPRI that compensates farmers for crop damage.</a:t>
            </a:r>
            <a:endParaRPr lang="en-US"/>
          </a:p>
          <a:p>
            <a:r>
              <a:rPr lang="en-US" sz="2400">
                <a:latin typeface="Aptos"/>
                <a:ea typeface="Calibri"/>
                <a:cs typeface="Calibri"/>
              </a:rPr>
              <a:t>RCTs with 5,000 farmers in India and Kenya confirmed effectiveness and scalability. 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Kenya: Using pictures to settle claims increased take-up by 20%, fertilizer use by 10% points.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latin typeface="Aptos"/>
                <a:ea typeface="Roboto"/>
                <a:cs typeface="Roboto"/>
                <a:hlinkClick r:id="rId3"/>
              </a:rPr>
              <a:t>India</a:t>
            </a:r>
            <a:r>
              <a:rPr lang="en-US">
                <a:latin typeface="Aptos"/>
                <a:ea typeface="Roboto"/>
                <a:cs typeface="Roboto"/>
              </a:rPr>
              <a:t>: Solution increased use of formal credit by 20% points, agricultural incomes by $250, women's empowerment, and farmers reported lower stress and easier repayment.</a:t>
            </a:r>
            <a:endParaRPr lang="en-US">
              <a:latin typeface="Aptos"/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How the bundle is packaged – mutual reinforcing components </a:t>
            </a:r>
          </a:p>
          <a:p>
            <a:pPr lvl="1"/>
            <a:r>
              <a:rPr lang="en-US" sz="2000">
                <a:ea typeface="+mn-lt"/>
                <a:cs typeface="+mn-lt"/>
              </a:rPr>
              <a:t>Insurance de-risks lenders → expanded credit access → investment in adaptation practices and technologies at scale → increased income and less production risk.</a:t>
            </a:r>
          </a:p>
          <a:p>
            <a:r>
              <a:rPr lang="en-US" sz="2400"/>
              <a:t>Responsible scaling. </a:t>
            </a:r>
          </a:p>
          <a:p>
            <a:pPr marL="685800" lvl="1">
              <a:spcBef>
                <a:spcPts val="500"/>
              </a:spcBef>
            </a:pPr>
            <a:r>
              <a:rPr lang="en-US" sz="2000">
                <a:hlinkClick r:id="rId4"/>
              </a:rPr>
              <a:t>Survey evidence </a:t>
            </a:r>
            <a:r>
              <a:rPr lang="en-US" sz="2000"/>
              <a:t>shows that adding insurance to the bundle increases demand for credit more among women than among men.</a:t>
            </a:r>
          </a:p>
          <a:p>
            <a:pPr lvl="1"/>
            <a:r>
              <a:rPr lang="en-US" sz="2000"/>
              <a:t>The initiative targets 50% women, 25% youth (&lt;35 years), 5% marginalized groups; and we will track reach and benefits for these groups through our MELIA strategy.</a:t>
            </a:r>
          </a:p>
        </p:txBody>
      </p:sp>
    </p:spTree>
    <p:extLst>
      <p:ext uri="{BB962C8B-B14F-4D97-AF65-F5344CB8AC3E}">
        <p14:creationId xmlns:p14="http://schemas.microsoft.com/office/powerpoint/2010/main" val="125339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00C2-7CDA-8DC7-C264-97863DDAF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83D8DA-F43A-06BF-8A7D-64F0B8D1E3AF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Your scaling ambition</a:t>
            </a:r>
            <a:endParaRPr lang="en-US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907E4C4-D6BE-4713-1ABE-98C0E133322D}"/>
              </a:ext>
            </a:extLst>
          </p:cNvPr>
          <p:cNvSpPr txBox="1">
            <a:spLocks/>
          </p:cNvSpPr>
          <p:nvPr/>
        </p:nvSpPr>
        <p:spPr>
          <a:xfrm>
            <a:off x="260158" y="1206647"/>
            <a:ext cx="11581277" cy="545397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latin typeface="Aptos"/>
                <a:ea typeface="Calibri"/>
                <a:cs typeface="Calibri"/>
              </a:rPr>
              <a:t>Aim for 100,000 smallholder farmers in Kenya and India using the solution over 3 years, with 15,000 farmers (&gt;12,000 India, &gt;3,000 Kenya) by the end of 2026.</a:t>
            </a:r>
          </a:p>
          <a:p>
            <a:pPr lvl="1">
              <a:spcBef>
                <a:spcPts val="1000"/>
              </a:spcBef>
            </a:pPr>
            <a:r>
              <a:rPr lang="en-US" sz="2000">
                <a:latin typeface="Aptos"/>
                <a:ea typeface="Calibri"/>
                <a:cs typeface="Calibri"/>
              </a:rPr>
              <a:t>Lower allocation to non-CGIAR partners than proposed to ensure both CGIAR centers have sufficient funding, reducing the achievable scaling targets of the partners. </a:t>
            </a:r>
          </a:p>
          <a:p>
            <a:pPr lvl="1">
              <a:spcBef>
                <a:spcPts val="1000"/>
              </a:spcBef>
            </a:pPr>
            <a:r>
              <a:rPr lang="en-US" sz="2000">
                <a:latin typeface="Aptos"/>
                <a:ea typeface="Calibri"/>
                <a:cs typeface="Calibri"/>
              </a:rPr>
              <a:t>Still plan to leverage $6 millions of finance (value of loans and insured value).</a:t>
            </a:r>
          </a:p>
          <a:p>
            <a:r>
              <a:rPr lang="en-US" sz="2400">
                <a:latin typeface="Aptos"/>
                <a:ea typeface="Calibri"/>
                <a:cs typeface="Calibri"/>
              </a:rPr>
              <a:t>Targeted behavior change and system improvements using the S4I investment:</a:t>
            </a:r>
          </a:p>
          <a:p>
            <a:pPr lvl="1"/>
            <a:r>
              <a:rPr lang="en-US" sz="2000">
                <a:latin typeface="Aptos"/>
                <a:ea typeface="Calibri"/>
                <a:cs typeface="Calibri"/>
              </a:rPr>
              <a:t>Addressing uncertainty and risk that limit both the supply of and demand for credit.</a:t>
            </a:r>
          </a:p>
          <a:p>
            <a:pPr lvl="1"/>
            <a:r>
              <a:rPr lang="en-US" sz="2000">
                <a:latin typeface="Aptos"/>
                <a:ea typeface="Calibri"/>
                <a:cs typeface="Calibri"/>
              </a:rPr>
              <a:t>Working with scaling partners to maximize opportunities for responsible scaling.</a:t>
            </a:r>
          </a:p>
          <a:p>
            <a:r>
              <a:rPr lang="en-US" sz="2400">
                <a:latin typeface="Aptos"/>
                <a:ea typeface="Calibri"/>
                <a:cs typeface="Calibri"/>
              </a:rPr>
              <a:t>Scaling challenges mitigated/tested by the S4I investment</a:t>
            </a:r>
            <a:endParaRPr lang="en-US">
              <a:latin typeface="Aptos"/>
              <a:ea typeface="Calibri"/>
              <a:cs typeface="Calibri"/>
            </a:endParaRPr>
          </a:p>
          <a:p>
            <a:pPr lvl="1"/>
            <a:r>
              <a:rPr lang="en-US" sz="2000">
                <a:latin typeface="Aptos"/>
                <a:ea typeface="Calibri"/>
                <a:cs typeface="Calibri"/>
              </a:rPr>
              <a:t>Making the case to investors about the impacts and scalability of the bundle.</a:t>
            </a:r>
          </a:p>
          <a:p>
            <a:pPr lvl="1"/>
            <a:r>
              <a:rPr lang="en-US" sz="2000">
                <a:latin typeface="Aptos"/>
                <a:ea typeface="Calibri"/>
                <a:cs typeface="Calibri"/>
              </a:rPr>
              <a:t>Testing technical advances of the solution</a:t>
            </a:r>
          </a:p>
          <a:p>
            <a:pPr lvl="2"/>
            <a:r>
              <a:rPr lang="en-US"/>
              <a:t>Further integrating climate risk analysis into the bundled product.</a:t>
            </a:r>
          </a:p>
          <a:p>
            <a:pPr lvl="2"/>
            <a:r>
              <a:rPr lang="en-US"/>
              <a:t>Refining models for more accurate loss assessment through additional training data.</a:t>
            </a:r>
          </a:p>
          <a:p>
            <a:pPr lvl="1"/>
            <a:r>
              <a:rPr lang="en-US" sz="2000">
                <a:latin typeface="Aptos"/>
                <a:ea typeface="Calibri"/>
                <a:cs typeface="Calibri"/>
              </a:rPr>
              <a:t>Developing trust between financial institutions and farmers</a:t>
            </a:r>
          </a:p>
          <a:p>
            <a:pPr lvl="1"/>
            <a:r>
              <a:rPr lang="en-US" sz="2000">
                <a:latin typeface="Aptos"/>
                <a:ea typeface="Calibri"/>
                <a:cs typeface="Calibri"/>
              </a:rPr>
              <a:t>Developing capacity of field staff and financial institutions</a:t>
            </a:r>
          </a:p>
        </p:txBody>
      </p:sp>
    </p:spTree>
    <p:extLst>
      <p:ext uri="{BB962C8B-B14F-4D97-AF65-F5344CB8AC3E}">
        <p14:creationId xmlns:p14="http://schemas.microsoft.com/office/powerpoint/2010/main" val="1533404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4ED1E-3476-7084-9912-14C59F40F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871B4FB-7805-C2B2-5914-0B8548F70658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Key demand partners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B366B9-784A-B0D4-97F1-2A3EB12751B4}"/>
              </a:ext>
            </a:extLst>
          </p:cNvPr>
          <p:cNvSpPr txBox="1"/>
          <p:nvPr/>
        </p:nvSpPr>
        <p:spPr>
          <a:xfrm>
            <a:off x="340092" y="1565168"/>
            <a:ext cx="5328547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000" b="1" kern="1200">
                <a:solidFill>
                  <a:srgbClr val="00B0F0"/>
                </a:solidFill>
                <a:latin typeface="Aptos" panose="020B0004020202020204" pitchFamily="34" charset="0"/>
                <a:ea typeface="Calibri"/>
                <a:cs typeface="Calibri"/>
              </a:rPr>
              <a:t>Dvara E-Registry – India</a:t>
            </a:r>
          </a:p>
          <a:p>
            <a:r>
              <a:rPr lang="en-US" sz="20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</a:rPr>
              <a:t>Agri-fintech company in India providing financial and agricultural services to smallholder farmers. </a:t>
            </a:r>
            <a:r>
              <a:rPr lang="en-US" sz="2000" kern="12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</a:rPr>
              <a:t> </a:t>
            </a:r>
            <a:endParaRPr lang="en-US" sz="200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pPr marL="0" indent="0" algn="l" rtl="0"/>
            <a:r>
              <a:rPr lang="en-US" sz="2000" b="1" kern="1200">
                <a:solidFill>
                  <a:srgbClr val="00B050"/>
                </a:solidFill>
                <a:latin typeface="Aptos" panose="020B0004020202020204" pitchFamily="34" charset="0"/>
                <a:ea typeface="Calibri"/>
                <a:cs typeface="Calibri"/>
              </a:rPr>
              <a:t>Current operations</a:t>
            </a:r>
          </a:p>
          <a:p>
            <a:pPr marL="228600" indent="-228600">
              <a:buFont typeface="Arial"/>
              <a:buChar char="•"/>
            </a:pPr>
            <a:r>
              <a:rPr lang="en-US" sz="2000" kern="1200">
                <a:solidFill>
                  <a:schemeClr val="dk1"/>
                </a:solidFill>
                <a:latin typeface="Aptos"/>
                <a:ea typeface="Calibri"/>
                <a:cs typeface="Calibri"/>
              </a:rPr>
              <a:t>Partners with financial institutions to provide digital credit and </a:t>
            </a:r>
            <a:r>
              <a:rPr lang="en-US" sz="2000">
                <a:solidFill>
                  <a:schemeClr val="dk1"/>
                </a:solidFill>
                <a:latin typeface="Aptos"/>
                <a:ea typeface="Calibri"/>
                <a:cs typeface="Calibri"/>
              </a:rPr>
              <a:t>(</a:t>
            </a:r>
            <a:r>
              <a:rPr lang="en-US" sz="2000" kern="1200">
                <a:solidFill>
                  <a:schemeClr val="dk1"/>
                </a:solidFill>
                <a:latin typeface="Aptos"/>
                <a:ea typeface="Calibri"/>
                <a:cs typeface="Calibri"/>
              </a:rPr>
              <a:t>picture-based</a:t>
            </a:r>
            <a:r>
              <a:rPr lang="en-US" sz="2000">
                <a:solidFill>
                  <a:schemeClr val="dk1"/>
                </a:solidFill>
                <a:latin typeface="Aptos"/>
                <a:ea typeface="Calibri"/>
                <a:cs typeface="Calibri"/>
              </a:rPr>
              <a:t>) </a:t>
            </a:r>
            <a:r>
              <a:rPr lang="en-US" sz="2000" kern="1200">
                <a:solidFill>
                  <a:schemeClr val="dk1"/>
                </a:solidFill>
                <a:latin typeface="Aptos"/>
                <a:ea typeface="Calibri"/>
                <a:cs typeface="Calibri"/>
              </a:rPr>
              <a:t>insurance.</a:t>
            </a:r>
          </a:p>
          <a:p>
            <a:pPr marL="228600" indent="-228600">
              <a:buFont typeface="Arial"/>
              <a:buChar char="•"/>
            </a:pPr>
            <a:r>
              <a:rPr lang="en-US" sz="2000">
                <a:latin typeface="Aptos" panose="020B0004020202020204" pitchFamily="34" charset="0"/>
                <a:ea typeface="Calibri"/>
                <a:cs typeface="Calibri"/>
              </a:rPr>
              <a:t>Satellite remote sensing, picture-based monitoring, and crop analytics as basis for loan recommendations</a:t>
            </a:r>
            <a:r>
              <a:rPr lang="en-US" sz="2000" kern="12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C40DB4-3B84-42BE-ED57-D35B0190E2BB}"/>
              </a:ext>
            </a:extLst>
          </p:cNvPr>
          <p:cNvSpPr txBox="1"/>
          <p:nvPr/>
        </p:nvSpPr>
        <p:spPr>
          <a:xfrm>
            <a:off x="6086800" y="1606336"/>
            <a:ext cx="5718690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000" b="1" kern="1200">
                <a:solidFill>
                  <a:srgbClr val="00B0F0"/>
                </a:solidFill>
                <a:latin typeface="Aptos" panose="020B0004020202020204" pitchFamily="34" charset="0"/>
                <a:ea typeface="Calibri"/>
                <a:cs typeface="Calibri"/>
              </a:rPr>
              <a:t>ACRE Africa – Kenya</a:t>
            </a:r>
          </a:p>
          <a:p>
            <a:r>
              <a:rPr lang="en-US" sz="20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</a:rPr>
              <a:t>Social enterprise that designs and implements risk management solutions for smallholder farmers</a:t>
            </a:r>
            <a:endParaRPr lang="en-US" sz="2000" b="1">
              <a:solidFill>
                <a:srgbClr val="00B0F0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pPr marL="0" indent="0" algn="l" rtl="0"/>
            <a:r>
              <a:rPr lang="en-US" sz="2000" b="1" kern="1200">
                <a:solidFill>
                  <a:srgbClr val="00B050"/>
                </a:solidFill>
                <a:latin typeface="Aptos" panose="020B0004020202020204" pitchFamily="34" charset="0"/>
                <a:ea typeface="Calibri"/>
                <a:cs typeface="Calibri"/>
              </a:rPr>
              <a:t>Current operations</a:t>
            </a:r>
          </a:p>
          <a:p>
            <a:pPr marL="228600" indent="-228600" algn="l" rtl="0">
              <a:buFont typeface="Arial,Sans-Serif"/>
              <a:buChar char="•"/>
            </a:pPr>
            <a:r>
              <a:rPr lang="en-US" sz="2000" kern="1200">
                <a:latin typeface="Aptos" panose="020B0004020202020204" pitchFamily="34" charset="0"/>
                <a:ea typeface="Calibri"/>
                <a:cs typeface="Calibri"/>
              </a:rPr>
              <a:t>Integrates remote sensing, climate data, and picture-based crop monitoring.</a:t>
            </a:r>
          </a:p>
          <a:p>
            <a:pPr marL="228600" indent="-228600" algn="l" rtl="0">
              <a:buFont typeface="Arial,Sans-Serif"/>
              <a:buChar char="•"/>
            </a:pPr>
            <a:r>
              <a:rPr lang="en-US" sz="2000" kern="1200">
                <a:latin typeface="Aptos" panose="020B0004020202020204" pitchFamily="34" charset="0"/>
                <a:ea typeface="Calibri"/>
                <a:cs typeface="Calibri"/>
              </a:rPr>
              <a:t>Lenders receive location, crop and seed specific ratings to make precise lending decisions.</a:t>
            </a:r>
          </a:p>
          <a:p>
            <a:pPr marL="228600" indent="-228600">
              <a:buFont typeface="Arial,Sans-Serif"/>
              <a:buChar char="•"/>
            </a:pPr>
            <a:r>
              <a:rPr lang="en-US" sz="2000" kern="1200">
                <a:latin typeface="Aptos"/>
                <a:ea typeface="Calibri"/>
                <a:cs typeface="Calibri"/>
              </a:rPr>
              <a:t>Partners with banks </a:t>
            </a:r>
            <a:r>
              <a:rPr lang="en-US" sz="2000">
                <a:latin typeface="Aptos"/>
                <a:ea typeface="Calibri"/>
                <a:cs typeface="Calibri"/>
              </a:rPr>
              <a:t>and MFIs to</a:t>
            </a:r>
            <a:r>
              <a:rPr lang="en-US" sz="2000" kern="1200">
                <a:latin typeface="Aptos"/>
                <a:ea typeface="Calibri"/>
                <a:cs typeface="Calibri"/>
              </a:rPr>
              <a:t> deliver credit + insurance bundles to smallholders.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FFC1F7-81B3-89B1-8A3D-355D90E86CD2}"/>
              </a:ext>
            </a:extLst>
          </p:cNvPr>
          <p:cNvSpPr txBox="1"/>
          <p:nvPr/>
        </p:nvSpPr>
        <p:spPr>
          <a:xfrm>
            <a:off x="386509" y="5014667"/>
            <a:ext cx="11418981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CGIAR Science Programs linked with the innovation: Breeding for Tomorrow, Gender Accelerator, Climate 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S4I intervention demanded by these partners to meet their scaling goals for the solutions, leveraging both partners' existing operations.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Scaling pathway is developed based on past experience and successes with the partners.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A26D5FE-1A15-820E-8E8C-250FAE3CB960}"/>
              </a:ext>
            </a:extLst>
          </p:cNvPr>
          <p:cNvSpPr txBox="1">
            <a:spLocks/>
          </p:cNvSpPr>
          <p:nvPr/>
        </p:nvSpPr>
        <p:spPr>
          <a:xfrm>
            <a:off x="340092" y="1084207"/>
            <a:ext cx="10898188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Demand partners</a:t>
            </a:r>
          </a:p>
        </p:txBody>
      </p:sp>
    </p:spTree>
    <p:extLst>
      <p:ext uri="{BB962C8B-B14F-4D97-AF65-F5344CB8AC3E}">
        <p14:creationId xmlns:p14="http://schemas.microsoft.com/office/powerpoint/2010/main" val="3076535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E6B6A-5C79-2FF4-1696-99F7C3930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94BDB03-F00B-4395-8FE8-B81956A412BC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Key scaling partners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52A8F77-491E-B359-65EC-B27AC094736E}"/>
              </a:ext>
            </a:extLst>
          </p:cNvPr>
          <p:cNvSpPr txBox="1">
            <a:spLocks/>
          </p:cNvSpPr>
          <p:nvPr/>
        </p:nvSpPr>
        <p:spPr>
          <a:xfrm>
            <a:off x="344632" y="1222231"/>
            <a:ext cx="10898188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Scaling partners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674898-C6B6-B9BE-87E9-CBC494901325}"/>
              </a:ext>
            </a:extLst>
          </p:cNvPr>
          <p:cNvSpPr txBox="1"/>
          <p:nvPr/>
        </p:nvSpPr>
        <p:spPr>
          <a:xfrm>
            <a:off x="344632" y="1730201"/>
            <a:ext cx="11180725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Institutional customers include social investors, microfinance institutions (MFIs), banks, and insurers </a:t>
            </a:r>
            <a:r>
              <a:rPr lang="en-US" sz="2000" b="1"/>
              <a:t>to finance and underwrite the 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Aggregators such as MFIs (Kenya) and farm producer organizations (FPOs, India) to offer a </a:t>
            </a:r>
            <a:r>
              <a:rPr lang="en-US" sz="2000" b="1"/>
              <a:t>mechanism for onboarding farmers and accelerate demand.</a:t>
            </a:r>
            <a:endParaRPr lang="en-US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144A2C-E342-BC40-3C40-DB811D4D8717}"/>
              </a:ext>
            </a:extLst>
          </p:cNvPr>
          <p:cNvSpPr txBox="1"/>
          <p:nvPr/>
        </p:nvSpPr>
        <p:spPr>
          <a:xfrm>
            <a:off x="344631" y="3435014"/>
            <a:ext cx="11180725" cy="29854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/>
              <a:t>Why working with these partners?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Social investors, MFIs, banks and insurers are looking for ways to reduce risk in new markets to unlock new investment opportunities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Aggregators are looking for this solution as it helps improve their farmers' incomes and wellbeing; and increases demand for the services offered by aggregators.</a:t>
            </a:r>
          </a:p>
          <a:p>
            <a:endParaRPr lang="en-US" sz="2000"/>
          </a:p>
          <a:p>
            <a:pPr>
              <a:buFont typeface="Arial" panose="020B0604020202020204" pitchFamily="34" charset="0"/>
            </a:pPr>
            <a:r>
              <a:rPr lang="en-US" sz="2400" b="1"/>
              <a:t>How partners will be motivated: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Training of key staff on benefits, including  evidence from past research on impacts of solution.</a:t>
            </a:r>
            <a:endParaRPr lang="en-US" sz="20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MELIA strategy will track beliefs and attitudes of aggregator staff to monitor their buy-in.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356634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EC7F3-DD5C-3AF2-228C-30B214D21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EE188-355E-33A4-75B4-E4B1A0EB7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081" y="1367942"/>
            <a:ext cx="11444051" cy="522322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lvl="0">
              <a:lnSpc>
                <a:spcPct val="110000"/>
              </a:lnSpc>
            </a:pPr>
            <a:r>
              <a:rPr lang="en-US"/>
              <a:t>The bundle is being scaled in Kenya and India</a:t>
            </a:r>
          </a:p>
          <a:p>
            <a:pPr>
              <a:lnSpc>
                <a:spcPct val="110000"/>
              </a:lnSpc>
            </a:pPr>
            <a:r>
              <a:rPr lang="en-US"/>
              <a:t>Designed to show business case for reaching the last mile in a sustained way</a:t>
            </a:r>
          </a:p>
          <a:p>
            <a:pPr lvl="1">
              <a:lnSpc>
                <a:spcPct val="110000"/>
              </a:lnSpc>
            </a:pPr>
            <a:r>
              <a:rPr lang="en-US"/>
              <a:t>Targeting groups traditionally left out by formal credit schemes using technology, de-risking, and learning from prior research and current operations</a:t>
            </a:r>
          </a:p>
          <a:p>
            <a:pPr>
              <a:lnSpc>
                <a:spcPct val="110000"/>
              </a:lnSpc>
            </a:pPr>
            <a:r>
              <a:rPr lang="en-US"/>
              <a:t>Who is paying and supporting the pathway?</a:t>
            </a:r>
          </a:p>
          <a:p>
            <a:pPr lvl="1">
              <a:lnSpc>
                <a:spcPct val="110000"/>
              </a:lnSpc>
            </a:pPr>
            <a:r>
              <a:rPr lang="en-US"/>
              <a:t>Smallholder farmers ultimately pay for the bundled digital financial services through loan interest payments (10% of loan value in India) and insurance premiums. </a:t>
            </a:r>
          </a:p>
          <a:p>
            <a:pPr lvl="1">
              <a:lnSpc>
                <a:spcPct val="110000"/>
              </a:lnSpc>
            </a:pPr>
            <a:r>
              <a:rPr lang="en-US"/>
              <a:t>Lending partners and insurance underwriters play a role in the scaling pathway. </a:t>
            </a:r>
          </a:p>
          <a:p>
            <a:pPr>
              <a:lnSpc>
                <a:spcPct val="110000"/>
              </a:lnSpc>
            </a:pPr>
            <a:r>
              <a:rPr lang="en-US"/>
              <a:t>The scaling pathway involves de-risking through smart subsidies and First Loss Default Guarantees (FLDGs) , which are phased out over time.</a:t>
            </a:r>
          </a:p>
          <a:p>
            <a:pPr lvl="1">
              <a:lnSpc>
                <a:spcPct val="110000"/>
              </a:lnSpc>
            </a:pPr>
            <a:r>
              <a:rPr lang="en-US"/>
              <a:t>Alternative: public-private partnerships with government but demand partners expressed concerns over working in context of national schemes.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50DB43-0111-488C-0925-7C1712F84ED9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chemeClr val="bg1"/>
                </a:solidFill>
              </a:rPr>
              <a:t>Scaling Track Overview: Clarify the scaling pathway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245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184F6-F4B8-6054-41CF-A192FBDFE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BCB84-91FB-FE3A-B0E4-6D698056A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82" y="937822"/>
            <a:ext cx="11344847" cy="343841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600" b="1"/>
              <a:t>Specific activities funded by S4I, building on past projects (ACIAR, IDRC, NWO, 3ie, Big Data Platform, PIM, CCAFS):</a:t>
            </a:r>
          </a:p>
          <a:p>
            <a:pPr lvl="1">
              <a:lnSpc>
                <a:spcPct val="110000"/>
              </a:lnSpc>
            </a:pPr>
            <a:r>
              <a:rPr lang="en-US" sz="1400"/>
              <a:t>Service deployment and scaling: KhetScore (Dvara E-Registry) and TARA platform (ACRE Africa)</a:t>
            </a:r>
          </a:p>
          <a:p>
            <a:pPr lvl="1">
              <a:lnSpc>
                <a:spcPct val="110000"/>
              </a:lnSpc>
            </a:pPr>
            <a:r>
              <a:rPr lang="en-US" sz="1400"/>
              <a:t>Partner and field staff training on the solution's design and value proposition, inclusive farmer onboarding, and procedures.</a:t>
            </a:r>
          </a:p>
          <a:p>
            <a:pPr lvl="1">
              <a:lnSpc>
                <a:spcPct val="110000"/>
              </a:lnSpc>
            </a:pPr>
            <a:r>
              <a:rPr lang="en-US" sz="1400"/>
              <a:t>Targeted outreach to ensure participation of women, youth, and marginalized farmers – and data reporting disaggregated by these groups. </a:t>
            </a:r>
          </a:p>
          <a:p>
            <a:pPr lvl="1">
              <a:lnSpc>
                <a:spcPct val="110000"/>
              </a:lnSpc>
            </a:pPr>
            <a:r>
              <a:rPr lang="en-US" sz="1400"/>
              <a:t>Technology enhancements in partnership with CGIAR researchers</a:t>
            </a:r>
          </a:p>
          <a:p>
            <a:pPr lvl="1">
              <a:lnSpc>
                <a:spcPct val="110000"/>
              </a:lnSpc>
            </a:pPr>
            <a:r>
              <a:rPr lang="en-US" sz="1400"/>
              <a:t>Monitoring, evaluation, and learning – tracking progress on adoption, inclusion, and financial leverage. </a:t>
            </a:r>
          </a:p>
          <a:p>
            <a:pPr>
              <a:lnSpc>
                <a:spcPct val="110000"/>
              </a:lnSpc>
            </a:pPr>
            <a:r>
              <a:rPr lang="en-US" sz="1600" b="1"/>
              <a:t>Specific</a:t>
            </a:r>
            <a:r>
              <a:rPr lang="en-US" sz="1600" b="1" i="1" u="sng"/>
              <a:t> </a:t>
            </a:r>
            <a:r>
              <a:rPr lang="en-US" sz="1600" b="1"/>
              <a:t>bilateral projects these activities may build on in the future:</a:t>
            </a:r>
          </a:p>
          <a:p>
            <a:pPr lvl="1">
              <a:lnSpc>
                <a:spcPct val="110000"/>
              </a:lnSpc>
            </a:pPr>
            <a:r>
              <a:rPr lang="en-US" sz="1400"/>
              <a:t> </a:t>
            </a:r>
            <a:r>
              <a:rPr lang="en-US" sz="1400">
                <a:solidFill>
                  <a:srgbClr val="000000"/>
                </a:solidFill>
                <a:latin typeface="Aptos"/>
                <a:cs typeface="Segoe UI"/>
              </a:rPr>
              <a:t>ACRE Africa is in advanced discussions with FEXTE to support its TARA operations in multiple countries in Africa. </a:t>
            </a:r>
            <a:endParaRPr lang="en-US" sz="1400">
              <a:solidFill>
                <a:srgbClr val="000000"/>
              </a:solidFill>
              <a:latin typeface="Aptos"/>
            </a:endParaRPr>
          </a:p>
          <a:p>
            <a:pPr lvl="1">
              <a:lnSpc>
                <a:spcPct val="11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cs typeface="Segoe UI"/>
              </a:rPr>
              <a:t>NWO Senior Expert Program application by Francesco Cecchi around this scaling initiative. </a:t>
            </a:r>
          </a:p>
          <a:p>
            <a:pPr lvl="1">
              <a:lnSpc>
                <a:spcPct val="11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cs typeface="Segoe UI"/>
              </a:rPr>
              <a:t>Dvara E-Registry is in the second round of the selection of ideas for the Global Innovation Lab </a:t>
            </a:r>
          </a:p>
          <a:p>
            <a:pPr lvl="1">
              <a:lnSpc>
                <a:spcPct val="11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cs typeface="Segoe UI"/>
              </a:rPr>
              <a:t>Climate Change AI: Tentative funding to advance AI around the image processing piece</a:t>
            </a:r>
            <a:endParaRPr lang="en-US" sz="1400">
              <a:cs typeface="Segoe UI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n-US" sz="1400">
              <a:cs typeface="Segoe UI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n-US" sz="1400">
              <a:highlight>
                <a:srgbClr val="FFFF00"/>
              </a:highlight>
              <a:cs typeface="Segoe U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9A99E87-BB07-FA81-5AF4-BD6C4A571057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chemeClr val="bg1"/>
                </a:solidFill>
              </a:rPr>
              <a:t>Scaling Track Overview: Specify S4I Investments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3C4A54C-9AEC-DA67-F928-9D9948836629}"/>
              </a:ext>
            </a:extLst>
          </p:cNvPr>
          <p:cNvCxnSpPr/>
          <p:nvPr/>
        </p:nvCxnSpPr>
        <p:spPr>
          <a:xfrm>
            <a:off x="242838" y="4532304"/>
            <a:ext cx="11710563" cy="880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DDA87FE-6ECE-D4EA-93B9-67F7B9BDC8A7}"/>
              </a:ext>
            </a:extLst>
          </p:cNvPr>
          <p:cNvSpPr txBox="1"/>
          <p:nvPr/>
        </p:nvSpPr>
        <p:spPr>
          <a:xfrm>
            <a:off x="632209" y="4747582"/>
            <a:ext cx="3292611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,Sans-Serif"/>
              <a:buChar char="•"/>
            </a:pPr>
            <a:r>
              <a:rPr lang="en-US" sz="1400">
                <a:solidFill>
                  <a:srgbClr val="000000"/>
                </a:solidFill>
                <a:latin typeface="Aptos"/>
                <a:cs typeface="Segoe UI"/>
              </a:rPr>
              <a:t>Formalize the two partnerships </a:t>
            </a:r>
          </a:p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Aptos"/>
                <a:cs typeface="Segoe UI"/>
              </a:rPr>
              <a:t>Train partnering financial institutions </a:t>
            </a:r>
          </a:p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Aptos"/>
                <a:cs typeface="Segoe UI"/>
              </a:rPr>
              <a:t>Dvara and ACRE provide the bundle (15,000 farmers/loan disbursements of at least $6,000,000)</a:t>
            </a:r>
          </a:p>
          <a:p>
            <a:pPr algn="ctr"/>
            <a:endParaRPr lang="en-US" sz="1400">
              <a:solidFill>
                <a:srgbClr val="000000"/>
              </a:solidFill>
              <a:latin typeface="Aptos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623197-BF90-970A-0404-66485AFBB462}"/>
              </a:ext>
            </a:extLst>
          </p:cNvPr>
          <p:cNvSpPr txBox="1"/>
          <p:nvPr/>
        </p:nvSpPr>
        <p:spPr>
          <a:xfrm>
            <a:off x="4493416" y="4727888"/>
            <a:ext cx="2888079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Aptos"/>
                <a:cs typeface="Segoe UI"/>
              </a:rPr>
              <a:t>30,000 additional farmers reached $8,000,000 of loans disbursed and protected</a:t>
            </a:r>
          </a:p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Aptos"/>
                <a:cs typeface="Segoe UI"/>
              </a:rPr>
              <a:t>Monitoring, evaluation and learning  for impact stories </a:t>
            </a: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D8B58E-41F8-1F0F-FF3C-4CC108F603D8}"/>
              </a:ext>
            </a:extLst>
          </p:cNvPr>
          <p:cNvSpPr txBox="1"/>
          <p:nvPr/>
        </p:nvSpPr>
        <p:spPr>
          <a:xfrm>
            <a:off x="8344776" y="4799774"/>
            <a:ext cx="3591388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Aptos"/>
                <a:cs typeface="Segoe UI"/>
              </a:rPr>
              <a:t>45,000 additional farmers reached $11,000,000 in loans  </a:t>
            </a:r>
          </a:p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Aptos"/>
                <a:cs typeface="Segoe UI"/>
              </a:rPr>
              <a:t>Two new partnerships with financial institutions established -&gt; expansion</a:t>
            </a:r>
          </a:p>
          <a:p>
            <a:pPr marL="171450" indent="-171450">
              <a:buFont typeface="Arial"/>
              <a:buChar char="•"/>
            </a:pPr>
            <a:endParaRPr lang="en-US" sz="1400">
              <a:solidFill>
                <a:srgbClr val="000000"/>
              </a:solidFill>
              <a:latin typeface="Aptos"/>
              <a:cs typeface="Segoe UI"/>
            </a:endParaRPr>
          </a:p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D4FE9-05DD-E230-D566-6B899E1BBE0F}"/>
              </a:ext>
            </a:extLst>
          </p:cNvPr>
          <p:cNvSpPr txBox="1"/>
          <p:nvPr/>
        </p:nvSpPr>
        <p:spPr>
          <a:xfrm>
            <a:off x="1493670" y="4145704"/>
            <a:ext cx="300624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2026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D49CC5-22BE-A5C5-5B4F-7371112E571E}"/>
              </a:ext>
            </a:extLst>
          </p:cNvPr>
          <p:cNvSpPr txBox="1"/>
          <p:nvPr/>
        </p:nvSpPr>
        <p:spPr>
          <a:xfrm>
            <a:off x="4932220" y="4150824"/>
            <a:ext cx="300624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2027</a:t>
            </a:r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14BD52-D277-E368-EF6D-56762E6E8699}"/>
              </a:ext>
            </a:extLst>
          </p:cNvPr>
          <p:cNvSpPr txBox="1"/>
          <p:nvPr/>
        </p:nvSpPr>
        <p:spPr>
          <a:xfrm>
            <a:off x="9185752" y="4107691"/>
            <a:ext cx="300624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2028</a:t>
            </a: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A94A6B-F9B8-C2CE-3596-48501141A7D1}"/>
              </a:ext>
            </a:extLst>
          </p:cNvPr>
          <p:cNvSpPr txBox="1"/>
          <p:nvPr/>
        </p:nvSpPr>
        <p:spPr>
          <a:xfrm>
            <a:off x="6742982" y="6121710"/>
            <a:ext cx="244415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Aptos"/>
                <a:ea typeface="Segoe UI"/>
                <a:cs typeface="Segoe UI"/>
              </a:rPr>
              <a:t>Communications around milestones and impacts achieved</a:t>
            </a:r>
            <a:r>
              <a:rPr lang="en-US" sz="1400">
                <a:solidFill>
                  <a:srgbClr val="000000"/>
                </a:solidFill>
                <a:latin typeface="Aptos"/>
                <a:cs typeface="Segoe UI"/>
              </a:rPr>
              <a:t> in 2027</a:t>
            </a:r>
          </a:p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05E1D9-24FC-CC28-B6FE-08F62E76FDEC}"/>
              </a:ext>
            </a:extLst>
          </p:cNvPr>
          <p:cNvCxnSpPr/>
          <p:nvPr/>
        </p:nvCxnSpPr>
        <p:spPr>
          <a:xfrm>
            <a:off x="7460419" y="4530079"/>
            <a:ext cx="12313" cy="1485461"/>
          </a:xfrm>
          <a:prstGeom prst="straightConnector1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FEA7E71-D7CC-0904-0205-9A977A21FAD7}"/>
              </a:ext>
            </a:extLst>
          </p:cNvPr>
          <p:cNvSpPr txBox="1"/>
          <p:nvPr/>
        </p:nvSpPr>
        <p:spPr>
          <a:xfrm>
            <a:off x="10137257" y="6131700"/>
            <a:ext cx="253041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Aptos"/>
                <a:ea typeface="Segoe UI"/>
                <a:cs typeface="Segoe UI"/>
              </a:rPr>
              <a:t>Communications around milestones and impacts achieved</a:t>
            </a:r>
            <a:r>
              <a:rPr lang="en-US" sz="1400">
                <a:solidFill>
                  <a:srgbClr val="000000"/>
                </a:solidFill>
                <a:latin typeface="Aptos"/>
                <a:cs typeface="Segoe UI"/>
              </a:rPr>
              <a:t> in 2028</a:t>
            </a:r>
          </a:p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E97FF74-60D9-60EB-6367-97C00E67A783}"/>
              </a:ext>
            </a:extLst>
          </p:cNvPr>
          <p:cNvCxnSpPr>
            <a:cxnSpLocks/>
          </p:cNvCxnSpPr>
          <p:nvPr/>
        </p:nvCxnSpPr>
        <p:spPr>
          <a:xfrm>
            <a:off x="11489004" y="4530078"/>
            <a:ext cx="12313" cy="1489847"/>
          </a:xfrm>
          <a:prstGeom prst="straightConnector1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91B507D-68E6-E28C-1650-2351A3A88C41}"/>
              </a:ext>
            </a:extLst>
          </p:cNvPr>
          <p:cNvSpPr txBox="1"/>
          <p:nvPr/>
        </p:nvSpPr>
        <p:spPr>
          <a:xfrm>
            <a:off x="503209" y="6117566"/>
            <a:ext cx="248728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Aptos"/>
                <a:ea typeface="Segoe UI"/>
                <a:cs typeface="Segoe UI"/>
              </a:rPr>
              <a:t>Publishing outcome story on IFPRI-Dvara collaboration (including video material)</a:t>
            </a:r>
            <a:endParaRPr lang="en-US" sz="1400">
              <a:solidFill>
                <a:srgbClr val="333333"/>
              </a:solidFill>
              <a:cs typeface="Segoe U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A9ADC0-64CF-7DD6-77E9-C1643ED3ECE4}"/>
              </a:ext>
            </a:extLst>
          </p:cNvPr>
          <p:cNvSpPr txBox="1"/>
          <p:nvPr/>
        </p:nvSpPr>
        <p:spPr>
          <a:xfrm>
            <a:off x="3309715" y="6134624"/>
            <a:ext cx="245852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Aptos"/>
                <a:ea typeface="Segoe UI"/>
                <a:cs typeface="Segoe UI"/>
              </a:rPr>
              <a:t>Outcome story on IFPRI-ACRE collaboration (leverage Lexicon work?)</a:t>
            </a:r>
            <a:endParaRPr lang="en-US" sz="1400">
              <a:solidFill>
                <a:srgbClr val="333333"/>
              </a:solidFill>
              <a:cs typeface="Segoe U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57640A-BDE6-3B8F-F7BA-4F56925BFC23}"/>
              </a:ext>
            </a:extLst>
          </p:cNvPr>
          <p:cNvSpPr txBox="1"/>
          <p:nvPr/>
        </p:nvSpPr>
        <p:spPr>
          <a:xfrm>
            <a:off x="287547" y="4147868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Aptos"/>
              </a:rPr>
              <a:t>Timeline</a:t>
            </a:r>
            <a:endParaRPr lang="en-US"/>
          </a:p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469C73A-6D32-4662-2A7F-6C8A5881ECB7}"/>
              </a:ext>
            </a:extLst>
          </p:cNvPr>
          <p:cNvCxnSpPr>
            <a:cxnSpLocks/>
          </p:cNvCxnSpPr>
          <p:nvPr/>
        </p:nvCxnSpPr>
        <p:spPr>
          <a:xfrm flipH="1">
            <a:off x="3838184" y="4542994"/>
            <a:ext cx="13517" cy="1452807"/>
          </a:xfrm>
          <a:prstGeom prst="straightConnector1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800053-7CC3-3C13-770C-FFF18FA15171}"/>
              </a:ext>
            </a:extLst>
          </p:cNvPr>
          <p:cNvCxnSpPr>
            <a:cxnSpLocks/>
          </p:cNvCxnSpPr>
          <p:nvPr/>
        </p:nvCxnSpPr>
        <p:spPr>
          <a:xfrm>
            <a:off x="875588" y="4514240"/>
            <a:ext cx="860" cy="230733"/>
          </a:xfrm>
          <a:prstGeom prst="straightConnector1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B2D143-37F3-75E6-F942-FE1FBDB6195B}"/>
              </a:ext>
            </a:extLst>
          </p:cNvPr>
          <p:cNvCxnSpPr>
            <a:cxnSpLocks/>
          </p:cNvCxnSpPr>
          <p:nvPr/>
        </p:nvCxnSpPr>
        <p:spPr>
          <a:xfrm>
            <a:off x="875588" y="5808201"/>
            <a:ext cx="860" cy="331374"/>
          </a:xfrm>
          <a:prstGeom prst="straightConnector1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8444815-1DAF-13EB-6DA1-2CFCE3DD0118}"/>
              </a:ext>
            </a:extLst>
          </p:cNvPr>
          <p:cNvSpPr txBox="1"/>
          <p:nvPr/>
        </p:nvSpPr>
        <p:spPr>
          <a:xfrm rot="-5400000">
            <a:off x="-158150" y="5995250"/>
            <a:ext cx="113581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solidFill>
                  <a:srgbClr val="333333"/>
                </a:solidFill>
                <a:latin typeface="Aptos"/>
              </a:rPr>
              <a:t>Communic</a:t>
            </a:r>
            <a:r>
              <a:rPr lang="en-US" sz="1400">
                <a:solidFill>
                  <a:srgbClr val="333333"/>
                </a:solidFill>
                <a:latin typeface="Aptos"/>
              </a:rPr>
              <a:t>.</a:t>
            </a:r>
            <a:endParaRPr lang="en-US" sz="1400">
              <a:solidFill>
                <a:srgbClr val="333333"/>
              </a:solidFill>
            </a:endParaRPr>
          </a:p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1E22C7-A0F3-6A6D-C712-12EDE4C7AF81}"/>
              </a:ext>
            </a:extLst>
          </p:cNvPr>
          <p:cNvSpPr txBox="1"/>
          <p:nvPr/>
        </p:nvSpPr>
        <p:spPr>
          <a:xfrm rot="-5400000">
            <a:off x="-158150" y="4744419"/>
            <a:ext cx="113581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Aptos"/>
              </a:rPr>
              <a:t>Activities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59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6D748-4A75-8AFA-53FF-211323C9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380CB6B-40DA-D79F-0E9A-4ADE34AD1781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Implementation Gantt Chart</a:t>
            </a: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E342FD33-C47C-AD62-4BBE-3B7E2DC643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001231"/>
              </p:ext>
            </p:extLst>
          </p:nvPr>
        </p:nvGraphicFramePr>
        <p:xfrm>
          <a:off x="148824" y="1115973"/>
          <a:ext cx="11458572" cy="534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375743" imgH="3905250" progId="Excel.Sheet.12">
                  <p:embed/>
                </p:oleObj>
              </mc:Choice>
              <mc:Fallback>
                <p:oleObj name="Worksheet" r:id="rId2" imgW="8375743" imgH="3905250" progId="Excel.Sheet.12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E342FD33-C47C-AD62-4BBE-3B7E2DC643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8824" y="1115973"/>
                        <a:ext cx="11458572" cy="534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3649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64530-D490-FCAE-FD16-4CE7A8C64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997AEDA-8CC9-5013-EDC7-636485EC77E7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ea typeface="+mj-lt"/>
                <a:cs typeface="+mj-lt"/>
              </a:rPr>
              <a:t>Scaling Pathway(s)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BD19BE3-19FC-D5A0-6420-DCEC849444BF}"/>
              </a:ext>
            </a:extLst>
          </p:cNvPr>
          <p:cNvSpPr txBox="1">
            <a:spLocks/>
          </p:cNvSpPr>
          <p:nvPr/>
        </p:nvSpPr>
        <p:spPr>
          <a:xfrm>
            <a:off x="344632" y="1222231"/>
            <a:ext cx="10898188" cy="8239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Theory of scaling and change</a:t>
            </a:r>
            <a:endParaRPr lang="en-US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BDECF6DD-5497-E362-5574-9C8631420014}"/>
              </a:ext>
            </a:extLst>
          </p:cNvPr>
          <p:cNvSpPr txBox="1">
            <a:spLocks/>
          </p:cNvSpPr>
          <p:nvPr/>
        </p:nvSpPr>
        <p:spPr>
          <a:xfrm>
            <a:off x="292679" y="2335604"/>
            <a:ext cx="11556278" cy="402438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Theory of change:</a:t>
            </a:r>
            <a:r>
              <a:rPr lang="en-US"/>
              <a:t> bundled credit and insurance reduces risk for farmers and financial service providers to enable access to credit and stimulate use of agricultural innovations that bolster climate adaptation at scale. </a:t>
            </a:r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Theory </a:t>
            </a:r>
            <a:r>
              <a:rPr lang="en-US" b="1"/>
              <a:t>of action:</a:t>
            </a:r>
            <a:r>
              <a:rPr lang="en-US"/>
              <a:t> contributing to technical advances, developing the capacity of field staff, and monitoring impacts are key to scaling </a:t>
            </a:r>
            <a:r>
              <a:rPr lang="en-US">
                <a:ea typeface="+mn-lt"/>
                <a:cs typeface="+mn-lt"/>
              </a:rPr>
              <a:t>and catalyzing the high-level theory of change.</a:t>
            </a:r>
            <a:endParaRPr lang="en-US"/>
          </a:p>
          <a:p>
            <a:r>
              <a:rPr lang="en-US"/>
              <a:t>Chosen pathway reflects decisions based on past, well-document successes at a smaller scale. 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449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BB0B5-D8A4-7F5E-0408-897AD6366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B2AC76D-E8AD-5723-2427-B77C4A66C2D8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Bilateral projects and </a:t>
            </a:r>
            <a:r>
              <a:rPr lang="en-US" sz="2800" err="1">
                <a:solidFill>
                  <a:schemeClr val="bg1"/>
                </a:solidFill>
              </a:rPr>
              <a:t>S4I</a:t>
            </a:r>
            <a:r>
              <a:rPr lang="en-US" sz="2800">
                <a:solidFill>
                  <a:schemeClr val="bg1"/>
                </a:solidFill>
              </a:rPr>
              <a:t> additionality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F28A78-EA95-72BE-46B0-7EE9ECD55134}"/>
              </a:ext>
            </a:extLst>
          </p:cNvPr>
          <p:cNvSpPr txBox="1"/>
          <p:nvPr/>
        </p:nvSpPr>
        <p:spPr>
          <a:xfrm>
            <a:off x="571500" y="1432610"/>
            <a:ext cx="10819162" cy="51398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Scaling is led by private-sector partners (Dvara in India, ACRE in Kenya) through commercially viable </a:t>
            </a:r>
            <a:r>
              <a:rPr lang="en-US" sz="2400" err="1"/>
              <a:t>agri</a:t>
            </a:r>
            <a:r>
              <a:rPr lang="en-US" sz="2400"/>
              <a:t>-finance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S4I acts as a catalytic accelerator, not a substitute for private investment. 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The project leverages completed bilateral projects that allowed testing and evaluating the solutions through RCTs.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We expect crowding in additional bilateral finance rather than leveraging currently ongoing bilateral projects.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S4I unlocks new </a:t>
            </a:r>
            <a:r>
              <a:rPr lang="en-US" sz="2400" err="1"/>
              <a:t>agri</a:t>
            </a:r>
            <a:r>
              <a:rPr lang="en-US" sz="2400"/>
              <a:t>-finance markets through de-risking previously overlooked groups: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accelerates scale beyond commercial-only growth trajectories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embeds climate intelligence into rural finance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ensures effective, inclusive last-mile delivery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strengthens evidence base for even further scaling to other contexts. </a:t>
            </a:r>
          </a:p>
        </p:txBody>
      </p:sp>
    </p:spTree>
    <p:extLst>
      <p:ext uri="{BB962C8B-B14F-4D97-AF65-F5344CB8AC3E}">
        <p14:creationId xmlns:p14="http://schemas.microsoft.com/office/powerpoint/2010/main" val="4062402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F5C4C-5C0B-2A75-E12A-3744932AB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99002A4-E5F7-BDB9-E234-1BBFBF1E3C51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PRMS evidence and reference materials 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1EDDFF7-AB2C-D597-B331-77D83F2DFD8C}"/>
              </a:ext>
            </a:extLst>
          </p:cNvPr>
          <p:cNvSpPr txBox="1">
            <a:spLocks/>
          </p:cNvSpPr>
          <p:nvPr/>
        </p:nvSpPr>
        <p:spPr>
          <a:xfrm>
            <a:off x="247574" y="1657351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PRMS linkages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CF02D37-341A-FD2B-B3C0-31FB6164B018}"/>
              </a:ext>
            </a:extLst>
          </p:cNvPr>
          <p:cNvSpPr txBox="1">
            <a:spLocks/>
          </p:cNvSpPr>
          <p:nvPr/>
        </p:nvSpPr>
        <p:spPr>
          <a:xfrm>
            <a:off x="72949" y="2279006"/>
            <a:ext cx="5157787" cy="368458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The solution itself is not in PRMS as an initiative or Science Program innovation (earlier work funded through bilateral projects); only derivatives.</a:t>
            </a:r>
            <a:endParaRPr lang="en-US"/>
          </a:p>
          <a:p>
            <a:r>
              <a:rPr lang="en-US" sz="2000"/>
              <a:t>To discuss: add innovation as part of 2025 or 2026 reporting, to facilitate tracking of the innovation moving forward.</a:t>
            </a:r>
            <a:endParaRPr lang="en-US"/>
          </a:p>
          <a:p>
            <a:r>
              <a:rPr lang="en-US" sz="2000"/>
              <a:t>Documentation of the solution as part of the TAAT catalogue as well in Q1 2026.</a:t>
            </a:r>
          </a:p>
          <a:p>
            <a:pPr marL="0" indent="0">
              <a:buNone/>
            </a:pPr>
            <a:endParaRPr lang="en-US" sz="2000" i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A38957B-90DA-885B-D9A0-41893AC7FBB3}"/>
              </a:ext>
            </a:extLst>
          </p:cNvPr>
          <p:cNvSpPr txBox="1">
            <a:spLocks/>
          </p:cNvSpPr>
          <p:nvPr/>
        </p:nvSpPr>
        <p:spPr>
          <a:xfrm>
            <a:off x="5579986" y="1547813"/>
            <a:ext cx="5183188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Other evidence and reference materials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EF57EE5-9B75-1534-A6AF-3DA6ED3E8A14}"/>
              </a:ext>
            </a:extLst>
          </p:cNvPr>
          <p:cNvSpPr txBox="1">
            <a:spLocks/>
          </p:cNvSpPr>
          <p:nvPr/>
        </p:nvSpPr>
        <p:spPr>
          <a:xfrm>
            <a:off x="5576810" y="2371725"/>
            <a:ext cx="6367616" cy="368458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i="1"/>
          </a:p>
          <a:p>
            <a:pPr lvl="0"/>
            <a:r>
              <a:rPr lang="en-US" sz="1100"/>
              <a:t>Ceballos, F., Kramer, B., and Robles, M. (2019). "The feasibility of picture-based insurance (PBI): Smartphone pictures for affordable crop insurance." </a:t>
            </a:r>
            <a:r>
              <a:rPr lang="en-US" sz="1100" i="1"/>
              <a:t>Development Engineering</a:t>
            </a:r>
            <a:r>
              <a:rPr lang="en-US" sz="1100"/>
              <a:t> 4: 100042.</a:t>
            </a:r>
          </a:p>
          <a:p>
            <a:pPr lvl="0"/>
            <a:r>
              <a:rPr lang="en-US" sz="1100"/>
              <a:t>Kramer, B., Pattnaik, S., Ward, P.S. and Xu, Y. (2025). "Bundling crop insurance with digital credit to boost agricultural investments: Findings from a randomized trial in two states in India." Paper prepared for presentation at the 2025 AAEA &amp; WAEA Joint Annual Meeting in Denver, CO; July 27-29, 2025.</a:t>
            </a:r>
          </a:p>
          <a:p>
            <a:pPr lvl="0"/>
            <a:r>
              <a:rPr lang="en-US" sz="1100"/>
              <a:t>Kramer, B., Pattnaik, S., Ward, P.S. and Xu, Y. (2024). “Impacts of an innovative credit+ insurance bundle for marginalized farmers: Evidence from a cluster randomized trial in Odisha, India.” IFPRI Discussion Paper 2288. Washington, DC: International Food Policy Research Institute.</a:t>
            </a:r>
          </a:p>
          <a:p>
            <a:pPr lvl="0"/>
            <a:r>
              <a:rPr lang="en-US" sz="1100"/>
              <a:t>Kramer, B.; Pattnaik, S.; and Ward, P.S. (2021). “Gender, demand for agricultural credit and digital technology: Survey evidence from Odisha.” IFPRI Discussion Paper 2093. Washington, DC: International Food Policy Research Institute (IFPRI).</a:t>
            </a:r>
          </a:p>
          <a:p>
            <a:pPr lvl="0"/>
            <a:r>
              <a:rPr lang="en-US" sz="1100"/>
              <a:t>Kramer, B., Waweru, C., and Malacarne, J.G. (2023). “Control over future payouts and willingness-to-pay for insurance: Experimental evidence from Kenyan farmers.” Selected Paper prepared for presentation at the 2023 Agricultural &amp; Applied Economics Association Annual Meeting, Washington DC; July 23-25, 2023.</a:t>
            </a:r>
          </a:p>
          <a:p>
            <a:pPr lvl="0"/>
            <a:r>
              <a:rPr lang="en-US" sz="1100"/>
              <a:t>Kramer, B., Waweru, C., Cecchi, F., Kivuva, B., and Waithaka, L. (2024). “See It Grow: A randomized evaluation of digital innovations in crop insurance to increase insurance and fertilizer demand in Kenya.” Selected Paper prepared for presentation at the 2024 Agricultural &amp; Applied Economics Association Annual Meeting, New Orleans, LA; July 28-30, 2024.</a:t>
            </a:r>
          </a:p>
          <a:p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46513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2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Office Theme</vt:lpstr>
      <vt:lpstr>1_Custom Design</vt:lpstr>
      <vt:lpstr>Custom Design</vt:lpstr>
      <vt:lpstr>Flagship Solution Scaling Tracks Inception Meeting and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S4I AoW2 Mid-Year Report 2025</dc:title>
  <dc:creator>RANA, Md. Masud (CIMMYT-Bangladesh)</dc:creator>
  <cp:revision>2</cp:revision>
  <cp:lastPrinted>2026-01-09T07:40:18Z</cp:lastPrinted>
  <dcterms:created xsi:type="dcterms:W3CDTF">2025-07-15T06:10:02Z</dcterms:created>
  <dcterms:modified xsi:type="dcterms:W3CDTF">2026-01-10T10:39:23Z</dcterms:modified>
</cp:coreProperties>
</file>