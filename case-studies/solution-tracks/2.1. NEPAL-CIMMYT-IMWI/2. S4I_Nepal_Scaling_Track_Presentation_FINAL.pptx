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8"/>
  </p:notesMasterIdLst>
  <p:handoutMasterIdLst>
    <p:handoutMasterId r:id="rId19"/>
  </p:handoutMasterIdLst>
  <p:sldIdLst>
    <p:sldId id="256" r:id="rId4"/>
    <p:sldId id="2147475482" r:id="rId5"/>
    <p:sldId id="2147475483" r:id="rId6"/>
    <p:sldId id="2147475495" r:id="rId7"/>
    <p:sldId id="2147475496" r:id="rId8"/>
    <p:sldId id="2147475489" r:id="rId9"/>
    <p:sldId id="2147475498" r:id="rId10"/>
    <p:sldId id="2147475493" r:id="rId11"/>
    <p:sldId id="2147475485" r:id="rId12"/>
    <p:sldId id="2147475486" r:id="rId13"/>
    <p:sldId id="2147475494" r:id="rId14"/>
    <p:sldId id="2147475499" r:id="rId15"/>
    <p:sldId id="2147475492" r:id="rId16"/>
    <p:sldId id="2147475497" r:id="rId1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8F9117-8D9A-EC00-E4EB-9B7477660C43}" name="KRUPNIK, Timothy Joseph (CIMMYT-Bangladesh)" initials="" userId="S::t.krupnik@cgiar.org::66a9580e-a7fc-4d2d-99e3-c6757b26337b" providerId="AD"/>
  <p188:author id="{7F465343-947B-007E-6475-F8CE8974B6A4}" name="Girvetz, Evan (Alliance Bioversity-CIAT)" initials="GE(BC" userId="S::e.girvetz@cgiar.org::134deccc-b0f9-4a34-9036-937f79342107" providerId="AD"/>
  <p188:author id="{DDC10850-7D6F-677C-1D47-9B83028562A5}" name="Jacobs-Mata, Inga (IWMI)" initials="" userId="S::i.jacobs-mata@cgiar.org::9de18fd2-cbd7-4683-941f-749267bc2bfc" providerId="AD"/>
  <p188:author id="{74E8B856-FC0C-3BF0-55B8-08BF7BE5B3CC}" name="RANA, Md. Masud (CIMMYT-Bangladesh)" initials="" userId="S::MASUD.RANA@cgiar.org::1cb892da-30d3-41cf-ba3c-8e2eb59190ef" providerId="AD"/>
  <p188:author id="{2032D083-9EFA-BF1E-1676-7057796111F8}" name="Hanke-Louw, Nora (IWMI)" initials="HN" userId="S::n.hanke-louw@cgiar.org::16eface5-bfbf-4414-a40a-714a09057f4d" providerId="AD"/>
  <p188:author id="{45B91EEB-7CF7-68B2-C5EC-65FF85FFFE80}" name="ISLAM, AKM Saiful (CIMMYT-Bangladesh)" initials="" userId="S::A.S.ISLAM@cgiar.org::663ad5ab-c617-4ce5-83a7-c8e06aa491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4B1"/>
    <a:srgbClr val="C2B2C0"/>
    <a:srgbClr val="C8B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19FA1-D156-47F1-8CDA-9DBCCD28C9A6}" v="1" dt="2026-01-13T11:53:26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2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C29FB6-EA06-517A-F3BB-D8CC8500BF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E1292-EE5E-EEA2-5247-F9918EAE0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E8BDDDF-F1CD-40D3-9518-C237A779E073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28F19-FE23-00D7-1FFB-54B70B959C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4D1D6-66CB-4BF6-E30B-E9153A6B96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275824F-1BAF-46EA-92A0-997B3E21A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937F915-8234-436D-A7C2-72BD2C534D4D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A5A2097-C9A8-47E2-88A3-DB3F00F2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9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F5C6-F4F2-8C78-357A-5200997F85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602" y="2049495"/>
            <a:ext cx="5945372" cy="175541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4AAC9-CBBA-3F90-9C0D-AD32A582D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602" y="4162647"/>
            <a:ext cx="5945372" cy="1988287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FF1F-A1A8-BBE0-B82C-78B997DB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09E66-F411-1697-D25A-0C1AFF20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A45E-06E8-4374-A2D2-2BA02527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25BF274-CFFA-C539-E9D0-CA41BC40352C}"/>
              </a:ext>
            </a:extLst>
          </p:cNvPr>
          <p:cNvGrpSpPr/>
          <p:nvPr userDrawn="1"/>
        </p:nvGrpSpPr>
        <p:grpSpPr>
          <a:xfrm>
            <a:off x="7791" y="-88816"/>
            <a:ext cx="12321714" cy="7129542"/>
            <a:chOff x="7791" y="-88816"/>
            <a:chExt cx="12321714" cy="7129542"/>
          </a:xfrm>
        </p:grpSpPr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8FD2F6C7-15A4-4CC5-46A0-2008ADB83369}"/>
                </a:ext>
              </a:extLst>
            </p:cNvPr>
            <p:cNvSpPr txBox="1"/>
            <p:nvPr/>
          </p:nvSpPr>
          <p:spPr>
            <a:xfrm>
              <a:off x="10152181" y="-10924"/>
              <a:ext cx="2036648" cy="866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88F3818C-4A4A-0CB6-004C-34B616786DA7}"/>
                </a:ext>
              </a:extLst>
            </p:cNvPr>
            <p:cNvSpPr txBox="1"/>
            <p:nvPr/>
          </p:nvSpPr>
          <p:spPr>
            <a:xfrm>
              <a:off x="7791" y="-88816"/>
              <a:ext cx="12181038" cy="983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Aptos" panose="020B0004020202020204" pitchFamily="34" charset="0"/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338AF68E-8B52-4FB6-015B-0E6CF30A131C}"/>
                </a:ext>
              </a:extLst>
            </p:cNvPr>
            <p:cNvSpPr/>
            <p:nvPr/>
          </p:nvSpPr>
          <p:spPr>
            <a:xfrm>
              <a:off x="6055242" y="754912"/>
              <a:ext cx="6274263" cy="6285814"/>
            </a:xfrm>
            <a:custGeom>
              <a:avLst/>
              <a:gdLst/>
              <a:ahLst/>
              <a:cxnLst/>
              <a:rect l="l" t="t" r="r" b="b"/>
              <a:pathLst>
                <a:path w="12478229" h="12544672">
                  <a:moveTo>
                    <a:pt x="0" y="0"/>
                  </a:moveTo>
                  <a:lnTo>
                    <a:pt x="12478229" y="0"/>
                  </a:lnTo>
                  <a:lnTo>
                    <a:pt x="12478229" y="12544672"/>
                  </a:lnTo>
                  <a:lnTo>
                    <a:pt x="0" y="1254467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2">
                <a:alphaModFix amt="11000"/>
              </a:blip>
              <a:srcRect/>
              <a:stretch>
                <a:fillRect r="-148000"/>
              </a:stretch>
            </a:blipFill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</p:grpSp>
      <p:pic>
        <p:nvPicPr>
          <p:cNvPr id="34" name="Picture 33" descr="A green and white sign&#10;&#10;AI-generated content may be incorrect.">
            <a:extLst>
              <a:ext uri="{FF2B5EF4-FFF2-40B4-BE49-F238E27FC236}">
                <a16:creationId xmlns:a16="http://schemas.microsoft.com/office/drawing/2014/main" id="{AD3C3E09-5DBB-EEB2-633C-328A36305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4" y="137553"/>
            <a:ext cx="7037497" cy="167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purple and white gradient&#10;&#10;AI-generated content may be incorrect.">
            <a:extLst>
              <a:ext uri="{FF2B5EF4-FFF2-40B4-BE49-F238E27FC236}">
                <a16:creationId xmlns:a16="http://schemas.microsoft.com/office/drawing/2014/main" id="{0D2A358A-11B6-989A-92C7-FF7A613E5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9"/>
            <a:ext cx="12192000" cy="93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E76877-E83B-99C4-8B78-A6DBE838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70186"/>
            <a:ext cx="10515600" cy="9373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>
                <a:solidFill>
                  <a:srgbClr val="D486F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3B3C0-90C2-8D01-3CFA-67419DC85A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98650"/>
            <a:ext cx="10478386" cy="3666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D095-834F-66D4-8F2C-836061AC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E5F8-5B17-CE2A-ED54-8420CFE6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69739-107D-4A19-8C9F-24C5A47C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pic>
        <p:nvPicPr>
          <p:cNvPr id="19" name="Picture 18" descr="A close up of a logo&#10;&#10;AI-generated content may be incorrect.">
            <a:extLst>
              <a:ext uri="{FF2B5EF4-FFF2-40B4-BE49-F238E27FC236}">
                <a16:creationId xmlns:a16="http://schemas.microsoft.com/office/drawing/2014/main" id="{E3232194-93D9-EC47-D39F-3F07F389C8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" y="49174"/>
            <a:ext cx="3509771" cy="835946"/>
          </a:xfrm>
          <a:prstGeom prst="rect">
            <a:avLst/>
          </a:prstGeom>
        </p:spPr>
      </p:pic>
      <p:sp>
        <p:nvSpPr>
          <p:cNvPr id="10" name="Freeform 10">
            <a:extLst>
              <a:ext uri="{FF2B5EF4-FFF2-40B4-BE49-F238E27FC236}">
                <a16:creationId xmlns:a16="http://schemas.microsoft.com/office/drawing/2014/main" id="{3F1C3CB6-1CE7-5EC9-2EC5-BAAECF35B50C}"/>
              </a:ext>
            </a:extLst>
          </p:cNvPr>
          <p:cNvSpPr/>
          <p:nvPr/>
        </p:nvSpPr>
        <p:spPr>
          <a:xfrm>
            <a:off x="-3108961" y="1389329"/>
            <a:ext cx="6233505" cy="6266696"/>
          </a:xfrm>
          <a:custGeom>
            <a:avLst/>
            <a:gdLst/>
            <a:ahLst/>
            <a:cxnLst/>
            <a:rect l="l" t="t" r="r" b="b"/>
            <a:pathLst>
              <a:path w="12478229" h="12544672">
                <a:moveTo>
                  <a:pt x="0" y="0"/>
                </a:moveTo>
                <a:lnTo>
                  <a:pt x="12478229" y="0"/>
                </a:lnTo>
                <a:lnTo>
                  <a:pt x="12478229" y="12544672"/>
                </a:lnTo>
                <a:lnTo>
                  <a:pt x="0" y="1254467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 amt="11000"/>
            </a:blip>
            <a:srcRect/>
            <a:stretch>
              <a:fillRect r="-148000"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539866E-AE45-003C-B6FC-EFD1DABDBF39}"/>
              </a:ext>
            </a:extLst>
          </p:cNvPr>
          <p:cNvSpPr/>
          <p:nvPr/>
        </p:nvSpPr>
        <p:spPr>
          <a:xfrm>
            <a:off x="11396785" y="-1672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6"/>
                </a:lnTo>
                <a:lnTo>
                  <a:pt x="0" y="414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28AB790-CD73-964B-DAAF-45FFBD527039}"/>
              </a:ext>
            </a:extLst>
          </p:cNvPr>
          <p:cNvSpPr/>
          <p:nvPr/>
        </p:nvSpPr>
        <p:spPr>
          <a:xfrm>
            <a:off x="11396785" y="477779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D8B400E5-20D3-B8D6-DC3F-4E58E0F11B5B}"/>
              </a:ext>
            </a:extLst>
          </p:cNvPr>
          <p:cNvSpPr/>
          <p:nvPr userDrawn="1"/>
        </p:nvSpPr>
        <p:spPr>
          <a:xfrm>
            <a:off x="11399956" y="710095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9DB7C1C6-A4AE-7D1B-0338-2CCACA8664EE}"/>
              </a:ext>
            </a:extLst>
          </p:cNvPr>
          <p:cNvSpPr/>
          <p:nvPr userDrawn="1"/>
        </p:nvSpPr>
        <p:spPr>
          <a:xfrm>
            <a:off x="11396785" y="236896"/>
            <a:ext cx="792044" cy="206921"/>
          </a:xfrm>
          <a:custGeom>
            <a:avLst/>
            <a:gdLst/>
            <a:ahLst/>
            <a:cxnLst/>
            <a:rect l="l" t="t" r="r" b="b"/>
            <a:pathLst>
              <a:path w="1585513" h="414215">
                <a:moveTo>
                  <a:pt x="0" y="0"/>
                </a:moveTo>
                <a:lnTo>
                  <a:pt x="1585513" y="0"/>
                </a:lnTo>
                <a:lnTo>
                  <a:pt x="1585513" y="414215"/>
                </a:lnTo>
                <a:lnTo>
                  <a:pt x="0" y="414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78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D39E-C8F0-08C8-AFAD-27762937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3934" y="1709738"/>
            <a:ext cx="405351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Thanks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4B0EF-BF59-9126-6A46-27F2694884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93934" y="4589463"/>
            <a:ext cx="405351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Any Question?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C918-A643-272D-12E1-40D9F1BB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01EA-6A7A-608C-BEDA-1011D061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0B23-8E91-347F-5A0E-4002CC64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739A4A6-4791-5BA2-B1DD-0349D3540F39}"/>
              </a:ext>
            </a:extLst>
          </p:cNvPr>
          <p:cNvSpPr/>
          <p:nvPr userDrawn="1"/>
        </p:nvSpPr>
        <p:spPr>
          <a:xfrm>
            <a:off x="298774" y="517459"/>
            <a:ext cx="6233505" cy="6266696"/>
          </a:xfrm>
          <a:custGeom>
            <a:avLst/>
            <a:gdLst/>
            <a:ahLst/>
            <a:cxnLst/>
            <a:rect l="l" t="t" r="r" b="b"/>
            <a:pathLst>
              <a:path w="12478229" h="12544672">
                <a:moveTo>
                  <a:pt x="0" y="0"/>
                </a:moveTo>
                <a:lnTo>
                  <a:pt x="12478229" y="0"/>
                </a:lnTo>
                <a:lnTo>
                  <a:pt x="12478229" y="12544672"/>
                </a:lnTo>
                <a:lnTo>
                  <a:pt x="0" y="1254467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1000"/>
            </a:blip>
            <a:srcRect/>
            <a:stretch>
              <a:fillRect r="-148000"/>
            </a:stretch>
          </a:blipFill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1" name="Picture 20" descr="A green and white sign&#10;&#10;AI-generated content may be incorrect.">
            <a:extLst>
              <a:ext uri="{FF2B5EF4-FFF2-40B4-BE49-F238E27FC236}">
                <a16:creationId xmlns:a16="http://schemas.microsoft.com/office/drawing/2014/main" id="{FB8FD814-5707-0DDB-73AD-B2717CFE4E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37" y="217298"/>
            <a:ext cx="6152789" cy="14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1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0375-85B1-0560-D1C3-6F61C37D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5E18-0BB5-5170-FAD4-F5EBF768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850F7-C965-CD03-8153-490183B97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AF2EF-0969-C516-1E3A-69B26E4D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A6DD9-B316-057C-F5E5-3345A19E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A9A5E-B06A-2385-BA67-B5FE42A9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8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FB9C-8465-7775-838E-3EA78FF4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06B35-DB06-15DB-0829-2E6F1CE77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13398-12C9-37D3-E21E-838DC5474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04619-5A30-CFF0-91F5-95C0ED334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7EE50-CC01-5117-79B4-A6D5C8552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61F1B-CED9-375A-DAD7-70EA73A9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6F369-740E-2A35-DEF5-583D0D8A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A4C92-9489-C552-FDB4-1ADC4B70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2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C751-8772-0450-2666-D653262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B705E-7503-4C57-851B-2F102E2B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D3ED8-E95A-289D-5B5A-5D70B8BD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618A9-DD8C-AC6E-D1D7-DBDA48B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148ED-E586-BCB5-04D8-B9653BE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27125-89D4-1B47-F5C3-9769A3D60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AA77D-25C8-D73D-A7BD-F84AB865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7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1205-4367-5544-31B4-4EB4B2B7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F1A9-F712-E59E-3888-27BAB3F1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0ED70-F518-1792-E4E4-4F7A9B81C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177E9-780E-BFC3-98E3-57111F1F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0E2B2-2345-D548-45F3-8F93ADB5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DF807-5C6B-65FB-A5C7-C318DA68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DCB3-E7F2-5F57-E579-5F02B52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56421-52E0-BDD0-2A5A-91B4E54B9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6C4E0-3754-6183-9696-F69C617C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555B-9437-EE32-BC33-02C7A3EE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BF77E-D021-C8FA-9598-EA5286E5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E0A02-CC68-160F-FD97-68D6F7A9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9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DAD2-C661-890E-542B-3C520AE2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F9F5A-DB2D-6DA8-2D3F-3295A6601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B66D2-71B0-26A0-F53B-102AA771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81F9B-B465-4DE7-A5C6-8C2FDB89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4B801-3022-BEB2-235A-FC4CE1BC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6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07F3F-C706-B48B-7AA0-2F0893756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6C6F4-87F9-744B-0941-A5029275B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5B6F1-0CDD-466D-136A-5911E0FA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96DC1-8BA2-6E33-8510-D6918292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965D9-0E33-2BF4-1E5F-05588F78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9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487C-8799-ED7F-EDCA-8852EAEF0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D7059-4557-C5A0-56D2-06D9AA9A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4388-421A-F9A9-E280-6143C99A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28F6E-D59C-6F43-2410-F9B295AD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3154-F42A-D109-4E9B-01CCE9EA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44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F643-2E71-7179-FE55-EFFB1F47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36AD-951A-072B-F328-1EC903E7D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BB697-8F7F-B684-B607-E8B8C683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9DD3C-24AA-6F19-87D8-893ACDE2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5227B-AABF-6933-2A61-7540CB6B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67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4353-6716-1943-9C2D-29AB7E4E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F471C-26D6-1F32-9E6E-25F5663A2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47F7-EB5D-4EF1-CEC8-D2ECA34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EA4F7-0472-3175-A173-49FD4670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46E1-7344-07D2-0CF5-C972A72F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24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0619-DE70-314A-2F96-87825CCB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0C75-D98C-0F54-26B5-4E0CE6F33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CFC74-AA5D-642A-55E9-D3903B07B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E643C-5700-8E02-FD82-3DE2D49B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B1B44-D0CC-56D8-0B81-81EA3A3E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50D1E-EEF2-B4AC-B23A-F6992A20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4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C35F-4F2A-E585-37FF-66CCB788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CF15E-95CB-2377-E5A6-A8EA6DE26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F165D-F642-3896-9B30-7A5DC248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67838-F4BA-2573-53A8-3FBA32FC9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D47A1-5EC3-A9D1-CEE7-C1F9BDA62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77AB4-5F99-B6E3-B642-C469726C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B891E-D87C-EDFC-AA89-84CE5162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0447E-0C4C-36E2-5274-DAF84088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75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1F1A-35D8-63E4-DA1F-58587063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8C130-63B3-C7C6-6858-AA5CB388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B6805-A7A4-B57E-37AA-B91C5105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94EBE-04EF-EC0C-E546-49218C1E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46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714AE-B3A2-A1DA-DF4E-134667AD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57F28-2428-A2F3-CCF1-3B68C0FA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4F877-91CF-26C2-180A-84712C9B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2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E3AC-950A-45D3-3A91-FD5F99FE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31AD-6C3B-A2C8-A33A-646BD3F6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9C523-39E7-87E1-696E-F7AC1C5EF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4773F-4CDE-E03E-AB83-4A4AA816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07DE6-2AFF-4EDB-6999-A3B2F763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A90B4-FB4C-7956-6F96-04788AE7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59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5FB1-7244-02B6-3342-E98519EF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46788-3281-933E-23AE-921C6704A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016AF-3617-D46C-EC14-5C83DD22E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6A493-3452-BF89-3A46-BE25E319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90C00-5BB5-8EB8-9824-4E16E41E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5B3DF-B643-39F9-0635-075827D7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72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CD43-E7F5-1A00-2A37-5666B2E4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20D26-70D3-0C38-FE8C-F3860F5D6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F8B3-6F54-1B24-A04C-057A3771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17AD-AF33-0225-E32A-BA329893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1502-D813-FD62-245A-E79B452A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7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14A76-63B3-35BF-5483-433E371FD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3F67E-19C6-F69E-61D6-122BA3895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82C80-F1D3-E9FE-578F-24A8A610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E085-68F6-DC6A-24BD-64631EB5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8C730-C6CD-9CD7-A9F0-4C555638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34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5CAF-CDB9-38EC-9679-0CC170B18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6014F-EA46-F520-F890-3F2726420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3A7D8-E7A6-CD69-2334-6E370490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F03A9-1CC1-6F1E-14BF-B3E406E1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B8126-229E-EA0B-91E7-D1C1A288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945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6A94-F436-EEBF-1D6A-4784A282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215B-556C-7987-79A1-EFDF1E10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561C-C0BC-5BE1-8AFD-FBEC0C30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C1B3-02A3-EF23-470F-A7433094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4BB1-D341-6677-8F6B-691C2ABD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021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A6EC-6058-CF74-05E8-EDC94BB5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B4BA7-6476-2F5A-6AB2-2C3A45F9E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5C6A-F79B-1C3F-59E2-9CE328C6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236D-365E-93CB-63C1-BE576687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EED3-9C1A-A619-5C8A-1E136636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0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0B32-FD46-5F86-9587-462E9C41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6405-8413-4364-AB81-B44EC6F93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D6109-3CD6-2DA5-D1D1-1183529E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EF10-4113-8C71-ABD0-77A1FDE6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BDC8-0DBF-A973-9532-7E76F03B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C547-5060-BBAD-92CF-B6F11A96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35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E6CB-F26D-2250-0506-19711F1B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69B9A-C138-5571-449F-0D13BA912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6657-31AB-9192-75D3-BFD3338F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EF5C5-8BA5-3C73-7C57-09E79BE16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A42F9-CABD-88B3-E7CF-0C08D697E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FCD67-4175-1AED-7D15-B65BC391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3774F-6DB1-CDB5-0B80-B807ED37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D9E43-11ED-9AAA-591A-C9ECED90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93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5E1F-30F5-DA80-E71E-BC161010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D609E-F52B-763E-D463-1CB21921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AC20C-63FC-AEF8-781E-A7EF3DF2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0E432-94A1-2985-BB6C-78526815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85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6A314-F676-4F17-F2FB-F412ECB0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E3F7D-D7BF-9655-971E-F804D787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3A498-AA02-A31A-F840-BC9D326A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96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C7C20-A48A-F0A9-A1AF-36881146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CF3F-B57E-DCB5-B24C-8EBB5221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C2B2B-23F6-1BD7-E5CC-0B6F73EB3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85E0-B2AA-BBCD-8E18-C00E509C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14113-3EB6-2CF0-A5F5-5F87197D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A26E2-3D28-A0DE-B626-BE747763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723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3659-2F28-13DC-1BA7-BB121A39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2F523-EF1E-E005-F363-799B15B31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F1691-AE46-FF53-3F22-B0DC41BE2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891D6-A03D-1A03-1BAF-8DB41E20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DEF8D-E9D0-691A-9FD7-8937E00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AEB7-F177-BCA4-924A-DE0A71A0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18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9CEE-D88F-4A85-EF69-D517CB0F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60BC9-B249-2A0B-5C15-EA4D5FBEF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04026-FDCB-9618-7011-CB432BF9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6139-661F-BE9B-F6C4-CB52041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6CCC8-B562-D9E5-76AB-72A34160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36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38390-0E80-C790-597C-9EA905075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56CD8-E002-EBD5-68E4-6D38950E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F753-679C-0028-6E4E-83CBA736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83378-9FCD-0A8D-F5F6-0DAF4C9C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D802-C3B9-F7A8-9948-E19ABBEE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6DAA8-C7A0-519C-0433-48868AA4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B805F-CCCB-7D40-9FBB-C50796A85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FE7B-D4EE-6218-A2CE-D7E741E37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2E528-5209-4A61-9A99-F9D5F086242B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BBDC-2FC1-DB45-94A7-BE41BA6F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A9156-448D-F167-BAB9-0744017C7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9222A-6CCA-472D-8DB6-CE667BDAE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5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EE145-8D5D-5495-1FBB-2152F616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76F70-2B25-4835-BA43-47A512310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4FB0C-7B08-2AFD-21C9-0D751E553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B9DFE-3346-49E3-82A1-34AE69B65C7E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BE12-D03E-3575-4DDD-A08D6A397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6285A-8CB1-4FBC-0117-EF3730173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158D-BC32-4F98-A787-487E0905F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6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1F5DB-7DF9-FB29-F9C1-63FE050E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09277-3A6D-8B95-5E1D-569B47B38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A9438-0F0E-6AC0-4B26-07CB69CBD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9062B-7F7D-42B0-934B-234B52EDB4C7}" type="datetimeFigureOut">
              <a:rPr lang="en-US" smtClean="0"/>
              <a:t>14-Jan-26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A7573-05C9-5688-301D-3471C9C21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3232-F972-14DD-B50F-FEE49646E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4FA74-6791-4224-AA47-22FAA7D7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8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giar.org/food-security-impact/new-results-dashboard/" TargetMode="External"/><Relationship Id="rId2" Type="http://schemas.openxmlformats.org/officeDocument/2006/relationships/hyperlink" Target="http://www.reporting.cgiar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AD58-E0AE-A464-D96C-9CF62D7F4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602" y="2049494"/>
            <a:ext cx="11347598" cy="980785"/>
          </a:xfrm>
        </p:spPr>
        <p:txBody>
          <a:bodyPr>
            <a:noAutofit/>
          </a:bodyPr>
          <a:lstStyle/>
          <a:p>
            <a:pPr algn="ctr"/>
            <a:r>
              <a:rPr sz="3600" b="1"/>
              <a:t>Market-led Partnerships for Resilient Agri-Food Systems in Terai, Nepal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187F4-7561-B837-F7E9-1BE72B8E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01" y="3189767"/>
            <a:ext cx="11103049" cy="294461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t>Scaling for Impact Science Program – Area of Work 2</a:t>
            </a:r>
          </a:p>
          <a:p>
            <a:r>
              <a:t>Flagship Solution Scaling Tracks – Inception Meeting &amp; Process</a:t>
            </a:r>
          </a:p>
          <a:p>
            <a:endParaRPr/>
          </a:p>
          <a:p>
            <a:r>
              <a:t>Dyutiman Choudhary (CIMMYT)</a:t>
            </a:r>
          </a:p>
          <a:p>
            <a:r>
              <a:t>Narayan Khanal (CIMMYT)</a:t>
            </a:r>
          </a:p>
          <a:p>
            <a:r>
              <a:t>Santosh Nepal (IWMI)</a:t>
            </a:r>
          </a:p>
          <a:p>
            <a:r>
              <a:t>Sanju Koirala (IWMI)</a:t>
            </a:r>
          </a:p>
          <a:p>
            <a:endParaRPr/>
          </a:p>
          <a:p>
            <a:r>
              <a:t>Date: </a:t>
            </a:r>
            <a:r>
              <a:rPr lang="en-US"/>
              <a:t>13 </a:t>
            </a:r>
            <a:r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237384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8985-3FF5-5E4A-7AC0-D6D5A83D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 Scaling Track 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DFDA-F204-362A-DEF5-928977FD4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836" y="2109667"/>
            <a:ext cx="10478386" cy="41643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 panose="02110004020202020204"/>
            </a:pPr>
            <a:r>
              <a:rPr lang="en-US" sz="1600">
                <a:latin typeface="Arial"/>
                <a:cs typeface="Arial"/>
              </a:rPr>
              <a:t>Introduce the innovation/package and key partners </a:t>
            </a:r>
          </a:p>
          <a:p>
            <a:pPr lvl="1">
              <a:buFont typeface="Courier New" panose="02110004020202020204"/>
              <a:buChar char="o"/>
            </a:pPr>
            <a:r>
              <a:rPr lang="en-US" sz="1200">
                <a:latin typeface="Arial"/>
                <a:cs typeface="Arial"/>
              </a:rPr>
              <a:t>Description of your innovation(s)</a:t>
            </a:r>
          </a:p>
          <a:p>
            <a:pPr lvl="1">
              <a:buFont typeface="Courier New" panose="02110004020202020204"/>
              <a:buChar char="o"/>
            </a:pPr>
            <a:r>
              <a:rPr lang="en-US" sz="1200">
                <a:latin typeface="Arial"/>
                <a:cs typeface="Arial"/>
              </a:rPr>
              <a:t>Your scaling ambition</a:t>
            </a:r>
          </a:p>
          <a:p>
            <a:pPr lvl="1">
              <a:buFont typeface="Courier New" panose="02110004020202020204"/>
              <a:buChar char="o"/>
            </a:pPr>
            <a:r>
              <a:rPr lang="en-US" sz="1200">
                <a:latin typeface="Arial"/>
                <a:cs typeface="Arial"/>
              </a:rPr>
              <a:t>Key demand partners</a:t>
            </a:r>
          </a:p>
          <a:p>
            <a:pPr lvl="1">
              <a:buFont typeface="Courier New" panose="02110004020202020204"/>
              <a:buChar char="o"/>
            </a:pPr>
            <a:r>
              <a:rPr lang="en-US" sz="1200">
                <a:latin typeface="Arial"/>
                <a:cs typeface="Arial"/>
              </a:rPr>
              <a:t>Key scaling partners</a:t>
            </a:r>
          </a:p>
          <a:p>
            <a:pPr>
              <a:buFont typeface="Arial" panose="02110004020202020204"/>
            </a:pPr>
            <a:r>
              <a:rPr lang="en-US" sz="1600" b="1"/>
              <a:t>The scaling pathway(s) </a:t>
            </a:r>
            <a:r>
              <a:rPr lang="en-US" sz="1600"/>
              <a:t>for achieving scaling ambition</a:t>
            </a:r>
            <a:endParaRPr lang="en-US"/>
          </a:p>
          <a:p>
            <a:pPr>
              <a:buFont typeface="Arial" panose="02110004020202020204"/>
              <a:buChar char="•"/>
            </a:pPr>
            <a:r>
              <a:rPr lang="en-US" sz="1600"/>
              <a:t>The scaling track </a:t>
            </a:r>
            <a:r>
              <a:rPr lang="en-US" sz="1600" b="1"/>
              <a:t>implementation plan </a:t>
            </a:r>
            <a:r>
              <a:rPr lang="en-US" sz="1600"/>
              <a:t>(e.g. Gantt chart) for 2026 with a view to 2028 </a:t>
            </a:r>
            <a:endParaRPr lang="en-US"/>
          </a:p>
          <a:p>
            <a:pPr>
              <a:buFont typeface="Arial" panose="02110004020202020204"/>
              <a:buChar char="•"/>
            </a:pPr>
            <a:r>
              <a:rPr lang="en-US" sz="1600"/>
              <a:t>Complementary </a:t>
            </a:r>
            <a:r>
              <a:rPr lang="en-US" sz="1600" b="1"/>
              <a:t>bilateral projects and S4I additionality</a:t>
            </a:r>
            <a:endParaRPr lang="en-US"/>
          </a:p>
          <a:p>
            <a:pPr>
              <a:buFont typeface="Arial" panose="02110004020202020204"/>
              <a:buChar char="•"/>
            </a:pPr>
            <a:endParaRPr lang="en-US" sz="1600" b="1"/>
          </a:p>
          <a:p>
            <a:pPr>
              <a:buFont typeface="Arial" panose="02110004020202020204"/>
              <a:buChar char="•"/>
            </a:pPr>
            <a:endParaRPr lang="en-US" sz="1600" b="1"/>
          </a:p>
          <a:p>
            <a:pPr>
              <a:buFont typeface="Arial" panose="02110004020202020204"/>
              <a:buChar char="•"/>
            </a:pPr>
            <a:endParaRPr lang="en-US" sz="1600" b="1"/>
          </a:p>
          <a:p>
            <a:pPr>
              <a:buFont typeface="Arial" panose="02110004020202020204"/>
              <a:buChar char="•"/>
            </a:pPr>
            <a:endParaRPr lang="en-US" sz="1600" b="1"/>
          </a:p>
          <a:p>
            <a:pPr>
              <a:buFont typeface="Arial" panose="02110004020202020204"/>
              <a:buChar char="•"/>
            </a:pPr>
            <a:endParaRPr lang="en-US" sz="1600" b="1"/>
          </a:p>
          <a:p>
            <a:pPr>
              <a:buFont typeface="Arial" panose="02110004020202020204"/>
              <a:buChar char="•"/>
            </a:pPr>
            <a:r>
              <a:rPr lang="en-US" sz="1600" b="1"/>
              <a:t>Add photos and other info on your innovation throughout this slide deck</a:t>
            </a:r>
          </a:p>
          <a:p>
            <a:pPr>
              <a:buFont typeface="Arial" panose="02110004020202020204"/>
              <a:buChar char="•"/>
            </a:pPr>
            <a:endParaRPr lang="en-US" sz="1600" b="1"/>
          </a:p>
          <a:p>
            <a:pPr marL="0" indent="0">
              <a:lnSpc>
                <a:spcPct val="110000"/>
              </a:lnSpc>
              <a:buNone/>
            </a:pPr>
            <a:endParaRPr lang="en-US" sz="1600" b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E9BA78-E0D3-55DC-B28A-157DFA9574AF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Flagship Scaling Track Process</a:t>
            </a:r>
          </a:p>
        </p:txBody>
      </p:sp>
    </p:spTree>
    <p:extLst>
      <p:ext uri="{BB962C8B-B14F-4D97-AF65-F5344CB8AC3E}">
        <p14:creationId xmlns:p14="http://schemas.microsoft.com/office/powerpoint/2010/main" val="355190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9D600-B0BF-31E2-4639-345DD547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The Innovation Package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52CED-25E2-706E-F3F9-C0BBCF107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Market-led partnerships for resilient agri-food systems in Terai, Nepal</a:t>
            </a:r>
          </a:p>
        </p:txBody>
      </p:sp>
    </p:spTree>
    <p:extLst>
      <p:ext uri="{BB962C8B-B14F-4D97-AF65-F5344CB8AC3E}">
        <p14:creationId xmlns:p14="http://schemas.microsoft.com/office/powerpoint/2010/main" val="1378014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3C511-B131-7456-2F7D-BFB8B02B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2DF472-2BAD-5C92-21EA-2771FB11A3EE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Description of your innovation(s)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C0C7E05-627E-3922-B523-5BAE3A6DFE1D}"/>
              </a:ext>
            </a:extLst>
          </p:cNvPr>
          <p:cNvSpPr txBox="1">
            <a:spLocks/>
          </p:cNvSpPr>
          <p:nvPr/>
        </p:nvSpPr>
        <p:spPr>
          <a:xfrm>
            <a:off x="467447" y="1465984"/>
            <a:ext cx="11718354" cy="518439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Bundled innovations: improved seed, soil fertility (4Rs, composts, N-fixing crops), mechanization, irrigation, MSPs.</a:t>
            </a:r>
          </a:p>
          <a:p>
            <a:r>
              <a:t>Profitability: 20–40% yield increase (rice/legumes/veg), 100% for maize; sowing cost reduced $53→$26; 70% hybrids.</a:t>
            </a:r>
          </a:p>
          <a:p>
            <a:r>
              <a:t>Adoption: 700% rise in spring maize area (2021–25), $3.3M </a:t>
            </a:r>
            <a:r>
              <a:rPr lang="en-US"/>
              <a:t>farmers</a:t>
            </a:r>
            <a:r>
              <a:t> maize sales.</a:t>
            </a:r>
            <a:r>
              <a:rPr lang="en-GB"/>
              <a:t> About 70% of farmers were using hybrid seeds and 87% practicing line planting for better efficiency. </a:t>
            </a:r>
            <a:endParaRPr/>
          </a:p>
          <a:p>
            <a:r>
              <a:t>Responsible scaling: Scaling Scan, inclusive (women, youth, Dalit, Muslim, indigenous), climate-smart irrigation (</a:t>
            </a:r>
            <a:r>
              <a:rPr lang="en-US"/>
              <a:t>National Irrigation and Infrastructure monitoring system </a:t>
            </a:r>
            <a:r>
              <a:t>NIIMS).</a:t>
            </a:r>
          </a:p>
        </p:txBody>
      </p:sp>
    </p:spTree>
    <p:extLst>
      <p:ext uri="{BB962C8B-B14F-4D97-AF65-F5344CB8AC3E}">
        <p14:creationId xmlns:p14="http://schemas.microsoft.com/office/powerpoint/2010/main" val="125339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00C2-7CDA-8DC7-C264-97863DDA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83D8DA-F43A-06BF-8A7D-64F0B8D1E3AF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Your scaling ambition</a:t>
            </a: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907E4C4-D6BE-4713-1ABE-98C0E133322D}"/>
              </a:ext>
            </a:extLst>
          </p:cNvPr>
          <p:cNvSpPr txBox="1">
            <a:spLocks/>
          </p:cNvSpPr>
          <p:nvPr/>
        </p:nvSpPr>
        <p:spPr>
          <a:xfrm>
            <a:off x="317800" y="932895"/>
            <a:ext cx="11894945" cy="797839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b="1"/>
              <a:t>2026 Outcomes</a:t>
            </a:r>
          </a:p>
          <a:p>
            <a:r>
              <a:rPr lang="en-GB"/>
              <a:t>39,300</a:t>
            </a:r>
            <a:r>
              <a:t> rice HH + 19,000 maize HH; 49,000 people</a:t>
            </a:r>
          </a:p>
          <a:p>
            <a:r>
              <a:t>2,000 ha irrigated; 50,000 ha under improved </a:t>
            </a:r>
            <a:r>
              <a:rPr lang="en-GB"/>
              <a:t>inputs</a:t>
            </a:r>
            <a:endParaRPr/>
          </a:p>
          <a:p>
            <a:r>
              <a:t>200k consumers; 100k value-added foods; 3,000 jobs; $10M leveraged</a:t>
            </a:r>
          </a:p>
          <a:p>
            <a:r>
              <a:rPr b="1"/>
              <a:t>Long-term</a:t>
            </a:r>
          </a:p>
          <a:p>
            <a:r>
              <a:t>237,500 HH; 257,730 ha; 800k consumers; 10,000 jobs; $30M investment</a:t>
            </a:r>
            <a:endParaRPr lang="en-US"/>
          </a:p>
          <a:p>
            <a:pPr marL="0" indent="0">
              <a:buNone/>
            </a:pPr>
            <a:r>
              <a:rPr b="1"/>
              <a:t>Behavior change:</a:t>
            </a:r>
          </a:p>
          <a:p>
            <a:r>
              <a:t>Maize in rice fallows; deeper market system development; </a:t>
            </a:r>
            <a:r>
              <a:rPr lang="en-GB"/>
              <a:t>PPP</a:t>
            </a:r>
          </a:p>
          <a:p>
            <a:pPr marL="0" indent="0">
              <a:buNone/>
            </a:pPr>
            <a:r>
              <a:rPr lang="en-GB" b="1"/>
              <a:t>Challenges</a:t>
            </a:r>
            <a:r>
              <a:rPr b="1"/>
              <a:t> solved:</a:t>
            </a:r>
            <a:endParaRPr/>
          </a:p>
          <a:p>
            <a:r>
              <a:t>Disorganized markets, limited private investment, lack of inclusive scaling pathways.</a:t>
            </a:r>
          </a:p>
        </p:txBody>
      </p:sp>
    </p:spTree>
    <p:extLst>
      <p:ext uri="{BB962C8B-B14F-4D97-AF65-F5344CB8AC3E}">
        <p14:creationId xmlns:p14="http://schemas.microsoft.com/office/powerpoint/2010/main" val="153340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4ED1E-3476-7084-9912-14C59F40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71B4FB-7805-C2B2-5914-0B8548F70658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Key demand partners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E09FB6-E357-DF42-5788-80129B93A340}"/>
              </a:ext>
            </a:extLst>
          </p:cNvPr>
          <p:cNvSpPr txBox="1">
            <a:spLocks/>
          </p:cNvSpPr>
          <p:nvPr/>
        </p:nvSpPr>
        <p:spPr>
          <a:xfrm>
            <a:off x="424152" y="123089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Demand partners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AF80DF7-C983-A460-12D2-C908DA239534}"/>
              </a:ext>
            </a:extLst>
          </p:cNvPr>
          <p:cNvSpPr txBox="1">
            <a:spLocks/>
          </p:cNvSpPr>
          <p:nvPr/>
        </p:nvSpPr>
        <p:spPr>
          <a:xfrm>
            <a:off x="424152" y="2064438"/>
            <a:ext cx="11149878" cy="47511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t>Farmer cooperatives: input management, aggregation, MSP participation</a:t>
            </a:r>
            <a:endParaRPr lang="en-US"/>
          </a:p>
          <a:p>
            <a:r>
              <a:rPr err="1"/>
              <a:t>Agro</a:t>
            </a:r>
            <a:r>
              <a:t>-dealers: seed/fertilizer/machinery/irrigation + advisory</a:t>
            </a:r>
          </a:p>
          <a:p>
            <a:r>
              <a:t>Seed companies/coops: timely supply via cooperatives</a:t>
            </a:r>
          </a:p>
          <a:p>
            <a:r>
              <a:t>Feed mills/MSMEs: output demand, buybacks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t>CG Program: </a:t>
            </a:r>
            <a:r>
              <a:rPr b="1"/>
              <a:t>Breeding for Tomorrow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653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5494-99BB-B757-2A7A-7A11F59F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CA3B73C-3DC5-7769-A56A-F8DB422682AB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Key demand partners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782261-AEFF-9912-FC08-F3E0BAE82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571" y="1161075"/>
            <a:ext cx="5972175" cy="3581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AE6458-BD61-15BD-70F1-DA2E8A519946}"/>
              </a:ext>
            </a:extLst>
          </p:cNvPr>
          <p:cNvSpPr txBox="1"/>
          <p:nvPr/>
        </p:nvSpPr>
        <p:spPr>
          <a:xfrm>
            <a:off x="620290" y="1160982"/>
            <a:ext cx="364167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/>
              <a:t>Evidence</a:t>
            </a:r>
            <a:r>
              <a:rPr lang="en-GB" sz="2000" b="1"/>
              <a:t>:</a:t>
            </a:r>
          </a:p>
          <a:p>
            <a:r>
              <a:rPr lang="en-GB" sz="2400">
                <a:latin typeface="Arial"/>
                <a:cs typeface="Arial"/>
              </a:rPr>
              <a:t>Stakeholders in a scaling scan workshop in Bardiya in May 2025 prioritized seed, ISFM and irrigation as the most important inputs to expand maize commercialization</a:t>
            </a:r>
            <a:endParaRPr lang="en-GB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E4BF3-D654-0B08-4014-B705621CCBCA}"/>
              </a:ext>
            </a:extLst>
          </p:cNvPr>
          <p:cNvSpPr txBox="1"/>
          <p:nvPr/>
        </p:nvSpPr>
        <p:spPr>
          <a:xfrm>
            <a:off x="870466" y="5427292"/>
            <a:ext cx="933961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Engagement: </a:t>
            </a:r>
            <a:r>
              <a:rPr lang="en-US" sz="2800"/>
              <a:t>assessments, training, MSPs, co-design sessions.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76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6B6A-5C79-2FF4-1696-99F7C393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4BDB03-F00B-4395-8FE8-B81956A412BC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Key scaling partners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52A8F77-491E-B359-65EC-B27AC094736E}"/>
              </a:ext>
            </a:extLst>
          </p:cNvPr>
          <p:cNvSpPr txBox="1">
            <a:spLocks/>
          </p:cNvSpPr>
          <p:nvPr/>
        </p:nvSpPr>
        <p:spPr>
          <a:xfrm>
            <a:off x="344632" y="1222231"/>
            <a:ext cx="10898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Scaling partners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37F7213-A616-BC90-6C6B-C5E71BE0BC22}"/>
              </a:ext>
            </a:extLst>
          </p:cNvPr>
          <p:cNvSpPr txBox="1">
            <a:spLocks/>
          </p:cNvSpPr>
          <p:nvPr/>
        </p:nvSpPr>
        <p:spPr>
          <a:xfrm>
            <a:off x="326798" y="1890279"/>
            <a:ext cx="11510786" cy="48446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Local gov: MSPs, program alignment, budget updates</a:t>
            </a:r>
            <a:endParaRPr lang="en-US"/>
          </a:p>
          <a:p>
            <a:r>
              <a:rPr lang="en-GB"/>
              <a:t>Provincial Governments</a:t>
            </a:r>
            <a:r>
              <a:t>: roadmaps, monitoring, funding</a:t>
            </a:r>
          </a:p>
          <a:p>
            <a:r>
              <a:rPr err="1"/>
              <a:t>MoALD</a:t>
            </a:r>
            <a:r>
              <a:t>: integrate into national programs</a:t>
            </a:r>
          </a:p>
          <a:p>
            <a:r>
              <a:t>Irrigation offices: water provisioning</a:t>
            </a:r>
          </a:p>
          <a:p>
            <a:r>
              <a:t>SEAN, NAMEA, CNI: investment &amp; policy support</a:t>
            </a:r>
          </a:p>
          <a:p>
            <a:r>
              <a:t>Feed mills, NGOs: co-design &amp; linkages</a:t>
            </a:r>
          </a:p>
          <a:p>
            <a:r>
              <a:rPr b="1"/>
              <a:t>Motivation:</a:t>
            </a:r>
            <a:r>
              <a:t> access to validated technologies &amp; scalable business models.</a:t>
            </a:r>
          </a:p>
        </p:txBody>
      </p:sp>
    </p:spTree>
    <p:extLst>
      <p:ext uri="{BB962C8B-B14F-4D97-AF65-F5344CB8AC3E}">
        <p14:creationId xmlns:p14="http://schemas.microsoft.com/office/powerpoint/2010/main" val="35663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C7F3-DD5C-3AF2-228C-30B214D2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E188-355E-33A4-75B4-E4B1A0EB7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26" y="958510"/>
            <a:ext cx="11433728" cy="520645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Where: </a:t>
            </a:r>
            <a:r>
              <a:rPr lang="en-GB" dirty="0"/>
              <a:t>3</a:t>
            </a:r>
            <a:r>
              <a:rPr dirty="0"/>
              <a:t> provinces (Koshi, Lumbini, </a:t>
            </a:r>
            <a:r>
              <a:rPr dirty="0" err="1"/>
              <a:t>Sudurpaschim</a:t>
            </a:r>
            <a:r>
              <a:rPr dirty="0"/>
              <a:t>), 7 Terai </a:t>
            </a:r>
            <a:r>
              <a:rPr lang="en-GB" dirty="0"/>
              <a:t>districts</a:t>
            </a:r>
            <a:endParaRPr lang="en-US" dirty="0"/>
          </a:p>
          <a:p>
            <a:pPr marL="0" indent="0">
              <a:buNone/>
            </a:pPr>
            <a:r>
              <a:rPr lang="en-GB" b="1" dirty="0"/>
              <a:t>Last</a:t>
            </a:r>
            <a:r>
              <a:rPr b="1" dirty="0"/>
              <a:t> mile</a:t>
            </a:r>
            <a:r>
              <a:rPr lang="en-GB" b="1" dirty="0"/>
              <a:t> outreach</a:t>
            </a:r>
            <a:r>
              <a:rPr b="1" dirty="0"/>
              <a:t>:</a:t>
            </a:r>
            <a:endParaRPr lang="en-US" dirty="0"/>
          </a:p>
          <a:p>
            <a:r>
              <a:rPr sz="2900" dirty="0"/>
              <a:t>Cropping calendars; demand-supply MSPs</a:t>
            </a:r>
          </a:p>
          <a:p>
            <a:r>
              <a:rPr sz="2900" dirty="0"/>
              <a:t>Package of Practices; coop delivery plans</a:t>
            </a:r>
            <a:endParaRPr lang="en-US" sz="2900" dirty="0"/>
          </a:p>
          <a:p>
            <a:r>
              <a:rPr lang="en-US" sz="2900" dirty="0"/>
              <a:t>Training programs</a:t>
            </a:r>
            <a:endParaRPr sz="2900" dirty="0"/>
          </a:p>
          <a:p>
            <a:r>
              <a:rPr sz="2900" dirty="0"/>
              <a:t>Digital advisories; monitoring by </a:t>
            </a:r>
            <a:r>
              <a:rPr lang="en-US" sz="2900" dirty="0"/>
              <a:t>local </a:t>
            </a:r>
            <a:r>
              <a:rPr sz="2900" dirty="0"/>
              <a:t>gov/universities</a:t>
            </a:r>
          </a:p>
          <a:p>
            <a:pPr marL="0" indent="0">
              <a:buNone/>
            </a:pPr>
            <a:r>
              <a:rPr b="1" dirty="0"/>
              <a:t>Financing:</a:t>
            </a:r>
          </a:p>
          <a:p>
            <a:r>
              <a:rPr dirty="0"/>
              <a:t>Gov subsidies, private sector inputs, coop credit, farmer payments, banks/insurance</a:t>
            </a:r>
          </a:p>
          <a:p>
            <a:pPr marL="0" indent="0">
              <a:buNone/>
            </a:pPr>
            <a:r>
              <a:rPr b="1" dirty="0"/>
              <a:t>Why this pathway:</a:t>
            </a:r>
          </a:p>
          <a:p>
            <a:r>
              <a:rPr dirty="0"/>
              <a:t>Tested since 2022; 700% maize growth; avoids donor distortions</a:t>
            </a:r>
          </a:p>
          <a:p>
            <a:pPr marL="0" indent="0">
              <a:buNone/>
            </a:pPr>
            <a:r>
              <a:rPr b="1" dirty="0"/>
              <a:t>Catalytic leverage:</a:t>
            </a:r>
          </a:p>
          <a:p>
            <a:r>
              <a:rPr dirty="0"/>
              <a:t>14 seed coops, 35 farmer coops, 28 </a:t>
            </a:r>
            <a:r>
              <a:rPr dirty="0" err="1"/>
              <a:t>agro</a:t>
            </a:r>
            <a:r>
              <a:rPr dirty="0"/>
              <a:t>-dealers, 28 MSMEs, 21 municipalities</a:t>
            </a:r>
          </a:p>
          <a:p>
            <a:r>
              <a:rPr dirty="0"/>
              <a:t>Aligned policies (ADS, provincial budgets)</a:t>
            </a:r>
          </a:p>
          <a:p>
            <a:r>
              <a:rPr dirty="0"/>
              <a:t>Multiple bilaterals ready to scale CGIAR bundles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(Please refer to the CN for details)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50DB43-0111-488C-0925-7C1712F84ED9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</a:rPr>
              <a:t>Scaling Track Overview: Clarify the scaling pathway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24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84F6-F4B8-6054-41CF-A192FBDF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CB84-91FB-FE3A-B0E4-6D698056A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942"/>
            <a:ext cx="10825976" cy="4797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b="1"/>
              <a:t>S4I-funded activities</a:t>
            </a:r>
            <a:endParaRPr lang="en-US" b="1"/>
          </a:p>
          <a:p>
            <a:pPr marL="0" indent="0">
              <a:buNone/>
            </a:pPr>
            <a:r>
              <a:t>1. </a:t>
            </a:r>
            <a:r>
              <a:rPr lang="en-GB" b="1"/>
              <a:t>Farmer and Stakeholder Mobilization</a:t>
            </a:r>
            <a:r>
              <a:t>: MSPs, seed/ISFM/irrigation roadmaps, cropping calendars, digital extension, training</a:t>
            </a:r>
          </a:p>
          <a:p>
            <a:pPr marL="0" indent="0">
              <a:buNone/>
            </a:pPr>
            <a:r>
              <a:t>2. </a:t>
            </a:r>
            <a:r>
              <a:rPr b="1"/>
              <a:t>Input </a:t>
            </a:r>
            <a:r>
              <a:rPr lang="en-GB" b="1"/>
              <a:t>market dev and delivery</a:t>
            </a:r>
            <a:r>
              <a:t>: delivery systems, last-mile PPPs, actor training, output </a:t>
            </a:r>
            <a:r>
              <a:rPr lang="en-GB"/>
              <a:t>linkages</a:t>
            </a:r>
          </a:p>
          <a:p>
            <a:pPr marL="0" indent="0">
              <a:buNone/>
            </a:pPr>
            <a:r>
              <a:rPr lang="en-GB"/>
              <a:t>3</a:t>
            </a:r>
            <a:r>
              <a:t>. </a:t>
            </a:r>
            <a:r>
              <a:rPr lang="en-GB" b="1"/>
              <a:t>Delivery and PPPs</a:t>
            </a:r>
            <a:r>
              <a:t>: joint strategies, donor/</a:t>
            </a:r>
            <a:r>
              <a:rPr err="1"/>
              <a:t>GoN</a:t>
            </a:r>
            <a:r>
              <a:t> partnerships, monitoring, fairs, forums, dialogues</a:t>
            </a:r>
          </a:p>
          <a:p>
            <a:pPr marL="0" indent="0">
              <a:buNone/>
            </a:pPr>
            <a:r>
              <a:rPr b="1"/>
              <a:t>Timeline &amp; comms:</a:t>
            </a:r>
            <a:r>
              <a:t> aligned with crop stages and service delivery milestones.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A99E87-BB07-FA81-5AF4-BD6C4A571057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</a:rPr>
              <a:t>Scaling Track Overview: Specify S4I Investments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25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4530-D490-FCAE-FD16-4CE7A8C6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97AEDA-8CC9-5013-EDC7-636485EC77E7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ea typeface="+mj-lt"/>
                <a:cs typeface="+mj-lt"/>
              </a:rPr>
              <a:t>Scaling Pathway(s)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BD19BE3-19FC-D5A0-6420-DCEC849444BF}"/>
              </a:ext>
            </a:extLst>
          </p:cNvPr>
          <p:cNvSpPr txBox="1">
            <a:spLocks/>
          </p:cNvSpPr>
          <p:nvPr/>
        </p:nvSpPr>
        <p:spPr>
          <a:xfrm>
            <a:off x="344632" y="1222231"/>
            <a:ext cx="10898188" cy="8239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Theory of scaling and change</a:t>
            </a: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BDECF6DD-5497-E362-5574-9C8631420014}"/>
              </a:ext>
            </a:extLst>
          </p:cNvPr>
          <p:cNvSpPr txBox="1">
            <a:spLocks/>
          </p:cNvSpPr>
          <p:nvPr/>
        </p:nvSpPr>
        <p:spPr>
          <a:xfrm>
            <a:off x="338171" y="1637414"/>
            <a:ext cx="11708517" cy="522121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Anchored to Maize Commercial Model (MCM)</a:t>
            </a:r>
          </a:p>
          <a:p>
            <a:r>
              <a:t>Transform smallholders → commercial farming; strengthen seed/soil/irrigation markets</a:t>
            </a:r>
            <a:r>
              <a:rPr lang="en-US"/>
              <a:t>, business models</a:t>
            </a:r>
          </a:p>
          <a:p>
            <a:r>
              <a:t>Higher productivity → food security → MSME growth</a:t>
            </a:r>
            <a:r>
              <a:rPr lang="en-US"/>
              <a:t> &amp; local supply chains</a:t>
            </a:r>
            <a:endParaRPr/>
          </a:p>
          <a:p>
            <a:r>
              <a:rPr lang="en-US"/>
              <a:t>Policy and market development interventions  </a:t>
            </a:r>
            <a:endParaRPr lang="en-GB"/>
          </a:p>
          <a:p>
            <a:r>
              <a:rPr lang="en-US"/>
              <a:t>Responsible &amp; </a:t>
            </a:r>
            <a:r>
              <a:t>Inclusive systems (women/youth/marginalized groups)</a:t>
            </a:r>
          </a:p>
          <a:p>
            <a:r>
              <a:rPr b="1"/>
              <a:t>Theory of action:</a:t>
            </a:r>
          </a:p>
          <a:p>
            <a:r>
              <a:t>MSPs, roadmaps, digital tools, market development, PPPs, output</a:t>
            </a:r>
            <a:r>
              <a:rPr lang="en-GB"/>
              <a:t> market linkages</a:t>
            </a:r>
            <a:endParaRPr/>
          </a:p>
          <a:p>
            <a:r>
              <a:rPr b="1"/>
              <a:t>Evidence:</a:t>
            </a:r>
            <a:r>
              <a:t> 700% maize growth; Scaling Scan; digital soil maps; fertilizer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39944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D748-4A75-8AFA-53FF-211323C9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20B34-502F-4507-B8BC-CD585CA9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677" y="1481732"/>
            <a:ext cx="2430456" cy="484676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t>Implementation 2026–28:</a:t>
            </a:r>
          </a:p>
          <a:p>
            <a:r>
              <a:t>2026: MSPs, government alignment, last-mile systems, training &amp; digital advisory rollout</a:t>
            </a:r>
          </a:p>
          <a:p>
            <a:r>
              <a:t>2027–28: expand districts &amp; crops; deepen market reforms</a:t>
            </a:r>
          </a:p>
          <a:p>
            <a:r>
              <a:t>Milestones: quarterly tracking via Gantt chart; mobilization, delivery, market linkage, communications.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80CB6B-40DA-D79F-0E9A-4ADE34AD1781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Implementation Gannt Chart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F45E8B-2C0D-9224-63B5-380011A27D2B}"/>
              </a:ext>
            </a:extLst>
          </p:cNvPr>
          <p:cNvGraphicFramePr>
            <a:graphicFrameLocks noGrp="1"/>
          </p:cNvGraphicFramePr>
          <p:nvPr/>
        </p:nvGraphicFramePr>
        <p:xfrm>
          <a:off x="175713" y="1008595"/>
          <a:ext cx="9112221" cy="5840538"/>
        </p:xfrm>
        <a:graphic>
          <a:graphicData uri="http://schemas.openxmlformats.org/drawingml/2006/table">
            <a:tbl>
              <a:tblPr/>
              <a:tblGrid>
                <a:gridCol w="256404">
                  <a:extLst>
                    <a:ext uri="{9D8B030D-6E8A-4147-A177-3AD203B41FA5}">
                      <a16:colId xmlns:a16="http://schemas.microsoft.com/office/drawing/2014/main" val="3116985003"/>
                    </a:ext>
                  </a:extLst>
                </a:gridCol>
                <a:gridCol w="4418047">
                  <a:extLst>
                    <a:ext uri="{9D8B030D-6E8A-4147-A177-3AD203B41FA5}">
                      <a16:colId xmlns:a16="http://schemas.microsoft.com/office/drawing/2014/main" val="130158209"/>
                    </a:ext>
                  </a:extLst>
                </a:gridCol>
                <a:gridCol w="641011">
                  <a:extLst>
                    <a:ext uri="{9D8B030D-6E8A-4147-A177-3AD203B41FA5}">
                      <a16:colId xmlns:a16="http://schemas.microsoft.com/office/drawing/2014/main" val="2420275979"/>
                    </a:ext>
                  </a:extLst>
                </a:gridCol>
                <a:gridCol w="927001">
                  <a:extLst>
                    <a:ext uri="{9D8B030D-6E8A-4147-A177-3AD203B41FA5}">
                      <a16:colId xmlns:a16="http://schemas.microsoft.com/office/drawing/2014/main" val="994704827"/>
                    </a:ext>
                  </a:extLst>
                </a:gridCol>
                <a:gridCol w="167650">
                  <a:extLst>
                    <a:ext uri="{9D8B030D-6E8A-4147-A177-3AD203B41FA5}">
                      <a16:colId xmlns:a16="http://schemas.microsoft.com/office/drawing/2014/main" val="1976815201"/>
                    </a:ext>
                  </a:extLst>
                </a:gridCol>
                <a:gridCol w="216958">
                  <a:extLst>
                    <a:ext uri="{9D8B030D-6E8A-4147-A177-3AD203B41FA5}">
                      <a16:colId xmlns:a16="http://schemas.microsoft.com/office/drawing/2014/main" val="750160341"/>
                    </a:ext>
                  </a:extLst>
                </a:gridCol>
                <a:gridCol w="226820">
                  <a:extLst>
                    <a:ext uri="{9D8B030D-6E8A-4147-A177-3AD203B41FA5}">
                      <a16:colId xmlns:a16="http://schemas.microsoft.com/office/drawing/2014/main" val="1914964349"/>
                    </a:ext>
                  </a:extLst>
                </a:gridCol>
                <a:gridCol w="256404">
                  <a:extLst>
                    <a:ext uri="{9D8B030D-6E8A-4147-A177-3AD203B41FA5}">
                      <a16:colId xmlns:a16="http://schemas.microsoft.com/office/drawing/2014/main" val="3667510919"/>
                    </a:ext>
                  </a:extLst>
                </a:gridCol>
                <a:gridCol w="276128">
                  <a:extLst>
                    <a:ext uri="{9D8B030D-6E8A-4147-A177-3AD203B41FA5}">
                      <a16:colId xmlns:a16="http://schemas.microsoft.com/office/drawing/2014/main" val="3786307889"/>
                    </a:ext>
                  </a:extLst>
                </a:gridCol>
                <a:gridCol w="266267">
                  <a:extLst>
                    <a:ext uri="{9D8B030D-6E8A-4147-A177-3AD203B41FA5}">
                      <a16:colId xmlns:a16="http://schemas.microsoft.com/office/drawing/2014/main" val="4247975041"/>
                    </a:ext>
                  </a:extLst>
                </a:gridCol>
                <a:gridCol w="246542">
                  <a:extLst>
                    <a:ext uri="{9D8B030D-6E8A-4147-A177-3AD203B41FA5}">
                      <a16:colId xmlns:a16="http://schemas.microsoft.com/office/drawing/2014/main" val="4260327021"/>
                    </a:ext>
                  </a:extLst>
                </a:gridCol>
                <a:gridCol w="216958">
                  <a:extLst>
                    <a:ext uri="{9D8B030D-6E8A-4147-A177-3AD203B41FA5}">
                      <a16:colId xmlns:a16="http://schemas.microsoft.com/office/drawing/2014/main" val="1312285942"/>
                    </a:ext>
                  </a:extLst>
                </a:gridCol>
                <a:gridCol w="246542">
                  <a:extLst>
                    <a:ext uri="{9D8B030D-6E8A-4147-A177-3AD203B41FA5}">
                      <a16:colId xmlns:a16="http://schemas.microsoft.com/office/drawing/2014/main" val="1984421895"/>
                    </a:ext>
                  </a:extLst>
                </a:gridCol>
                <a:gridCol w="256404">
                  <a:extLst>
                    <a:ext uri="{9D8B030D-6E8A-4147-A177-3AD203B41FA5}">
                      <a16:colId xmlns:a16="http://schemas.microsoft.com/office/drawing/2014/main" val="1425166354"/>
                    </a:ext>
                  </a:extLst>
                </a:gridCol>
                <a:gridCol w="236681">
                  <a:extLst>
                    <a:ext uri="{9D8B030D-6E8A-4147-A177-3AD203B41FA5}">
                      <a16:colId xmlns:a16="http://schemas.microsoft.com/office/drawing/2014/main" val="1748010579"/>
                    </a:ext>
                  </a:extLst>
                </a:gridCol>
                <a:gridCol w="256404">
                  <a:extLst>
                    <a:ext uri="{9D8B030D-6E8A-4147-A177-3AD203B41FA5}">
                      <a16:colId xmlns:a16="http://schemas.microsoft.com/office/drawing/2014/main" val="3171158756"/>
                    </a:ext>
                  </a:extLst>
                </a:gridCol>
              </a:tblGrid>
              <a:tr h="1139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5060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Farmer and stakeholder mobilization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2261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Engage and develop </a:t>
                      </a:r>
                      <a:r>
                        <a:rPr lang="en-US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coodination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mechanisms for scaling with provincial Governments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12642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and strengthen district multi stakeholder platforms for input market system coordination;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188985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input delivery and distribution strategies with public and private actors.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(per province)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842676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Prepare road maps for seed of target crops (OPV, hybrids, local land race, import, distribution and delivery) addressing inclusivity, sustainability and resilience.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(by province)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095834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Organise province level seed road map meetings with agrifood system value chain actors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(by province)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72625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1.2.2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Follow up with seed producers for finalizing road map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521130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 strategy to apply balanced soil fertility management technologies the 4Rs (right source, right rate, right time, right place) of nutrient management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 (1/crop)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008418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 TOTs on technology bundles with extension agents and lead farmers.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35113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1.3.2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 ToTs on ISFM with cooperatives and extension workers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52805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1.3.3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Co-design and distribute technlogy bundles and cropping calendars to stakeholders through physical and digital means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crops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903074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Prepare a water supply, irrigation equipment and machinery delivery strategy for efficient use and delivery at key crop stages.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(province wise)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507899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Co-design with stakeholders an irrigation scheduling and plot-based water management action plan for scaling technology bundles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crops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18441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cooperative level production plans with various category of farmers and inclusive technology delivery strategies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966938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 farmer mobilization and orientation programs at the various sites in the 3 provinces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21(7x3)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322974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Follow up trainings by cooperatives with producers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433498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 strategy for promoting digital platforms for extension and advisories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20277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Input market development and delivery  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55204"/>
                  </a:ext>
                </a:extLst>
              </a:tr>
              <a:tr h="22223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to implement the roadmaps for delivery of seed, ISFM, machinery and irrigation inputs product to farmers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(per crop)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00372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and implement an inclusive and last mile input distribution system with public private cooperative partnerships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(per crop)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884100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 training for market actors and extension workers on gender responsive, inclusive and sustainable input delivery and extension 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(1/province)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843968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 market actors with farmers cooperatives and large Ag development programs for supplying quality inputs throughout the cropping season.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MSMEs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711353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seed and machinery associations with new evidence and business case for investments.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374744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Strengthen farmers output market linkages to create a self-sustaining business model for ag inputs and outputs.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(maize and rice)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331882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2.6.1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Organise meeting between producers and buyers for facilitating purchase agreements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(Maize and rice)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491073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 and knowledge assisted public private-cooperative partnerships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350246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 market assessments for crops ag inputs ( status, emerging changes, opportunities and challenges) focussing on seed, soil fertility, ag machinery and irrigation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(per sector)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85249"/>
                  </a:ext>
                </a:extLst>
              </a:tr>
              <a:tr h="229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partnerships with donor and Government of Nepal programs for generating investmentsfor inclusive and responsible scaling.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62973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 annual monitoring of activities with local knowledge partners such as universities and colleges.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014709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Organize sharing meeting and joint field vists with stakeholders for sharing and scaling interventions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727464"/>
                  </a:ext>
                </a:extLst>
              </a:tr>
              <a:tr h="22223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Partcipate in local, provincial and national events to share scaling potential for ag inouts for generating investments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Lumpsum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60374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capacities on use of scaling scan tool for scaling rice, maize and legumes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(west and East)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569242"/>
                  </a:ext>
                </a:extLst>
              </a:tr>
              <a:tr h="1269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3136" marR="3136" marT="3136" marB="22578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to organize investment forum to boost the delivery of quality ag inputs to farmers. 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Nos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(per province)</a:t>
                      </a: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36" marR="3136" marT="3136" marB="2257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97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243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B0B5-D8A4-7F5E-0408-897AD636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2AC76D-E8AD-5723-2427-B77C4A66C2D8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Bilateral projects and </a:t>
            </a:r>
            <a:r>
              <a:rPr lang="en-US" sz="2800" err="1">
                <a:solidFill>
                  <a:schemeClr val="bg1"/>
                </a:solidFill>
              </a:rPr>
              <a:t>S4I</a:t>
            </a:r>
            <a:r>
              <a:rPr lang="en-US" sz="2800">
                <a:solidFill>
                  <a:schemeClr val="bg1"/>
                </a:solidFill>
              </a:rPr>
              <a:t> additionality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A7CEE2D-F44B-31A5-129C-4CC675044BAF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Bilateral description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9554C5F-3D7C-9417-2E10-5BEA4615F20A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/>
              <a:t>S4I</a:t>
            </a:r>
            <a:r>
              <a:rPr lang="en-US" b="1"/>
              <a:t> additionality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952A021-5A45-22D9-8C8F-DBB281CA1A5E}"/>
              </a:ext>
            </a:extLst>
          </p:cNvPr>
          <p:cNvSpPr txBox="1">
            <a:spLocks/>
          </p:cNvSpPr>
          <p:nvPr/>
        </p:nvSpPr>
        <p:spPr>
          <a:xfrm>
            <a:off x="462887" y="2266239"/>
            <a:ext cx="5183188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Bilateral programs:</a:t>
            </a:r>
          </a:p>
          <a:p>
            <a:r>
              <a:t>Provincial programs ($3M)</a:t>
            </a:r>
          </a:p>
          <a:p>
            <a:r>
              <a:t>MoALD rice mill model ($3M)</a:t>
            </a:r>
          </a:p>
          <a:p>
            <a:r>
              <a:t>CCDABC </a:t>
            </a:r>
            <a:r>
              <a:rPr err="1"/>
              <a:t>seed+soil</a:t>
            </a:r>
            <a:r>
              <a:t> ($200k)</a:t>
            </a:r>
          </a:p>
          <a:p>
            <a:r>
              <a:t>MoALD–JICA seed ($1.5M)</a:t>
            </a:r>
          </a:p>
          <a:p>
            <a:r>
              <a:t>University-led learning programs</a:t>
            </a:r>
          </a:p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356FA-9E7A-6376-3E1D-40A7B40EAF53}"/>
              </a:ext>
            </a:extLst>
          </p:cNvPr>
          <p:cNvSpPr txBox="1"/>
          <p:nvPr/>
        </p:nvSpPr>
        <p:spPr>
          <a:xfrm>
            <a:off x="6388998" y="2270142"/>
            <a:ext cx="5450005" cy="2436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/>
              <a:t>PPP scaling model; West→East scaling; capacity development; private-sector ecosystem; evidence generation.</a:t>
            </a:r>
          </a:p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402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5C4C-5C0B-2A75-E12A-3744932A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9002A4-E5F7-BDB9-E234-1BBFBF1E3C51}"/>
              </a:ext>
            </a:extLst>
          </p:cNvPr>
          <p:cNvSpPr txBox="1">
            <a:spLocks/>
          </p:cNvSpPr>
          <p:nvPr/>
        </p:nvSpPr>
        <p:spPr>
          <a:xfrm>
            <a:off x="3922923" y="0"/>
            <a:ext cx="7920210" cy="937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</a:rPr>
              <a:t>PRMS evidence and reference materials 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1EDDFF7-AB2C-D597-B331-77D83F2DFD8C}"/>
              </a:ext>
            </a:extLst>
          </p:cNvPr>
          <p:cNvSpPr txBox="1">
            <a:spLocks/>
          </p:cNvSpPr>
          <p:nvPr/>
        </p:nvSpPr>
        <p:spPr>
          <a:xfrm>
            <a:off x="350743" y="1055641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PRMS linkages*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CF02D37-341A-FD2B-B3C0-31FB6164B018}"/>
              </a:ext>
            </a:extLst>
          </p:cNvPr>
          <p:cNvSpPr txBox="1">
            <a:spLocks/>
          </p:cNvSpPr>
          <p:nvPr/>
        </p:nvSpPr>
        <p:spPr>
          <a:xfrm>
            <a:off x="225639" y="1708956"/>
            <a:ext cx="5157787" cy="36845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/>
              <a:t>Please share URLs to the 2022-25 PRMS reports on the relevant innovation development, innovation use or innovation package:</a:t>
            </a:r>
          </a:p>
          <a:p>
            <a:pPr lvl="1"/>
            <a:r>
              <a:rPr lang="en-US" sz="1600" i="1"/>
              <a:t>URL 1</a:t>
            </a:r>
          </a:p>
          <a:p>
            <a:pPr lvl="1"/>
            <a:r>
              <a:rPr lang="en-US" sz="1600" i="1"/>
              <a:t>URL 2</a:t>
            </a:r>
          </a:p>
          <a:p>
            <a:pPr lvl="1"/>
            <a:r>
              <a:rPr lang="en-US" sz="1600" i="1"/>
              <a:t>URL 3</a:t>
            </a:r>
          </a:p>
          <a:p>
            <a:pPr lvl="1"/>
            <a:r>
              <a:rPr lang="en-US" sz="1600" i="1"/>
              <a:t>Etc.</a:t>
            </a:r>
            <a:br>
              <a:rPr lang="en-US" sz="1600" i="1"/>
            </a:br>
            <a:endParaRPr lang="en-US" sz="1600" i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A38957B-90DA-885B-D9A0-41893AC7FBB3}"/>
              </a:ext>
            </a:extLst>
          </p:cNvPr>
          <p:cNvSpPr txBox="1">
            <a:spLocks/>
          </p:cNvSpPr>
          <p:nvPr/>
        </p:nvSpPr>
        <p:spPr>
          <a:xfrm>
            <a:off x="6172200" y="1055641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Other evidence and reference materials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EF57EE5-9B75-1534-A6AF-3DA6ED3E8A14}"/>
              </a:ext>
            </a:extLst>
          </p:cNvPr>
          <p:cNvSpPr txBox="1">
            <a:spLocks/>
          </p:cNvSpPr>
          <p:nvPr/>
        </p:nvSpPr>
        <p:spPr>
          <a:xfrm>
            <a:off x="5171185" y="1880997"/>
            <a:ext cx="6788964" cy="390952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PRMS: To be linked once mapped</a:t>
            </a:r>
          </a:p>
          <a:p>
            <a:r>
              <a:t>Evidence materials:</a:t>
            </a:r>
          </a:p>
          <a:p>
            <a:r>
              <a:t>MCM policy review</a:t>
            </a:r>
            <a:r>
              <a:rPr lang="en-GB"/>
              <a:t>; </a:t>
            </a:r>
            <a:r>
              <a:t>NSAF close-out</a:t>
            </a:r>
            <a:r>
              <a:rPr lang="en-GB"/>
              <a:t>; </a:t>
            </a:r>
            <a:r>
              <a:t>Digital soil maps &amp; fertilizer guidelines</a:t>
            </a:r>
          </a:p>
          <a:p>
            <a:r>
              <a:t>Seed-to-feed publications</a:t>
            </a:r>
          </a:p>
          <a:p>
            <a:r>
              <a:t>Workshop reports</a:t>
            </a:r>
          </a:p>
          <a:p>
            <a:r>
              <a:t>Blog: Innovation bundling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95535-70DE-5F64-08A3-A78706439743}"/>
              </a:ext>
            </a:extLst>
          </p:cNvPr>
          <p:cNvSpPr txBox="1"/>
          <p:nvPr/>
        </p:nvSpPr>
        <p:spPr>
          <a:xfrm>
            <a:off x="836612" y="5727998"/>
            <a:ext cx="11110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PRMS = CGIAR’s Performance and Results Management System where CGIAR tracks innovation development</a:t>
            </a:r>
            <a:br>
              <a:rPr lang="en-US"/>
            </a:br>
            <a:r>
              <a:rPr lang="en-US"/>
              <a:t>and innovation use (scaling) progress. Visit: </a:t>
            </a:r>
            <a:r>
              <a:rPr lang="en-US">
                <a:hlinkClick r:id="rId2"/>
              </a:rPr>
              <a:t>www.reporting.cgiar.org</a:t>
            </a:r>
            <a:r>
              <a:rPr lang="en-US"/>
              <a:t> or</a:t>
            </a:r>
            <a:br>
              <a:rPr lang="en-US"/>
            </a:br>
            <a:r>
              <a:rPr lang="en-US"/>
              <a:t> </a:t>
            </a:r>
            <a:r>
              <a:rPr lang="en-US">
                <a:hlinkClick r:id="rId3"/>
              </a:rPr>
              <a:t>https://www.cgiar.org/food-security-impact/new-results-dashboard/</a:t>
            </a:r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651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Microsoft Office PowerPoint</Application>
  <PresentationFormat>Widescreen</PresentationFormat>
  <Paragraphs>264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Noto Sans Bold</vt:lpstr>
      <vt:lpstr>Office Theme</vt:lpstr>
      <vt:lpstr>1_Custom Design</vt:lpstr>
      <vt:lpstr>Custom Design</vt:lpstr>
      <vt:lpstr>Market-led Partnerships for Resilient Agri-Food Systems in Terai, Nepal</vt:lpstr>
      <vt:lpstr> Scaling Track Presentation Outline</vt:lpstr>
      <vt:lpstr>The Innovation 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S4I AoW2 Mid-Year Report 2025</dc:title>
  <dc:creator>RANA, Md. Masud (CIMMYT-Bangladesh)</dc:creator>
  <cp:lastModifiedBy>RANA, Md. Masud (CIMMYT-Bangladesh)</cp:lastModifiedBy>
  <cp:revision>1</cp:revision>
  <cp:lastPrinted>2025-07-21T06:09:53Z</cp:lastPrinted>
  <dcterms:created xsi:type="dcterms:W3CDTF">2025-07-15T06:10:02Z</dcterms:created>
  <dcterms:modified xsi:type="dcterms:W3CDTF">2026-01-14T05:48:56Z</dcterms:modified>
</cp:coreProperties>
</file>