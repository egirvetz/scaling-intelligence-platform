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60" r:id="rId3"/>
    <p:sldMasterId id="2147483684" r:id="rId4"/>
  </p:sldMasterIdLst>
  <p:notesMasterIdLst>
    <p:notesMasterId r:id="rId16"/>
  </p:notesMasterIdLst>
  <p:handoutMasterIdLst>
    <p:handoutMasterId r:id="rId17"/>
  </p:handoutMasterIdLst>
  <p:sldIdLst>
    <p:sldId id="256" r:id="rId5"/>
    <p:sldId id="2147475495" r:id="rId6"/>
    <p:sldId id="2147475496" r:id="rId7"/>
    <p:sldId id="2147475489" r:id="rId8"/>
    <p:sldId id="2147475493" r:id="rId9"/>
    <p:sldId id="2147475485" r:id="rId10"/>
    <p:sldId id="2147475497" r:id="rId11"/>
    <p:sldId id="2147475498" r:id="rId12"/>
    <p:sldId id="2147475500" r:id="rId13"/>
    <p:sldId id="2147475491" r:id="rId14"/>
    <p:sldId id="2147475502" r:id="rId1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2E5E0F-49E5-8F12-C4A4-F73698175BDC}" name="Rice, Brendan (IFPRI-Italy)" initials="BR" userId="S::B.RICE@cgiar.org::d27cf286-7786-426b-8970-21663004259a" providerId="AD"/>
  <p188:author id="{358F9117-8D9A-EC00-E4EB-9B7477660C43}" name="KRUPNIK, Timothy Joseph (CIMMYT-Bangladesh)" initials="" userId="S::t.krupnik@cgiar.org::66a9580e-a7fc-4d2d-99e3-c6757b26337b" providerId="AD"/>
  <p188:author id="{9AE3E736-9C0F-7594-B597-EC19E5A58118}" name="Rice, Brendan (IFPRI-Italy)" initials="RB" userId="S::b.rice@cgiar.org::d27cf286-7786-426b-8970-21663004259a" providerId="AD"/>
  <p188:author id="{7F465343-947B-007E-6475-F8CE8974B6A4}" name="Girvetz, Evan (Alliance Bioversity-CIAT)" initials="GE(BC" userId="S::e.girvetz@cgiar.org::134deccc-b0f9-4a34-9036-937f79342107" providerId="AD"/>
  <p188:author id="{DDC10850-7D6F-677C-1D47-9B83028562A5}" name="Jacobs-Mata, Inga (IWMI)" initials="" userId="S::i.jacobs-mata@cgiar.org::9de18fd2-cbd7-4683-941f-749267bc2bfc" providerId="AD"/>
  <p188:author id="{74E8B856-FC0C-3BF0-55B8-08BF7BE5B3CC}" name="RANA, Md. Masud (CIMMYT-Bangladesh)" initials="" userId="S::MASUD.RANA@cgiar.org::1cb892da-30d3-41cf-ba3c-8e2eb59190ef" providerId="AD"/>
  <p188:author id="{2032D083-9EFA-BF1E-1676-7057796111F8}" name="Hanke-Louw, Nora (IWMI)" initials="HN" userId="S::n.hanke-louw@cgiar.org::16eface5-bfbf-4414-a40a-714a09057f4d" providerId="AD"/>
  <p188:author id="{FF0CFA88-CAE4-0F24-8A1A-BCF54DFFC25E}" name="Kramer, Berber (IFPRI-Kenya)" initials="KB" userId="S::b.kramer@cgiar.org::c30f419b-d72e-41fd-9f72-8c4a1c153bb4" providerId="AD"/>
  <p188:author id="{45B91EEB-7CF7-68B2-C5EC-65FF85FFFE80}" name="ISLAM, AKM Saiful (CIMMYT-Bangladesh)" initials="" userId="S::A.S.ISLAM@cgiar.org::663ad5ab-c617-4ce5-83a7-c8e06aa4911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A4B1"/>
    <a:srgbClr val="C2B2C0"/>
    <a:srgbClr val="C8B7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5C43D-A31D-E0AC-CE40-E4BF06BF1678}" v="8" dt="2026-01-18T13:38:41.146"/>
    <p1510:client id="{5A0A889F-D0F1-FBF3-7DB6-569DD60889A1}" v="1" dt="2026-01-18T05:07:59.542"/>
    <p1510:client id="{FB36AD4D-851A-7FEC-2C85-7B21BE5BBD7C}" v="19" dt="2026-01-18T22:01:05.7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C29FB6-EA06-517A-F3BB-D8CC8500BF8D}"/>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a:extLst>
              <a:ext uri="{FF2B5EF4-FFF2-40B4-BE49-F238E27FC236}">
                <a16:creationId xmlns:a16="http://schemas.microsoft.com/office/drawing/2014/main" id="{3CCE1292-EE5E-EEA2-5247-F9918EAE0414}"/>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9E8BDDDF-F1CD-40D3-9518-C237A779E073}" type="datetimeFigureOut">
              <a:rPr lang="en-US" smtClean="0"/>
              <a:t>19-Jan-26</a:t>
            </a:fld>
            <a:endParaRPr lang="en-US"/>
          </a:p>
        </p:txBody>
      </p:sp>
      <p:sp>
        <p:nvSpPr>
          <p:cNvPr id="4" name="Footer Placeholder 3">
            <a:extLst>
              <a:ext uri="{FF2B5EF4-FFF2-40B4-BE49-F238E27FC236}">
                <a16:creationId xmlns:a16="http://schemas.microsoft.com/office/drawing/2014/main" id="{B8228F19-FE23-00D7-1FFB-54B70B959CE2}"/>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A34D1D6-66CB-4BF6-E30B-E9153A6B964E}"/>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9275824F-1BAF-46EA-92A0-997B3E21A474}" type="slidenum">
              <a:rPr lang="en-US" smtClean="0"/>
              <a:t>‹#›</a:t>
            </a:fld>
            <a:endParaRPr lang="en-US"/>
          </a:p>
        </p:txBody>
      </p:sp>
    </p:spTree>
    <p:extLst>
      <p:ext uri="{BB962C8B-B14F-4D97-AF65-F5344CB8AC3E}">
        <p14:creationId xmlns:p14="http://schemas.microsoft.com/office/powerpoint/2010/main" val="19529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937F915-8234-436D-A7C2-72BD2C534D4D}" type="datetimeFigureOut">
              <a:rPr lang="en-US" smtClean="0"/>
              <a:t>19-Jan-26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4A5A2097-C9A8-47E2-88A3-DB3F00F21D94}" type="slidenum">
              <a:rPr lang="en-US" smtClean="0"/>
              <a:t>‹#›</a:t>
            </a:fld>
            <a:endParaRPr lang="en-US"/>
          </a:p>
        </p:txBody>
      </p:sp>
    </p:spTree>
    <p:extLst>
      <p:ext uri="{BB962C8B-B14F-4D97-AF65-F5344CB8AC3E}">
        <p14:creationId xmlns:p14="http://schemas.microsoft.com/office/powerpoint/2010/main" val="250899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reporting.cgiar.org/"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cgiar.org/food-security-impact/new-results-dashboard/"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5A2097-C9A8-47E2-88A3-DB3F00F21D94}" type="slidenum">
              <a:rPr lang="en-US" smtClean="0"/>
              <a:t>1</a:t>
            </a:fld>
            <a:endParaRPr lang="en-US"/>
          </a:p>
        </p:txBody>
      </p:sp>
    </p:spTree>
    <p:extLst>
      <p:ext uri="{BB962C8B-B14F-4D97-AF65-F5344CB8AC3E}">
        <p14:creationId xmlns:p14="http://schemas.microsoft.com/office/powerpoint/2010/main" val="1655773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5A2097-C9A8-47E2-88A3-DB3F00F21D94}" type="slidenum">
              <a:rPr lang="en-US" smtClean="0"/>
              <a:t>2</a:t>
            </a:fld>
            <a:endParaRPr lang="en-US"/>
          </a:p>
        </p:txBody>
      </p:sp>
    </p:spTree>
    <p:extLst>
      <p:ext uri="{BB962C8B-B14F-4D97-AF65-F5344CB8AC3E}">
        <p14:creationId xmlns:p14="http://schemas.microsoft.com/office/powerpoint/2010/main" val="2782307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PRMS = CGIAR’s Performance and Results Management System where CGIAR tracks innovation development</a:t>
            </a:r>
            <a:br>
              <a:rPr lang="en-US"/>
            </a:br>
            <a:r>
              <a:rPr lang="en-US"/>
              <a:t>and innovation use (scaling) progress. Visit: </a:t>
            </a:r>
            <a:r>
              <a:rPr lang="en-US">
                <a:hlinkClick r:id="rId3"/>
              </a:rPr>
              <a:t>www.reporting.cgiar.org</a:t>
            </a:r>
            <a:r>
              <a:rPr lang="en-US"/>
              <a:t> or</a:t>
            </a:r>
            <a:br>
              <a:rPr lang="en-US"/>
            </a:br>
            <a:r>
              <a:rPr lang="en-US"/>
              <a:t> </a:t>
            </a:r>
            <a:r>
              <a:rPr lang="en-US">
                <a:hlinkClick r:id="rId4"/>
              </a:rPr>
              <a:t>https://www.cgiar.org/food-security-impact/new-results-dashboard/</a:t>
            </a:r>
            <a:r>
              <a:rPr lang="en-US"/>
              <a:t>   </a:t>
            </a:r>
          </a:p>
          <a:p>
            <a:endParaRPr lang="en-US"/>
          </a:p>
        </p:txBody>
      </p:sp>
      <p:sp>
        <p:nvSpPr>
          <p:cNvPr id="4" name="Slide Number Placeholder 3"/>
          <p:cNvSpPr>
            <a:spLocks noGrp="1"/>
          </p:cNvSpPr>
          <p:nvPr>
            <p:ph type="sldNum" sz="quarter" idx="5"/>
          </p:nvPr>
        </p:nvSpPr>
        <p:spPr/>
        <p:txBody>
          <a:bodyPr/>
          <a:lstStyle/>
          <a:p>
            <a:fld id="{4A5A2097-C9A8-47E2-88A3-DB3F00F21D94}" type="slidenum">
              <a:rPr lang="en-US" smtClean="0"/>
              <a:t>11</a:t>
            </a:fld>
            <a:endParaRPr lang="en-US"/>
          </a:p>
        </p:txBody>
      </p:sp>
    </p:spTree>
    <p:extLst>
      <p:ext uri="{BB962C8B-B14F-4D97-AF65-F5344CB8AC3E}">
        <p14:creationId xmlns:p14="http://schemas.microsoft.com/office/powerpoint/2010/main" val="155148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AF5C6-F4F2-8C78-357A-5200997F856B}"/>
              </a:ext>
            </a:extLst>
          </p:cNvPr>
          <p:cNvSpPr>
            <a:spLocks noGrp="1"/>
          </p:cNvSpPr>
          <p:nvPr>
            <p:ph type="ctrTitle" hasCustomPrompt="1"/>
          </p:nvPr>
        </p:nvSpPr>
        <p:spPr>
          <a:xfrm>
            <a:off x="539602" y="2049495"/>
            <a:ext cx="5945372" cy="1755418"/>
          </a:xfrm>
        </p:spPr>
        <p:txBody>
          <a:bodyPr anchor="t"/>
          <a:lstStyle>
            <a:lvl1pPr algn="l">
              <a:defRPr sz="6000"/>
            </a:lvl1pPr>
          </a:lstStyle>
          <a:p>
            <a:r>
              <a:rPr lang="en-US"/>
              <a:t>Title</a:t>
            </a:r>
          </a:p>
        </p:txBody>
      </p:sp>
      <p:sp>
        <p:nvSpPr>
          <p:cNvPr id="3" name="Subtitle 2">
            <a:extLst>
              <a:ext uri="{FF2B5EF4-FFF2-40B4-BE49-F238E27FC236}">
                <a16:creationId xmlns:a16="http://schemas.microsoft.com/office/drawing/2014/main" id="{3DD4AAC9-CBBA-3F90-9C0D-AD32A582D84D}"/>
              </a:ext>
            </a:extLst>
          </p:cNvPr>
          <p:cNvSpPr>
            <a:spLocks noGrp="1"/>
          </p:cNvSpPr>
          <p:nvPr>
            <p:ph type="subTitle" idx="1" hasCustomPrompt="1"/>
          </p:nvPr>
        </p:nvSpPr>
        <p:spPr>
          <a:xfrm>
            <a:off x="539602" y="4162647"/>
            <a:ext cx="5945372" cy="1988287"/>
          </a:xfrm>
        </p:spPr>
        <p:txBody>
          <a:bodyPr/>
          <a:lstStyle>
            <a:lvl1pPr marL="0" indent="0" algn="l">
              <a:buFont typeface="Arial" panose="020B0604020202020204" pitchFamily="34" charset="0"/>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
        <p:nvSpPr>
          <p:cNvPr id="4" name="Date Placeholder 3">
            <a:extLst>
              <a:ext uri="{FF2B5EF4-FFF2-40B4-BE49-F238E27FC236}">
                <a16:creationId xmlns:a16="http://schemas.microsoft.com/office/drawing/2014/main" id="{7361FF1F-A1A8-BBE0-B82C-78B997DBF3B8}"/>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F0209E66-F411-1697-D25A-0C1AFF20B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A45E-06E8-4374-A2D2-2BA0252773CB}"/>
              </a:ext>
            </a:extLst>
          </p:cNvPr>
          <p:cNvSpPr>
            <a:spLocks noGrp="1"/>
          </p:cNvSpPr>
          <p:nvPr>
            <p:ph type="sldNum" sz="quarter" idx="12"/>
          </p:nvPr>
        </p:nvSpPr>
        <p:spPr/>
        <p:txBody>
          <a:bodyPr/>
          <a:lstStyle/>
          <a:p>
            <a:fld id="{D3E9222A-6CCA-472D-8DB6-CE667BDAEEB5}" type="slidenum">
              <a:rPr lang="en-US" smtClean="0"/>
              <a:t>‹#›</a:t>
            </a:fld>
            <a:endParaRPr lang="en-US"/>
          </a:p>
        </p:txBody>
      </p:sp>
      <p:grpSp>
        <p:nvGrpSpPr>
          <p:cNvPr id="32" name="Group 31">
            <a:extLst>
              <a:ext uri="{FF2B5EF4-FFF2-40B4-BE49-F238E27FC236}">
                <a16:creationId xmlns:a16="http://schemas.microsoft.com/office/drawing/2014/main" id="{B25BF274-CFFA-C539-E9D0-CA41BC40352C}"/>
              </a:ext>
            </a:extLst>
          </p:cNvPr>
          <p:cNvGrpSpPr/>
          <p:nvPr userDrawn="1"/>
        </p:nvGrpSpPr>
        <p:grpSpPr>
          <a:xfrm>
            <a:off x="7791" y="-88816"/>
            <a:ext cx="12321714" cy="7129542"/>
            <a:chOff x="7791" y="-88816"/>
            <a:chExt cx="12321714" cy="7129542"/>
          </a:xfrm>
        </p:grpSpPr>
        <p:sp>
          <p:nvSpPr>
            <p:cNvPr id="30" name="TextBox 5">
              <a:extLst>
                <a:ext uri="{FF2B5EF4-FFF2-40B4-BE49-F238E27FC236}">
                  <a16:creationId xmlns:a16="http://schemas.microsoft.com/office/drawing/2014/main" id="{8FD2F6C7-15A4-4CC5-46A0-2008ADB83369}"/>
                </a:ext>
              </a:extLst>
            </p:cNvPr>
            <p:cNvSpPr txBox="1"/>
            <p:nvPr/>
          </p:nvSpPr>
          <p:spPr>
            <a:xfrm>
              <a:off x="10152181" y="-10924"/>
              <a:ext cx="2036648" cy="866111"/>
            </a:xfrm>
            <a:prstGeom prst="rect">
              <a:avLst/>
            </a:prstGeom>
          </p:spPr>
          <p:txBody>
            <a:bodyPr lIns="50800" tIns="50800" rIns="50800" bIns="50800" rtlCol="0" anchor="ctr"/>
            <a:lstStyle/>
            <a:p>
              <a:pPr algn="ctr">
                <a:lnSpc>
                  <a:spcPts val="2659"/>
                </a:lnSpc>
              </a:pPr>
              <a:endParaRPr>
                <a:latin typeface="Aptos" panose="020B0004020202020204" pitchFamily="34" charset="0"/>
              </a:endParaRPr>
            </a:p>
          </p:txBody>
        </p:sp>
        <p:sp>
          <p:nvSpPr>
            <p:cNvPr id="28" name="TextBox 8">
              <a:extLst>
                <a:ext uri="{FF2B5EF4-FFF2-40B4-BE49-F238E27FC236}">
                  <a16:creationId xmlns:a16="http://schemas.microsoft.com/office/drawing/2014/main" id="{88F3818C-4A4A-0CB6-004C-34B616786DA7}"/>
                </a:ext>
              </a:extLst>
            </p:cNvPr>
            <p:cNvSpPr txBox="1"/>
            <p:nvPr/>
          </p:nvSpPr>
          <p:spPr>
            <a:xfrm>
              <a:off x="7791" y="-88816"/>
              <a:ext cx="12181038" cy="983678"/>
            </a:xfrm>
            <a:prstGeom prst="rect">
              <a:avLst/>
            </a:prstGeom>
          </p:spPr>
          <p:txBody>
            <a:bodyPr lIns="50800" tIns="50800" rIns="50800" bIns="50800" rtlCol="0" anchor="ctr"/>
            <a:lstStyle/>
            <a:p>
              <a:pPr algn="ctr">
                <a:lnSpc>
                  <a:spcPts val="2659"/>
                </a:lnSpc>
                <a:spcBef>
                  <a:spcPct val="0"/>
                </a:spcBef>
              </a:pPr>
              <a:endParaRPr>
                <a:latin typeface="Aptos" panose="020B0004020202020204" pitchFamily="34" charset="0"/>
              </a:endParaRPr>
            </a:p>
          </p:txBody>
        </p:sp>
        <p:sp>
          <p:nvSpPr>
            <p:cNvPr id="22" name="Freeform 10">
              <a:extLst>
                <a:ext uri="{FF2B5EF4-FFF2-40B4-BE49-F238E27FC236}">
                  <a16:creationId xmlns:a16="http://schemas.microsoft.com/office/drawing/2014/main" id="{338AF68E-8B52-4FB6-015B-0E6CF30A131C}"/>
                </a:ext>
              </a:extLst>
            </p:cNvPr>
            <p:cNvSpPr/>
            <p:nvPr/>
          </p:nvSpPr>
          <p:spPr>
            <a:xfrm>
              <a:off x="6055242" y="754912"/>
              <a:ext cx="6274263" cy="6285814"/>
            </a:xfrm>
            <a:custGeom>
              <a:avLst/>
              <a:gdLst/>
              <a:ahLst/>
              <a:cxnLst/>
              <a:rect l="l" t="t" r="r" b="b"/>
              <a:pathLst>
                <a:path w="12478229" h="12544672">
                  <a:moveTo>
                    <a:pt x="0" y="0"/>
                  </a:moveTo>
                  <a:lnTo>
                    <a:pt x="12478229" y="0"/>
                  </a:lnTo>
                  <a:lnTo>
                    <a:pt x="12478229" y="12544672"/>
                  </a:lnTo>
                  <a:lnTo>
                    <a:pt x="0" y="12544672"/>
                  </a:lnTo>
                  <a:lnTo>
                    <a:pt x="0" y="0"/>
                  </a:lnTo>
                  <a:close/>
                </a:path>
              </a:pathLst>
            </a:custGeom>
            <a:blipFill dpi="0" rotWithShape="1">
              <a:blip r:embed="rId2">
                <a:alphaModFix amt="11000"/>
              </a:blip>
              <a:srcRect/>
              <a:stretch>
                <a:fillRect r="-148000"/>
              </a:stretch>
            </a:blipFill>
          </p:spPr>
          <p:txBody>
            <a:bodyPr/>
            <a:lstStyle/>
            <a:p>
              <a:endParaRPr lang="en-US">
                <a:latin typeface="Aptos" panose="020B0004020202020204" pitchFamily="34" charset="0"/>
              </a:endParaRPr>
            </a:p>
          </p:txBody>
        </p:sp>
      </p:grpSp>
      <p:pic>
        <p:nvPicPr>
          <p:cNvPr id="34" name="Picture 33" descr="A green and white sign&#10;&#10;AI-generated content may be incorrect.">
            <a:extLst>
              <a:ext uri="{FF2B5EF4-FFF2-40B4-BE49-F238E27FC236}">
                <a16:creationId xmlns:a16="http://schemas.microsoft.com/office/drawing/2014/main" id="{AD3C3E09-5DBB-EEB2-633C-328A3630505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5324" y="137553"/>
            <a:ext cx="7037497" cy="1676169"/>
          </a:xfrm>
          <a:prstGeom prst="rect">
            <a:avLst/>
          </a:prstGeom>
        </p:spPr>
      </p:pic>
    </p:spTree>
    <p:extLst>
      <p:ext uri="{BB962C8B-B14F-4D97-AF65-F5344CB8AC3E}">
        <p14:creationId xmlns:p14="http://schemas.microsoft.com/office/powerpoint/2010/main" val="279423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0" name="Picture 19" descr="A purple and white gradient&#10;&#10;AI-generated content may be incorrect.">
            <a:extLst>
              <a:ext uri="{FF2B5EF4-FFF2-40B4-BE49-F238E27FC236}">
                <a16:creationId xmlns:a16="http://schemas.microsoft.com/office/drawing/2014/main" id="{0D2A358A-11B6-989A-92C7-FF7A613E56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79"/>
            <a:ext cx="12192000" cy="939800"/>
          </a:xfrm>
          <a:prstGeom prst="rect">
            <a:avLst/>
          </a:prstGeom>
        </p:spPr>
      </p:pic>
      <p:sp>
        <p:nvSpPr>
          <p:cNvPr id="2" name="Title 1">
            <a:extLst>
              <a:ext uri="{FF2B5EF4-FFF2-40B4-BE49-F238E27FC236}">
                <a16:creationId xmlns:a16="http://schemas.microsoft.com/office/drawing/2014/main" id="{19E76877-E83B-99C4-8B78-A6DBE838964E}"/>
              </a:ext>
            </a:extLst>
          </p:cNvPr>
          <p:cNvSpPr>
            <a:spLocks noGrp="1"/>
          </p:cNvSpPr>
          <p:nvPr>
            <p:ph type="title" hasCustomPrompt="1"/>
          </p:nvPr>
        </p:nvSpPr>
        <p:spPr>
          <a:xfrm>
            <a:off x="838200" y="1170186"/>
            <a:ext cx="10515600" cy="937363"/>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a:solidFill>
                  <a:srgbClr val="D486FC"/>
                </a:solidFill>
                <a:latin typeface="Noto Sans Bold"/>
                <a:ea typeface="Noto Sans Bold"/>
                <a:cs typeface="Noto Sans Bold"/>
                <a:sym typeface="Noto Sans Bold"/>
              </a:rPr>
              <a:t>Title</a:t>
            </a:r>
            <a:endParaRPr lang="en-US"/>
          </a:p>
        </p:txBody>
      </p:sp>
      <p:sp>
        <p:nvSpPr>
          <p:cNvPr id="3" name="Content Placeholder 2">
            <a:extLst>
              <a:ext uri="{FF2B5EF4-FFF2-40B4-BE49-F238E27FC236}">
                <a16:creationId xmlns:a16="http://schemas.microsoft.com/office/drawing/2014/main" id="{1E73B3C0-90C2-8D01-3CFA-67419DC85A9D}"/>
              </a:ext>
            </a:extLst>
          </p:cNvPr>
          <p:cNvSpPr>
            <a:spLocks noGrp="1"/>
          </p:cNvSpPr>
          <p:nvPr>
            <p:ph idx="1" hasCustomPrompt="1"/>
          </p:nvPr>
        </p:nvSpPr>
        <p:spPr>
          <a:xfrm>
            <a:off x="838200" y="2498650"/>
            <a:ext cx="10478386" cy="3666313"/>
          </a:xfrm>
        </p:spPr>
        <p:txBody>
          <a:bodyPr/>
          <a:lstStyle>
            <a:lvl1pPr>
              <a:defRPr/>
            </a:lvl1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3D095-834F-66D4-8F2C-836061AC3A22}"/>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35BBE5F8-5B17-CE2A-ED54-8420CFE674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F69739-107D-4A19-8C9F-24C5A47CA39D}"/>
              </a:ext>
            </a:extLst>
          </p:cNvPr>
          <p:cNvSpPr>
            <a:spLocks noGrp="1"/>
          </p:cNvSpPr>
          <p:nvPr>
            <p:ph type="sldNum" sz="quarter" idx="12"/>
          </p:nvPr>
        </p:nvSpPr>
        <p:spPr/>
        <p:txBody>
          <a:bodyPr/>
          <a:lstStyle/>
          <a:p>
            <a:fld id="{D3E9222A-6CCA-472D-8DB6-CE667BDAEEB5}" type="slidenum">
              <a:rPr lang="en-US" smtClean="0"/>
              <a:t>‹#›</a:t>
            </a:fld>
            <a:endParaRPr lang="en-US"/>
          </a:p>
        </p:txBody>
      </p:sp>
      <p:pic>
        <p:nvPicPr>
          <p:cNvPr id="19" name="Picture 18" descr="A close up of a logo&#10;&#10;AI-generated content may be incorrect.">
            <a:extLst>
              <a:ext uri="{FF2B5EF4-FFF2-40B4-BE49-F238E27FC236}">
                <a16:creationId xmlns:a16="http://schemas.microsoft.com/office/drawing/2014/main" id="{E3232194-93D9-EC47-D39F-3F07F389C85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318" y="49174"/>
            <a:ext cx="3509771" cy="835946"/>
          </a:xfrm>
          <a:prstGeom prst="rect">
            <a:avLst/>
          </a:prstGeom>
        </p:spPr>
      </p:pic>
      <p:sp>
        <p:nvSpPr>
          <p:cNvPr id="10" name="Freeform 10">
            <a:extLst>
              <a:ext uri="{FF2B5EF4-FFF2-40B4-BE49-F238E27FC236}">
                <a16:creationId xmlns:a16="http://schemas.microsoft.com/office/drawing/2014/main" id="{3F1C3CB6-1CE7-5EC9-2EC5-BAAECF35B50C}"/>
              </a:ext>
            </a:extLst>
          </p:cNvPr>
          <p:cNvSpPr/>
          <p:nvPr/>
        </p:nvSpPr>
        <p:spPr>
          <a:xfrm>
            <a:off x="-3108961" y="1389329"/>
            <a:ext cx="6233505" cy="6266696"/>
          </a:xfrm>
          <a:custGeom>
            <a:avLst/>
            <a:gdLst/>
            <a:ahLst/>
            <a:cxnLst/>
            <a:rect l="l" t="t" r="r" b="b"/>
            <a:pathLst>
              <a:path w="12478229" h="12544672">
                <a:moveTo>
                  <a:pt x="0" y="0"/>
                </a:moveTo>
                <a:lnTo>
                  <a:pt x="12478229" y="0"/>
                </a:lnTo>
                <a:lnTo>
                  <a:pt x="12478229" y="12544672"/>
                </a:lnTo>
                <a:lnTo>
                  <a:pt x="0" y="12544672"/>
                </a:lnTo>
                <a:lnTo>
                  <a:pt x="0" y="0"/>
                </a:lnTo>
                <a:close/>
              </a:path>
            </a:pathLst>
          </a:custGeom>
          <a:blipFill dpi="0" rotWithShape="1">
            <a:blip r:embed="rId4">
              <a:alphaModFix amt="11000"/>
            </a:blip>
            <a:srcRect/>
            <a:stretch>
              <a:fillRect r="-148000"/>
            </a:stretch>
          </a:blipFill>
        </p:spPr>
        <p:txBody>
          <a:bodyPr/>
          <a:lstStyle/>
          <a:p>
            <a:endParaRPr lang="en-US">
              <a:latin typeface="Aptos" panose="020B0004020202020204" pitchFamily="34" charset="0"/>
            </a:endParaRPr>
          </a:p>
        </p:txBody>
      </p:sp>
      <p:sp>
        <p:nvSpPr>
          <p:cNvPr id="11" name="Freeform 11">
            <a:extLst>
              <a:ext uri="{FF2B5EF4-FFF2-40B4-BE49-F238E27FC236}">
                <a16:creationId xmlns:a16="http://schemas.microsoft.com/office/drawing/2014/main" id="{6539866E-AE45-003C-B6FC-EFD1DABDBF39}"/>
              </a:ext>
            </a:extLst>
          </p:cNvPr>
          <p:cNvSpPr/>
          <p:nvPr/>
        </p:nvSpPr>
        <p:spPr>
          <a:xfrm>
            <a:off x="11396785" y="-1672"/>
            <a:ext cx="792044" cy="206921"/>
          </a:xfrm>
          <a:custGeom>
            <a:avLst/>
            <a:gdLst/>
            <a:ahLst/>
            <a:cxnLst/>
            <a:rect l="l" t="t" r="r" b="b"/>
            <a:pathLst>
              <a:path w="1585513" h="414215">
                <a:moveTo>
                  <a:pt x="0" y="0"/>
                </a:moveTo>
                <a:lnTo>
                  <a:pt x="1585513" y="0"/>
                </a:lnTo>
                <a:lnTo>
                  <a:pt x="1585513" y="414216"/>
                </a:lnTo>
                <a:lnTo>
                  <a:pt x="0" y="414216"/>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
        <p:nvSpPr>
          <p:cNvPr id="13" name="Freeform 13">
            <a:extLst>
              <a:ext uri="{FF2B5EF4-FFF2-40B4-BE49-F238E27FC236}">
                <a16:creationId xmlns:a16="http://schemas.microsoft.com/office/drawing/2014/main" id="{828AB790-CD73-964B-DAAF-45FFBD527039}"/>
              </a:ext>
            </a:extLst>
          </p:cNvPr>
          <p:cNvSpPr/>
          <p:nvPr/>
        </p:nvSpPr>
        <p:spPr>
          <a:xfrm>
            <a:off x="11396785" y="477779"/>
            <a:ext cx="792044" cy="206921"/>
          </a:xfrm>
          <a:custGeom>
            <a:avLst/>
            <a:gdLst/>
            <a:ahLst/>
            <a:cxnLst/>
            <a:rect l="l" t="t" r="r" b="b"/>
            <a:pathLst>
              <a:path w="1585513" h="414215">
                <a:moveTo>
                  <a:pt x="0" y="0"/>
                </a:moveTo>
                <a:lnTo>
                  <a:pt x="1585513" y="0"/>
                </a:lnTo>
                <a:lnTo>
                  <a:pt x="1585513" y="414215"/>
                </a:lnTo>
                <a:lnTo>
                  <a:pt x="0" y="414215"/>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
        <p:nvSpPr>
          <p:cNvPr id="22" name="Freeform 13">
            <a:extLst>
              <a:ext uri="{FF2B5EF4-FFF2-40B4-BE49-F238E27FC236}">
                <a16:creationId xmlns:a16="http://schemas.microsoft.com/office/drawing/2014/main" id="{D8B400E5-20D3-B8D6-DC3F-4E58E0F11B5B}"/>
              </a:ext>
            </a:extLst>
          </p:cNvPr>
          <p:cNvSpPr/>
          <p:nvPr userDrawn="1"/>
        </p:nvSpPr>
        <p:spPr>
          <a:xfrm>
            <a:off x="11399956" y="710095"/>
            <a:ext cx="792044" cy="206921"/>
          </a:xfrm>
          <a:custGeom>
            <a:avLst/>
            <a:gdLst/>
            <a:ahLst/>
            <a:cxnLst/>
            <a:rect l="l" t="t" r="r" b="b"/>
            <a:pathLst>
              <a:path w="1585513" h="414215">
                <a:moveTo>
                  <a:pt x="0" y="0"/>
                </a:moveTo>
                <a:lnTo>
                  <a:pt x="1585513" y="0"/>
                </a:lnTo>
                <a:lnTo>
                  <a:pt x="1585513" y="414215"/>
                </a:lnTo>
                <a:lnTo>
                  <a:pt x="0" y="414215"/>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
        <p:nvSpPr>
          <p:cNvPr id="23" name="Freeform 13">
            <a:extLst>
              <a:ext uri="{FF2B5EF4-FFF2-40B4-BE49-F238E27FC236}">
                <a16:creationId xmlns:a16="http://schemas.microsoft.com/office/drawing/2014/main" id="{9DB7C1C6-A4AE-7D1B-0338-2CCACA8664EE}"/>
              </a:ext>
            </a:extLst>
          </p:cNvPr>
          <p:cNvSpPr/>
          <p:nvPr userDrawn="1"/>
        </p:nvSpPr>
        <p:spPr>
          <a:xfrm>
            <a:off x="11396785" y="236896"/>
            <a:ext cx="792044" cy="206921"/>
          </a:xfrm>
          <a:custGeom>
            <a:avLst/>
            <a:gdLst/>
            <a:ahLst/>
            <a:cxnLst/>
            <a:rect l="l" t="t" r="r" b="b"/>
            <a:pathLst>
              <a:path w="1585513" h="414215">
                <a:moveTo>
                  <a:pt x="0" y="0"/>
                </a:moveTo>
                <a:lnTo>
                  <a:pt x="1585513" y="0"/>
                </a:lnTo>
                <a:lnTo>
                  <a:pt x="1585513" y="414215"/>
                </a:lnTo>
                <a:lnTo>
                  <a:pt x="0" y="414215"/>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Tree>
    <p:extLst>
      <p:ext uri="{BB962C8B-B14F-4D97-AF65-F5344CB8AC3E}">
        <p14:creationId xmlns:p14="http://schemas.microsoft.com/office/powerpoint/2010/main" val="3880783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4D39E-C8F0-08C8-AFAD-27762937EDE9}"/>
              </a:ext>
            </a:extLst>
          </p:cNvPr>
          <p:cNvSpPr>
            <a:spLocks noGrp="1"/>
          </p:cNvSpPr>
          <p:nvPr>
            <p:ph type="title" hasCustomPrompt="1"/>
          </p:nvPr>
        </p:nvSpPr>
        <p:spPr>
          <a:xfrm>
            <a:off x="7293934" y="1709738"/>
            <a:ext cx="4053515" cy="2852737"/>
          </a:xfrm>
        </p:spPr>
        <p:txBody>
          <a:bodyPr anchor="b"/>
          <a:lstStyle>
            <a:lvl1pPr>
              <a:defRPr sz="6000"/>
            </a:lvl1pPr>
          </a:lstStyle>
          <a:p>
            <a:r>
              <a:rPr lang="en-US"/>
              <a:t>Thanks</a:t>
            </a:r>
          </a:p>
        </p:txBody>
      </p:sp>
      <p:sp>
        <p:nvSpPr>
          <p:cNvPr id="3" name="Text Placeholder 2">
            <a:extLst>
              <a:ext uri="{FF2B5EF4-FFF2-40B4-BE49-F238E27FC236}">
                <a16:creationId xmlns:a16="http://schemas.microsoft.com/office/drawing/2014/main" id="{5D24B0EF-BF59-9126-6A46-27F2694884A5}"/>
              </a:ext>
            </a:extLst>
          </p:cNvPr>
          <p:cNvSpPr>
            <a:spLocks noGrp="1"/>
          </p:cNvSpPr>
          <p:nvPr>
            <p:ph type="body" idx="1" hasCustomPrompt="1"/>
          </p:nvPr>
        </p:nvSpPr>
        <p:spPr>
          <a:xfrm>
            <a:off x="7293934" y="4589463"/>
            <a:ext cx="405351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Any Question?</a:t>
            </a:r>
          </a:p>
        </p:txBody>
      </p:sp>
      <p:sp>
        <p:nvSpPr>
          <p:cNvPr id="4" name="Date Placeholder 3">
            <a:extLst>
              <a:ext uri="{FF2B5EF4-FFF2-40B4-BE49-F238E27FC236}">
                <a16:creationId xmlns:a16="http://schemas.microsoft.com/office/drawing/2014/main" id="{8B82C918-A643-272D-12E1-40D9F1BB33A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AF1001EA-6A7A-608C-BEDA-1011D0611D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B10B23-8E91-347F-5A0E-4002CC643892}"/>
              </a:ext>
            </a:extLst>
          </p:cNvPr>
          <p:cNvSpPr>
            <a:spLocks noGrp="1"/>
          </p:cNvSpPr>
          <p:nvPr>
            <p:ph type="sldNum" sz="quarter" idx="12"/>
          </p:nvPr>
        </p:nvSpPr>
        <p:spPr/>
        <p:txBody>
          <a:bodyPr/>
          <a:lstStyle/>
          <a:p>
            <a:fld id="{D3E9222A-6CCA-472D-8DB6-CE667BDAEEB5}" type="slidenum">
              <a:rPr lang="en-US" smtClean="0"/>
              <a:t>‹#›</a:t>
            </a:fld>
            <a:endParaRPr lang="en-US"/>
          </a:p>
        </p:txBody>
      </p:sp>
      <p:sp>
        <p:nvSpPr>
          <p:cNvPr id="20" name="Freeform 10">
            <a:extLst>
              <a:ext uri="{FF2B5EF4-FFF2-40B4-BE49-F238E27FC236}">
                <a16:creationId xmlns:a16="http://schemas.microsoft.com/office/drawing/2014/main" id="{9739A4A6-4791-5BA2-B1DD-0349D3540F39}"/>
              </a:ext>
            </a:extLst>
          </p:cNvPr>
          <p:cNvSpPr/>
          <p:nvPr userDrawn="1"/>
        </p:nvSpPr>
        <p:spPr>
          <a:xfrm>
            <a:off x="298774" y="517459"/>
            <a:ext cx="6233505" cy="6266696"/>
          </a:xfrm>
          <a:custGeom>
            <a:avLst/>
            <a:gdLst/>
            <a:ahLst/>
            <a:cxnLst/>
            <a:rect l="l" t="t" r="r" b="b"/>
            <a:pathLst>
              <a:path w="12478229" h="12544672">
                <a:moveTo>
                  <a:pt x="0" y="0"/>
                </a:moveTo>
                <a:lnTo>
                  <a:pt x="12478229" y="0"/>
                </a:lnTo>
                <a:lnTo>
                  <a:pt x="12478229" y="12544672"/>
                </a:lnTo>
                <a:lnTo>
                  <a:pt x="0" y="12544672"/>
                </a:lnTo>
                <a:lnTo>
                  <a:pt x="0" y="0"/>
                </a:lnTo>
                <a:close/>
              </a:path>
            </a:pathLst>
          </a:custGeom>
          <a:blipFill dpi="0" rotWithShape="1">
            <a:blip r:embed="rId2">
              <a:alphaModFix amt="11000"/>
            </a:blip>
            <a:srcRect/>
            <a:stretch>
              <a:fillRect r="-148000"/>
            </a:stretch>
          </a:blipFill>
        </p:spPr>
        <p:txBody>
          <a:bodyPr/>
          <a:lstStyle/>
          <a:p>
            <a:endParaRPr lang="en-US">
              <a:latin typeface="Aptos" panose="020B0004020202020204" pitchFamily="34" charset="0"/>
            </a:endParaRPr>
          </a:p>
        </p:txBody>
      </p:sp>
      <p:pic>
        <p:nvPicPr>
          <p:cNvPr id="21" name="Picture 20" descr="A green and white sign&#10;&#10;AI-generated content may be incorrect.">
            <a:extLst>
              <a:ext uri="{FF2B5EF4-FFF2-40B4-BE49-F238E27FC236}">
                <a16:creationId xmlns:a16="http://schemas.microsoft.com/office/drawing/2014/main" id="{FB8FD814-5707-0DDB-73AD-B2717CFE4E7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40437" y="217298"/>
            <a:ext cx="6152789" cy="1465452"/>
          </a:xfrm>
          <a:prstGeom prst="rect">
            <a:avLst/>
          </a:prstGeom>
        </p:spPr>
      </p:pic>
    </p:spTree>
    <p:extLst>
      <p:ext uri="{BB962C8B-B14F-4D97-AF65-F5344CB8AC3E}">
        <p14:creationId xmlns:p14="http://schemas.microsoft.com/office/powerpoint/2010/main" val="1058511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80375-85B1-0560-D1C3-6F61C37DAD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8E5E18-0BB5-5170-FAD4-F5EBF768BA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8850F7-C965-CD03-8153-490183B979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5AF2EF-0969-C516-1E3A-69B26E4DD8E6}"/>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6" name="Footer Placeholder 5">
            <a:extLst>
              <a:ext uri="{FF2B5EF4-FFF2-40B4-BE49-F238E27FC236}">
                <a16:creationId xmlns:a16="http://schemas.microsoft.com/office/drawing/2014/main" id="{FE8A6DD9-B316-057C-F5E5-3345A19E47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2A9A5E-B06A-2385-BA67-B5FE42A9D660}"/>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2786982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7FB9C-8465-7775-838E-3EA78FF4C2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E06B35-DB06-15DB-0829-2E6F1CE77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913398-12C9-37D3-E21E-838DC54742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04619-5A30-CFF0-91F5-95C0ED334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97EE50-CC01-5117-79B4-A6D5C85525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461F1B-CED9-375A-DAD7-70EA73A9696D}"/>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8" name="Footer Placeholder 7">
            <a:extLst>
              <a:ext uri="{FF2B5EF4-FFF2-40B4-BE49-F238E27FC236}">
                <a16:creationId xmlns:a16="http://schemas.microsoft.com/office/drawing/2014/main" id="{0376F369-740E-2A35-DEF5-583D0D8A6F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2A4C92-9489-C552-FDB4-1ADC4B7024F0}"/>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2803721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2C751-8772-0450-2666-D6532622CF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5B705E-7503-4C57-851B-2F102E2B6BE7}"/>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4" name="Footer Placeholder 3">
            <a:extLst>
              <a:ext uri="{FF2B5EF4-FFF2-40B4-BE49-F238E27FC236}">
                <a16:creationId xmlns:a16="http://schemas.microsoft.com/office/drawing/2014/main" id="{331D3ED8-E95A-289D-5B5A-5D70B8BD2D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D618A9-DD8C-AC6E-D1D7-DBDA48B6715B}"/>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332693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C148ED-E586-BCB5-04D8-B9653BE4753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3" name="Footer Placeholder 2">
            <a:extLst>
              <a:ext uri="{FF2B5EF4-FFF2-40B4-BE49-F238E27FC236}">
                <a16:creationId xmlns:a16="http://schemas.microsoft.com/office/drawing/2014/main" id="{A9E27125-89D4-1B47-F5C3-9769A3D607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3AA77D-25C8-D73D-A7BD-F84AB865F0E0}"/>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1714670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1205-4367-5544-31B4-4EB4B2B781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73F1A9-F712-E59E-3888-27BAB3F1EF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70ED70-F518-1792-E4E4-4F7A9B81C6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5177E9-780E-BFC3-98E3-57111F1FD68E}"/>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6" name="Footer Placeholder 5">
            <a:extLst>
              <a:ext uri="{FF2B5EF4-FFF2-40B4-BE49-F238E27FC236}">
                <a16:creationId xmlns:a16="http://schemas.microsoft.com/office/drawing/2014/main" id="{5C20E2B2-2345-D548-45F3-8F93ADB520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8DF807-5C6B-65FB-A5C7-C318DA685D2F}"/>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365932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DCB3-E7F2-5F57-E579-5F02B52FB6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156421-52E0-BDD0-2A5A-91B4E54B99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56C4E0-3754-6183-9696-F69C617C8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B555B-9437-EE32-BC33-02C7A3EE71C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6" name="Footer Placeholder 5">
            <a:extLst>
              <a:ext uri="{FF2B5EF4-FFF2-40B4-BE49-F238E27FC236}">
                <a16:creationId xmlns:a16="http://schemas.microsoft.com/office/drawing/2014/main" id="{1D9BF77E-D021-C8FA-9598-EA5286E583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3E0A02-CC68-160F-FD97-68D6F7A9460D}"/>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2182890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1DAD2-C661-890E-542B-3C520AE2C6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3F9F5A-DB2D-6DA8-2D3F-3295A66018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B66D2-71B0-26A0-F53B-102AA771035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41781F9B-B465-4DE7-A5C6-8C2FDB8994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4B801-3022-BEB2-235A-FC4CE1BC1A75}"/>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824765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907F3F-C706-B48B-7AA0-2F08937567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36C6F4-87F9-744B-0941-A5029275B3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5B6F1-0CDD-466D-136A-5911E0FA1AC3}"/>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59996DC1-8BA2-6E33-8510-D69182920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3965D9-0E33-2BF4-1E5F-05588F78B83A}"/>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4088998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5487C-8799-ED7F-EDCA-8852EAEF0B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3D7059-4557-C5A0-56D2-06D9AA9A6D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F64388-421A-F9A9-E280-6143C99A57EA}"/>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5" name="Footer Placeholder 4">
            <a:extLst>
              <a:ext uri="{FF2B5EF4-FFF2-40B4-BE49-F238E27FC236}">
                <a16:creationId xmlns:a16="http://schemas.microsoft.com/office/drawing/2014/main" id="{EDD28F6E-D59C-6F43-2410-F9B295AD2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D3154-F42A-D109-4E9B-01CCE9EA3482}"/>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3394344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F643-2E71-7179-FE55-EFFB1F478B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3F36AD-951A-072B-F328-1EC903E7D6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ABB697-8F7F-B684-B607-E8B8C6831578}"/>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5" name="Footer Placeholder 4">
            <a:extLst>
              <a:ext uri="{FF2B5EF4-FFF2-40B4-BE49-F238E27FC236}">
                <a16:creationId xmlns:a16="http://schemas.microsoft.com/office/drawing/2014/main" id="{C819DD3C-24AA-6F19-87D8-893ACDE232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5227B-AABF-6933-2A61-7540CB6B4EF9}"/>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1533267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4353-6716-1943-9C2D-29AB7E4E8B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AF471C-26D6-1F32-9E6E-25F5663A21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8247F7-EB5D-4EF1-CEC8-D2ECA343287E}"/>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5" name="Footer Placeholder 4">
            <a:extLst>
              <a:ext uri="{FF2B5EF4-FFF2-40B4-BE49-F238E27FC236}">
                <a16:creationId xmlns:a16="http://schemas.microsoft.com/office/drawing/2014/main" id="{F8EEA4F7-0472-3175-A173-49FD46706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546E1-7344-07D2-0CF5-C972A72FE200}"/>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38852249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E0619-DE70-314A-2F96-87825CCB3E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A30C75-D98C-0F54-26B5-4E0CE6F333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3CFC74-AA5D-642A-55E9-D3903B07B3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7E643C-5700-8E02-FD82-3DE2D49B856C}"/>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6" name="Footer Placeholder 5">
            <a:extLst>
              <a:ext uri="{FF2B5EF4-FFF2-40B4-BE49-F238E27FC236}">
                <a16:creationId xmlns:a16="http://schemas.microsoft.com/office/drawing/2014/main" id="{D19B1B44-D0CC-56D8-0B81-81EA3A3EC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450D1E-EEF2-B4AC-B23A-F6992A20AB24}"/>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2690824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8C35F-4F2A-E585-37FF-66CCB7882B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9CF15E-95CB-2377-E5A6-A8EA6DE268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FF165D-F642-3896-9B30-7A5DC2486D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667838-F4BA-2573-53A8-3FBA32FC9A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4D47A1-5EC3-A9D1-CEE7-C1F9BDA620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677AB4-5F99-B6E3-B642-C469726C9E3C}"/>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8" name="Footer Placeholder 7">
            <a:extLst>
              <a:ext uri="{FF2B5EF4-FFF2-40B4-BE49-F238E27FC236}">
                <a16:creationId xmlns:a16="http://schemas.microsoft.com/office/drawing/2014/main" id="{1B8B891E-D87C-EDFC-AA89-84CE51620A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E0447E-0C4C-36E2-5274-DAF840887EC7}"/>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2323675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1F1A-35D8-63E4-DA1F-58587063C3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38C130-63B3-C7C6-6858-AA5CB3887AF8}"/>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4" name="Footer Placeholder 3">
            <a:extLst>
              <a:ext uri="{FF2B5EF4-FFF2-40B4-BE49-F238E27FC236}">
                <a16:creationId xmlns:a16="http://schemas.microsoft.com/office/drawing/2014/main" id="{571B6805-A7A4-B57E-37AA-B91C510538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E94EBE-04EF-EC0C-E546-49218C1E77A8}"/>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39812464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B714AE-B3A2-A1DA-DF4E-134667AD1C72}"/>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3" name="Footer Placeholder 2">
            <a:extLst>
              <a:ext uri="{FF2B5EF4-FFF2-40B4-BE49-F238E27FC236}">
                <a16:creationId xmlns:a16="http://schemas.microsoft.com/office/drawing/2014/main" id="{F1857F28-2428-A2F3-CCF1-3B68C0FA74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4F877-91CF-26C2-180A-84712C9B3B75}"/>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11952429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5E3AC-950A-45D3-3A91-FD5F99FE7E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EA31AD-6C3B-A2C8-A33A-646BD3F68F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49C523-39E7-87E1-696E-F7AC1C5EF2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D4773F-4CDE-E03E-AB83-4A4AA81676F3}"/>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6" name="Footer Placeholder 5">
            <a:extLst>
              <a:ext uri="{FF2B5EF4-FFF2-40B4-BE49-F238E27FC236}">
                <a16:creationId xmlns:a16="http://schemas.microsoft.com/office/drawing/2014/main" id="{89407DE6-2AFF-4EDB-6999-A3B2F763E7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4A90B4-FB4C-7956-6F96-04788AE7F499}"/>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2555359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E5FB1-7244-02B6-3342-E98519EFF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346788-3281-933E-23AE-921C6704A3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6016AF-3617-D46C-EC14-5C83DD22E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16A493-3452-BF89-3A46-BE25E319BB59}"/>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6" name="Footer Placeholder 5">
            <a:extLst>
              <a:ext uri="{FF2B5EF4-FFF2-40B4-BE49-F238E27FC236}">
                <a16:creationId xmlns:a16="http://schemas.microsoft.com/office/drawing/2014/main" id="{36490C00-5BB5-8EB8-9824-4E16E41E51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75B3DF-B643-39F9-0635-075827D75845}"/>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21121720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9CD43-E7F5-1A00-2A37-5666B2E4E1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420D26-70D3-0C38-FE8C-F3860F5D6F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B7F8B3-6F54-1B24-A04C-057A3771BEE1}"/>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5" name="Footer Placeholder 4">
            <a:extLst>
              <a:ext uri="{FF2B5EF4-FFF2-40B4-BE49-F238E27FC236}">
                <a16:creationId xmlns:a16="http://schemas.microsoft.com/office/drawing/2014/main" id="{A2BF17AD-AF33-0225-E32A-BA32989378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11502-D813-FD62-245A-E79B452ACFAA}"/>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41019879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414A76-63B3-35BF-5483-433E371FD5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03F67E-19C6-F69E-61D6-122BA38952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82C80-F1D3-E9FE-578F-24A8A610A72D}"/>
              </a:ext>
            </a:extLst>
          </p:cNvPr>
          <p:cNvSpPr>
            <a:spLocks noGrp="1"/>
          </p:cNvSpPr>
          <p:nvPr>
            <p:ph type="dt" sz="half" idx="10"/>
          </p:nvPr>
        </p:nvSpPr>
        <p:spPr/>
        <p:txBody>
          <a:bodyPr/>
          <a:lstStyle/>
          <a:p>
            <a:fld id="{32FB9DFE-3346-49E3-82A1-34AE69B65C7E}" type="datetimeFigureOut">
              <a:rPr lang="en-US" smtClean="0"/>
              <a:t>19-Jan-26</a:t>
            </a:fld>
            <a:endParaRPr lang="en-US"/>
          </a:p>
        </p:txBody>
      </p:sp>
      <p:sp>
        <p:nvSpPr>
          <p:cNvPr id="5" name="Footer Placeholder 4">
            <a:extLst>
              <a:ext uri="{FF2B5EF4-FFF2-40B4-BE49-F238E27FC236}">
                <a16:creationId xmlns:a16="http://schemas.microsoft.com/office/drawing/2014/main" id="{8EB7E085-68F6-DC6A-24BD-64631EB53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D8C730-C6CD-9CD7-A9F0-4C5556382B64}"/>
              </a:ext>
            </a:extLst>
          </p:cNvPr>
          <p:cNvSpPr>
            <a:spLocks noGrp="1"/>
          </p:cNvSpPr>
          <p:nvPr>
            <p:ph type="sldNum" sz="quarter" idx="12"/>
          </p:nvPr>
        </p:nvSpPr>
        <p:spPr/>
        <p:txBody>
          <a:bodyPr/>
          <a:lstStyle/>
          <a:p>
            <a:fld id="{27F2158D-BC32-4F98-A787-487E0905F2CD}" type="slidenum">
              <a:rPr lang="en-US" smtClean="0"/>
              <a:t>‹#›</a:t>
            </a:fld>
            <a:endParaRPr lang="en-US"/>
          </a:p>
        </p:txBody>
      </p:sp>
    </p:spTree>
    <p:extLst>
      <p:ext uri="{BB962C8B-B14F-4D97-AF65-F5344CB8AC3E}">
        <p14:creationId xmlns:p14="http://schemas.microsoft.com/office/powerpoint/2010/main" val="34790349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25CAF-CDB9-38EC-9679-0CC170B18D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6014F-EA46-F520-F890-3F2726420E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C3A7D8-E7A6-CD69-2334-6E37049064F5}"/>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5" name="Footer Placeholder 4">
            <a:extLst>
              <a:ext uri="{FF2B5EF4-FFF2-40B4-BE49-F238E27FC236}">
                <a16:creationId xmlns:a16="http://schemas.microsoft.com/office/drawing/2014/main" id="{E9BF03A9-1CC1-6F1E-14BF-B3E406E1A3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2B8126-229E-EA0B-91E7-D1C1A288F38D}"/>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11147945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56A94-F436-EEBF-1D6A-4784A2822F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45215B-556C-7987-79A1-EFDF1E10D5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D6561C-C0BC-5BE1-8AFD-FBEC0C30AC88}"/>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5" name="Footer Placeholder 4">
            <a:extLst>
              <a:ext uri="{FF2B5EF4-FFF2-40B4-BE49-F238E27FC236}">
                <a16:creationId xmlns:a16="http://schemas.microsoft.com/office/drawing/2014/main" id="{B95CC1B3-02A3-EF23-470F-A74330947C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A4BB1-D341-6677-8F6B-691C2ABDC4EC}"/>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23360021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CA6EC-6058-CF74-05E8-EDC94BB5AC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0B4BA7-6476-2F5A-6AB2-2C3A45F9EA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B5C6A-F79B-1C3F-59E2-9CE328C66267}"/>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5" name="Footer Placeholder 4">
            <a:extLst>
              <a:ext uri="{FF2B5EF4-FFF2-40B4-BE49-F238E27FC236}">
                <a16:creationId xmlns:a16="http://schemas.microsoft.com/office/drawing/2014/main" id="{32ED236D-365E-93CB-63C1-BE576687DC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92EED3-9C1A-A619-5C8A-1E136636FD35}"/>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2296802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30B32-FD46-5F86-9587-462E9C4117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8A6405-8413-4364-AB81-B44EC6F932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7D6109-3CD6-2DA5-D1D1-1183529EB5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58EF10-4113-8C71-ABD0-77A1FDE65CB6}"/>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6" name="Footer Placeholder 5">
            <a:extLst>
              <a:ext uri="{FF2B5EF4-FFF2-40B4-BE49-F238E27FC236}">
                <a16:creationId xmlns:a16="http://schemas.microsoft.com/office/drawing/2014/main" id="{6C3DBDC8-0DBF-A973-9532-7E76F03B95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FC547-5060-BBAD-92CF-B6F11A966BAD}"/>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39333355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8E6CB-F26D-2250-0506-19711F1BE1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369B9A-C138-5571-449F-0D13BA9126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4B6657-31AB-9192-75D3-BFD3338F9C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DEF5C5-8BA5-3C73-7C57-09E79BE160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A42F9-CABD-88B3-E7CF-0C08D697EE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FFCD67-4175-1AED-7D15-B65BC391CD67}"/>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8" name="Footer Placeholder 7">
            <a:extLst>
              <a:ext uri="{FF2B5EF4-FFF2-40B4-BE49-F238E27FC236}">
                <a16:creationId xmlns:a16="http://schemas.microsoft.com/office/drawing/2014/main" id="{28E3774F-6DB1-CDB5-0B80-B807ED372D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ED9E43-11ED-9AAA-591A-C9ECED90B445}"/>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4860938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C5E1F-30F5-DA80-E71E-BC161010A8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5D609E-F52B-763E-D463-1CB21921E207}"/>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4" name="Footer Placeholder 3">
            <a:extLst>
              <a:ext uri="{FF2B5EF4-FFF2-40B4-BE49-F238E27FC236}">
                <a16:creationId xmlns:a16="http://schemas.microsoft.com/office/drawing/2014/main" id="{9B4AC20C-63FC-AEF8-781E-A7EF3DF295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B0E432-94A1-2985-BB6C-785268157D7F}"/>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33010855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B6A314-F676-4F17-F2FB-F412ECB01915}"/>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3" name="Footer Placeholder 2">
            <a:extLst>
              <a:ext uri="{FF2B5EF4-FFF2-40B4-BE49-F238E27FC236}">
                <a16:creationId xmlns:a16="http://schemas.microsoft.com/office/drawing/2014/main" id="{026E3F7D-D7BF-9655-971E-F804D787CB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93A498-AA02-A31A-F840-BC9D326AA96E}"/>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10253965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C7C20-A48A-F0A9-A1AF-368811467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5ACF3F-B57E-DCB5-B24C-8EBB5221D9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C2B2B-23F6-1BD7-E5CC-0B6F73EB3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BD85E0-B2AA-BBCD-8E18-C00E509C8CAF}"/>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6" name="Footer Placeholder 5">
            <a:extLst>
              <a:ext uri="{FF2B5EF4-FFF2-40B4-BE49-F238E27FC236}">
                <a16:creationId xmlns:a16="http://schemas.microsoft.com/office/drawing/2014/main" id="{13514113-3EB6-2CF0-A5F5-5F87197DCE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AA26E2-3D28-A0DE-B626-BE747763E2F7}"/>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27712723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3659-2F28-13DC-1BA7-BB121A39F1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92F523-EF1E-E005-F363-799B15B313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3F1691-AE46-FF53-3F22-B0DC41BE2A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2891D6-A03D-1A03-1BAF-8DB41E20A3B0}"/>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6" name="Footer Placeholder 5">
            <a:extLst>
              <a:ext uri="{FF2B5EF4-FFF2-40B4-BE49-F238E27FC236}">
                <a16:creationId xmlns:a16="http://schemas.microsoft.com/office/drawing/2014/main" id="{DA8DEF8D-E9D0-691A-9FD7-8937E0074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40AEB7-F177-BCA4-924A-DE0A71A044CD}"/>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29898188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99CEE-D88F-4A85-EF69-D517CB0FD7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160BC9-B249-2A0B-5C15-EA4D5FBEFE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904026-FDCB-9618-7011-CB432BF9E202}"/>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5" name="Footer Placeholder 4">
            <a:extLst>
              <a:ext uri="{FF2B5EF4-FFF2-40B4-BE49-F238E27FC236}">
                <a16:creationId xmlns:a16="http://schemas.microsoft.com/office/drawing/2014/main" id="{94B26139-661F-BE9B-F6C4-CB52041FE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6CCC8-B562-D9E5-76AB-72A34160D2FC}"/>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31902361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138390-0E80-C790-597C-9EA905075E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756CD8-E002-EBD5-68E4-6D38950EF0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1F753-679C-0028-6E4E-83CBA73681B5}"/>
              </a:ext>
            </a:extLst>
          </p:cNvPr>
          <p:cNvSpPr>
            <a:spLocks noGrp="1"/>
          </p:cNvSpPr>
          <p:nvPr>
            <p:ph type="dt" sz="half" idx="10"/>
          </p:nvPr>
        </p:nvSpPr>
        <p:spPr/>
        <p:txBody>
          <a:bodyPr/>
          <a:lstStyle/>
          <a:p>
            <a:fld id="{02C9062B-7F7D-42B0-934B-234B52EDB4C7}" type="datetimeFigureOut">
              <a:rPr lang="en-US" smtClean="0"/>
              <a:t>19-Jan-26</a:t>
            </a:fld>
            <a:endParaRPr lang="en-US"/>
          </a:p>
        </p:txBody>
      </p:sp>
      <p:sp>
        <p:nvSpPr>
          <p:cNvPr id="5" name="Footer Placeholder 4">
            <a:extLst>
              <a:ext uri="{FF2B5EF4-FFF2-40B4-BE49-F238E27FC236}">
                <a16:creationId xmlns:a16="http://schemas.microsoft.com/office/drawing/2014/main" id="{2AF83378-9FCD-0A8D-F5F6-0DAF4C9C16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85D802-C3B9-F7A8-9948-E19ABBEEA954}"/>
              </a:ext>
            </a:extLst>
          </p:cNvPr>
          <p:cNvSpPr>
            <a:spLocks noGrp="1"/>
          </p:cNvSpPr>
          <p:nvPr>
            <p:ph type="sldNum" sz="quarter" idx="12"/>
          </p:nvPr>
        </p:nvSpPr>
        <p:spPr/>
        <p:txBody>
          <a:bodyPr/>
          <a:lstStyle/>
          <a:p>
            <a:fld id="{4634FA74-6791-4224-AA47-22FAA7D7B597}" type="slidenum">
              <a:rPr lang="en-US" smtClean="0"/>
              <a:t>‹#›</a:t>
            </a:fld>
            <a:endParaRPr lang="en-US"/>
          </a:p>
        </p:txBody>
      </p:sp>
    </p:spTree>
    <p:extLst>
      <p:ext uri="{BB962C8B-B14F-4D97-AF65-F5344CB8AC3E}">
        <p14:creationId xmlns:p14="http://schemas.microsoft.com/office/powerpoint/2010/main" val="30635272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AF5C6-F4F2-8C78-357A-5200997F856B}"/>
              </a:ext>
            </a:extLst>
          </p:cNvPr>
          <p:cNvSpPr>
            <a:spLocks noGrp="1"/>
          </p:cNvSpPr>
          <p:nvPr>
            <p:ph type="ctrTitle" hasCustomPrompt="1"/>
          </p:nvPr>
        </p:nvSpPr>
        <p:spPr>
          <a:xfrm>
            <a:off x="539602" y="2049495"/>
            <a:ext cx="5945372" cy="1755418"/>
          </a:xfrm>
        </p:spPr>
        <p:txBody>
          <a:bodyPr anchor="t"/>
          <a:lstStyle>
            <a:lvl1pPr algn="l">
              <a:defRPr sz="6000"/>
            </a:lvl1pPr>
          </a:lstStyle>
          <a:p>
            <a:r>
              <a:rPr lang="en-US"/>
              <a:t>Title</a:t>
            </a:r>
          </a:p>
        </p:txBody>
      </p:sp>
      <p:sp>
        <p:nvSpPr>
          <p:cNvPr id="3" name="Subtitle 2">
            <a:extLst>
              <a:ext uri="{FF2B5EF4-FFF2-40B4-BE49-F238E27FC236}">
                <a16:creationId xmlns:a16="http://schemas.microsoft.com/office/drawing/2014/main" id="{3DD4AAC9-CBBA-3F90-9C0D-AD32A582D84D}"/>
              </a:ext>
            </a:extLst>
          </p:cNvPr>
          <p:cNvSpPr>
            <a:spLocks noGrp="1"/>
          </p:cNvSpPr>
          <p:nvPr>
            <p:ph type="subTitle" idx="1" hasCustomPrompt="1"/>
          </p:nvPr>
        </p:nvSpPr>
        <p:spPr>
          <a:xfrm>
            <a:off x="539602" y="4162647"/>
            <a:ext cx="5945372" cy="1988287"/>
          </a:xfrm>
        </p:spPr>
        <p:txBody>
          <a:bodyPr/>
          <a:lstStyle>
            <a:lvl1pPr marL="0" indent="0" algn="l">
              <a:buFont typeface="Arial" panose="020B0604020202020204" pitchFamily="34" charset="0"/>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
        <p:nvSpPr>
          <p:cNvPr id="4" name="Date Placeholder 3">
            <a:extLst>
              <a:ext uri="{FF2B5EF4-FFF2-40B4-BE49-F238E27FC236}">
                <a16:creationId xmlns:a16="http://schemas.microsoft.com/office/drawing/2014/main" id="{7361FF1F-A1A8-BBE0-B82C-78B997DBF3B8}"/>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F0209E66-F411-1697-D25A-0C1AFF20B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A45E-06E8-4374-A2D2-2BA0252773CB}"/>
              </a:ext>
            </a:extLst>
          </p:cNvPr>
          <p:cNvSpPr>
            <a:spLocks noGrp="1"/>
          </p:cNvSpPr>
          <p:nvPr>
            <p:ph type="sldNum" sz="quarter" idx="12"/>
          </p:nvPr>
        </p:nvSpPr>
        <p:spPr/>
        <p:txBody>
          <a:bodyPr/>
          <a:lstStyle/>
          <a:p>
            <a:fld id="{D3E9222A-6CCA-472D-8DB6-CE667BDAEEB5}" type="slidenum">
              <a:rPr lang="en-US" smtClean="0"/>
              <a:t>‹#›</a:t>
            </a:fld>
            <a:endParaRPr lang="en-US"/>
          </a:p>
        </p:txBody>
      </p:sp>
      <p:grpSp>
        <p:nvGrpSpPr>
          <p:cNvPr id="32" name="Group 31">
            <a:extLst>
              <a:ext uri="{FF2B5EF4-FFF2-40B4-BE49-F238E27FC236}">
                <a16:creationId xmlns:a16="http://schemas.microsoft.com/office/drawing/2014/main" id="{B25BF274-CFFA-C539-E9D0-CA41BC40352C}"/>
              </a:ext>
            </a:extLst>
          </p:cNvPr>
          <p:cNvGrpSpPr/>
          <p:nvPr userDrawn="1"/>
        </p:nvGrpSpPr>
        <p:grpSpPr>
          <a:xfrm>
            <a:off x="7791" y="-88816"/>
            <a:ext cx="12321714" cy="7129542"/>
            <a:chOff x="7791" y="-88816"/>
            <a:chExt cx="12321714" cy="7129542"/>
          </a:xfrm>
        </p:grpSpPr>
        <p:sp>
          <p:nvSpPr>
            <p:cNvPr id="30" name="TextBox 5">
              <a:extLst>
                <a:ext uri="{FF2B5EF4-FFF2-40B4-BE49-F238E27FC236}">
                  <a16:creationId xmlns:a16="http://schemas.microsoft.com/office/drawing/2014/main" id="{8FD2F6C7-15A4-4CC5-46A0-2008ADB83369}"/>
                </a:ext>
              </a:extLst>
            </p:cNvPr>
            <p:cNvSpPr txBox="1"/>
            <p:nvPr/>
          </p:nvSpPr>
          <p:spPr>
            <a:xfrm>
              <a:off x="10152181" y="-10924"/>
              <a:ext cx="2036648" cy="866111"/>
            </a:xfrm>
            <a:prstGeom prst="rect">
              <a:avLst/>
            </a:prstGeom>
          </p:spPr>
          <p:txBody>
            <a:bodyPr lIns="50800" tIns="50800" rIns="50800" bIns="50800" rtlCol="0" anchor="ctr"/>
            <a:lstStyle/>
            <a:p>
              <a:pPr algn="ctr">
                <a:lnSpc>
                  <a:spcPts val="2659"/>
                </a:lnSpc>
              </a:pPr>
              <a:endParaRPr>
                <a:latin typeface="Aptos" panose="020B0004020202020204" pitchFamily="34" charset="0"/>
              </a:endParaRPr>
            </a:p>
          </p:txBody>
        </p:sp>
        <p:sp>
          <p:nvSpPr>
            <p:cNvPr id="28" name="TextBox 8">
              <a:extLst>
                <a:ext uri="{FF2B5EF4-FFF2-40B4-BE49-F238E27FC236}">
                  <a16:creationId xmlns:a16="http://schemas.microsoft.com/office/drawing/2014/main" id="{88F3818C-4A4A-0CB6-004C-34B616786DA7}"/>
                </a:ext>
              </a:extLst>
            </p:cNvPr>
            <p:cNvSpPr txBox="1"/>
            <p:nvPr/>
          </p:nvSpPr>
          <p:spPr>
            <a:xfrm>
              <a:off x="7791" y="-88816"/>
              <a:ext cx="12181038" cy="983678"/>
            </a:xfrm>
            <a:prstGeom prst="rect">
              <a:avLst/>
            </a:prstGeom>
          </p:spPr>
          <p:txBody>
            <a:bodyPr lIns="50800" tIns="50800" rIns="50800" bIns="50800" rtlCol="0" anchor="ctr"/>
            <a:lstStyle/>
            <a:p>
              <a:pPr algn="ctr">
                <a:lnSpc>
                  <a:spcPts val="2659"/>
                </a:lnSpc>
                <a:spcBef>
                  <a:spcPct val="0"/>
                </a:spcBef>
              </a:pPr>
              <a:endParaRPr>
                <a:latin typeface="Aptos" panose="020B0004020202020204" pitchFamily="34" charset="0"/>
              </a:endParaRPr>
            </a:p>
          </p:txBody>
        </p:sp>
        <p:sp>
          <p:nvSpPr>
            <p:cNvPr id="22" name="Freeform 10">
              <a:extLst>
                <a:ext uri="{FF2B5EF4-FFF2-40B4-BE49-F238E27FC236}">
                  <a16:creationId xmlns:a16="http://schemas.microsoft.com/office/drawing/2014/main" id="{338AF68E-8B52-4FB6-015B-0E6CF30A131C}"/>
                </a:ext>
              </a:extLst>
            </p:cNvPr>
            <p:cNvSpPr/>
            <p:nvPr/>
          </p:nvSpPr>
          <p:spPr>
            <a:xfrm>
              <a:off x="6055242" y="754912"/>
              <a:ext cx="6274263" cy="6285814"/>
            </a:xfrm>
            <a:custGeom>
              <a:avLst/>
              <a:gdLst/>
              <a:ahLst/>
              <a:cxnLst/>
              <a:rect l="l" t="t" r="r" b="b"/>
              <a:pathLst>
                <a:path w="12478229" h="12544672">
                  <a:moveTo>
                    <a:pt x="0" y="0"/>
                  </a:moveTo>
                  <a:lnTo>
                    <a:pt x="12478229" y="0"/>
                  </a:lnTo>
                  <a:lnTo>
                    <a:pt x="12478229" y="12544672"/>
                  </a:lnTo>
                  <a:lnTo>
                    <a:pt x="0" y="12544672"/>
                  </a:lnTo>
                  <a:lnTo>
                    <a:pt x="0" y="0"/>
                  </a:lnTo>
                  <a:close/>
                </a:path>
              </a:pathLst>
            </a:custGeom>
            <a:blipFill dpi="0" rotWithShape="1">
              <a:blip r:embed="rId2">
                <a:alphaModFix amt="11000"/>
              </a:blip>
              <a:srcRect/>
              <a:stretch>
                <a:fillRect r="-148000"/>
              </a:stretch>
            </a:blipFill>
          </p:spPr>
          <p:txBody>
            <a:bodyPr/>
            <a:lstStyle/>
            <a:p>
              <a:endParaRPr lang="en-US">
                <a:latin typeface="Aptos" panose="020B0004020202020204" pitchFamily="34" charset="0"/>
              </a:endParaRPr>
            </a:p>
          </p:txBody>
        </p:sp>
      </p:grpSp>
      <p:pic>
        <p:nvPicPr>
          <p:cNvPr id="34" name="Picture 33" descr="A green and white sign&#10;&#10;AI-generated content may be incorrect.">
            <a:extLst>
              <a:ext uri="{FF2B5EF4-FFF2-40B4-BE49-F238E27FC236}">
                <a16:creationId xmlns:a16="http://schemas.microsoft.com/office/drawing/2014/main" id="{AD3C3E09-5DBB-EEB2-633C-328A3630505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5324" y="137553"/>
            <a:ext cx="7037497" cy="1676169"/>
          </a:xfrm>
          <a:prstGeom prst="rect">
            <a:avLst/>
          </a:prstGeom>
        </p:spPr>
      </p:pic>
    </p:spTree>
    <p:extLst>
      <p:ext uri="{BB962C8B-B14F-4D97-AF65-F5344CB8AC3E}">
        <p14:creationId xmlns:p14="http://schemas.microsoft.com/office/powerpoint/2010/main" val="279771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0" name="Picture 19" descr="A purple and white gradient&#10;&#10;AI-generated content may be incorrect.">
            <a:extLst>
              <a:ext uri="{FF2B5EF4-FFF2-40B4-BE49-F238E27FC236}">
                <a16:creationId xmlns:a16="http://schemas.microsoft.com/office/drawing/2014/main" id="{0D2A358A-11B6-989A-92C7-FF7A613E56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79"/>
            <a:ext cx="12192000" cy="939800"/>
          </a:xfrm>
          <a:prstGeom prst="rect">
            <a:avLst/>
          </a:prstGeom>
        </p:spPr>
      </p:pic>
      <p:sp>
        <p:nvSpPr>
          <p:cNvPr id="2" name="Title 1">
            <a:extLst>
              <a:ext uri="{FF2B5EF4-FFF2-40B4-BE49-F238E27FC236}">
                <a16:creationId xmlns:a16="http://schemas.microsoft.com/office/drawing/2014/main" id="{19E76877-E83B-99C4-8B78-A6DBE838964E}"/>
              </a:ext>
            </a:extLst>
          </p:cNvPr>
          <p:cNvSpPr>
            <a:spLocks noGrp="1"/>
          </p:cNvSpPr>
          <p:nvPr>
            <p:ph type="title" hasCustomPrompt="1"/>
          </p:nvPr>
        </p:nvSpPr>
        <p:spPr>
          <a:xfrm>
            <a:off x="838200" y="1170186"/>
            <a:ext cx="10515600" cy="937363"/>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a:solidFill>
                  <a:srgbClr val="D486FC"/>
                </a:solidFill>
                <a:latin typeface="Noto Sans Bold"/>
                <a:ea typeface="Noto Sans Bold"/>
                <a:cs typeface="Noto Sans Bold"/>
                <a:sym typeface="Noto Sans Bold"/>
              </a:rPr>
              <a:t>Title</a:t>
            </a:r>
            <a:endParaRPr lang="en-US"/>
          </a:p>
        </p:txBody>
      </p:sp>
      <p:sp>
        <p:nvSpPr>
          <p:cNvPr id="3" name="Content Placeholder 2">
            <a:extLst>
              <a:ext uri="{FF2B5EF4-FFF2-40B4-BE49-F238E27FC236}">
                <a16:creationId xmlns:a16="http://schemas.microsoft.com/office/drawing/2014/main" id="{1E73B3C0-90C2-8D01-3CFA-67419DC85A9D}"/>
              </a:ext>
            </a:extLst>
          </p:cNvPr>
          <p:cNvSpPr>
            <a:spLocks noGrp="1"/>
          </p:cNvSpPr>
          <p:nvPr>
            <p:ph idx="1" hasCustomPrompt="1"/>
          </p:nvPr>
        </p:nvSpPr>
        <p:spPr>
          <a:xfrm>
            <a:off x="838200" y="2498650"/>
            <a:ext cx="10478386" cy="3666313"/>
          </a:xfrm>
        </p:spPr>
        <p:txBody>
          <a:bodyPr/>
          <a:lstStyle>
            <a:lvl1pPr>
              <a:defRPr/>
            </a:lvl1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3D095-834F-66D4-8F2C-836061AC3A22}"/>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35BBE5F8-5B17-CE2A-ED54-8420CFE674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F69739-107D-4A19-8C9F-24C5A47CA39D}"/>
              </a:ext>
            </a:extLst>
          </p:cNvPr>
          <p:cNvSpPr>
            <a:spLocks noGrp="1"/>
          </p:cNvSpPr>
          <p:nvPr>
            <p:ph type="sldNum" sz="quarter" idx="12"/>
          </p:nvPr>
        </p:nvSpPr>
        <p:spPr/>
        <p:txBody>
          <a:bodyPr/>
          <a:lstStyle/>
          <a:p>
            <a:fld id="{D3E9222A-6CCA-472D-8DB6-CE667BDAEEB5}" type="slidenum">
              <a:rPr lang="en-US" smtClean="0"/>
              <a:t>‹#›</a:t>
            </a:fld>
            <a:endParaRPr lang="en-US"/>
          </a:p>
        </p:txBody>
      </p:sp>
      <p:pic>
        <p:nvPicPr>
          <p:cNvPr id="19" name="Picture 18" descr="A close up of a logo&#10;&#10;AI-generated content may be incorrect.">
            <a:extLst>
              <a:ext uri="{FF2B5EF4-FFF2-40B4-BE49-F238E27FC236}">
                <a16:creationId xmlns:a16="http://schemas.microsoft.com/office/drawing/2014/main" id="{E3232194-93D9-EC47-D39F-3F07F389C85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318" y="49174"/>
            <a:ext cx="3509771" cy="835946"/>
          </a:xfrm>
          <a:prstGeom prst="rect">
            <a:avLst/>
          </a:prstGeom>
        </p:spPr>
      </p:pic>
      <p:sp>
        <p:nvSpPr>
          <p:cNvPr id="10" name="Freeform 10">
            <a:extLst>
              <a:ext uri="{FF2B5EF4-FFF2-40B4-BE49-F238E27FC236}">
                <a16:creationId xmlns:a16="http://schemas.microsoft.com/office/drawing/2014/main" id="{3F1C3CB6-1CE7-5EC9-2EC5-BAAECF35B50C}"/>
              </a:ext>
            </a:extLst>
          </p:cNvPr>
          <p:cNvSpPr/>
          <p:nvPr/>
        </p:nvSpPr>
        <p:spPr>
          <a:xfrm>
            <a:off x="-3108961" y="1389329"/>
            <a:ext cx="6233505" cy="6266696"/>
          </a:xfrm>
          <a:custGeom>
            <a:avLst/>
            <a:gdLst/>
            <a:ahLst/>
            <a:cxnLst/>
            <a:rect l="l" t="t" r="r" b="b"/>
            <a:pathLst>
              <a:path w="12478229" h="12544672">
                <a:moveTo>
                  <a:pt x="0" y="0"/>
                </a:moveTo>
                <a:lnTo>
                  <a:pt x="12478229" y="0"/>
                </a:lnTo>
                <a:lnTo>
                  <a:pt x="12478229" y="12544672"/>
                </a:lnTo>
                <a:lnTo>
                  <a:pt x="0" y="12544672"/>
                </a:lnTo>
                <a:lnTo>
                  <a:pt x="0" y="0"/>
                </a:lnTo>
                <a:close/>
              </a:path>
            </a:pathLst>
          </a:custGeom>
          <a:blipFill dpi="0" rotWithShape="1">
            <a:blip r:embed="rId4">
              <a:alphaModFix amt="11000"/>
            </a:blip>
            <a:srcRect/>
            <a:stretch>
              <a:fillRect r="-148000"/>
            </a:stretch>
          </a:blipFill>
        </p:spPr>
        <p:txBody>
          <a:bodyPr/>
          <a:lstStyle/>
          <a:p>
            <a:endParaRPr lang="en-US">
              <a:latin typeface="Aptos" panose="020B0004020202020204" pitchFamily="34" charset="0"/>
            </a:endParaRPr>
          </a:p>
        </p:txBody>
      </p:sp>
      <p:sp>
        <p:nvSpPr>
          <p:cNvPr id="11" name="Freeform 11">
            <a:extLst>
              <a:ext uri="{FF2B5EF4-FFF2-40B4-BE49-F238E27FC236}">
                <a16:creationId xmlns:a16="http://schemas.microsoft.com/office/drawing/2014/main" id="{6539866E-AE45-003C-B6FC-EFD1DABDBF39}"/>
              </a:ext>
            </a:extLst>
          </p:cNvPr>
          <p:cNvSpPr/>
          <p:nvPr/>
        </p:nvSpPr>
        <p:spPr>
          <a:xfrm>
            <a:off x="11396785" y="-1672"/>
            <a:ext cx="792044" cy="206921"/>
          </a:xfrm>
          <a:custGeom>
            <a:avLst/>
            <a:gdLst/>
            <a:ahLst/>
            <a:cxnLst/>
            <a:rect l="l" t="t" r="r" b="b"/>
            <a:pathLst>
              <a:path w="1585513" h="414215">
                <a:moveTo>
                  <a:pt x="0" y="0"/>
                </a:moveTo>
                <a:lnTo>
                  <a:pt x="1585513" y="0"/>
                </a:lnTo>
                <a:lnTo>
                  <a:pt x="1585513" y="414216"/>
                </a:lnTo>
                <a:lnTo>
                  <a:pt x="0" y="414216"/>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
        <p:nvSpPr>
          <p:cNvPr id="13" name="Freeform 13">
            <a:extLst>
              <a:ext uri="{FF2B5EF4-FFF2-40B4-BE49-F238E27FC236}">
                <a16:creationId xmlns:a16="http://schemas.microsoft.com/office/drawing/2014/main" id="{828AB790-CD73-964B-DAAF-45FFBD527039}"/>
              </a:ext>
            </a:extLst>
          </p:cNvPr>
          <p:cNvSpPr/>
          <p:nvPr/>
        </p:nvSpPr>
        <p:spPr>
          <a:xfrm>
            <a:off x="11396785" y="477779"/>
            <a:ext cx="792044" cy="206921"/>
          </a:xfrm>
          <a:custGeom>
            <a:avLst/>
            <a:gdLst/>
            <a:ahLst/>
            <a:cxnLst/>
            <a:rect l="l" t="t" r="r" b="b"/>
            <a:pathLst>
              <a:path w="1585513" h="414215">
                <a:moveTo>
                  <a:pt x="0" y="0"/>
                </a:moveTo>
                <a:lnTo>
                  <a:pt x="1585513" y="0"/>
                </a:lnTo>
                <a:lnTo>
                  <a:pt x="1585513" y="414215"/>
                </a:lnTo>
                <a:lnTo>
                  <a:pt x="0" y="414215"/>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
        <p:nvSpPr>
          <p:cNvPr id="22" name="Freeform 13">
            <a:extLst>
              <a:ext uri="{FF2B5EF4-FFF2-40B4-BE49-F238E27FC236}">
                <a16:creationId xmlns:a16="http://schemas.microsoft.com/office/drawing/2014/main" id="{D8B400E5-20D3-B8D6-DC3F-4E58E0F11B5B}"/>
              </a:ext>
            </a:extLst>
          </p:cNvPr>
          <p:cNvSpPr/>
          <p:nvPr userDrawn="1"/>
        </p:nvSpPr>
        <p:spPr>
          <a:xfrm>
            <a:off x="11399956" y="710095"/>
            <a:ext cx="792044" cy="206921"/>
          </a:xfrm>
          <a:custGeom>
            <a:avLst/>
            <a:gdLst/>
            <a:ahLst/>
            <a:cxnLst/>
            <a:rect l="l" t="t" r="r" b="b"/>
            <a:pathLst>
              <a:path w="1585513" h="414215">
                <a:moveTo>
                  <a:pt x="0" y="0"/>
                </a:moveTo>
                <a:lnTo>
                  <a:pt x="1585513" y="0"/>
                </a:lnTo>
                <a:lnTo>
                  <a:pt x="1585513" y="414215"/>
                </a:lnTo>
                <a:lnTo>
                  <a:pt x="0" y="414215"/>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
        <p:nvSpPr>
          <p:cNvPr id="23" name="Freeform 13">
            <a:extLst>
              <a:ext uri="{FF2B5EF4-FFF2-40B4-BE49-F238E27FC236}">
                <a16:creationId xmlns:a16="http://schemas.microsoft.com/office/drawing/2014/main" id="{9DB7C1C6-A4AE-7D1B-0338-2CCACA8664EE}"/>
              </a:ext>
            </a:extLst>
          </p:cNvPr>
          <p:cNvSpPr/>
          <p:nvPr userDrawn="1"/>
        </p:nvSpPr>
        <p:spPr>
          <a:xfrm>
            <a:off x="11396785" y="236896"/>
            <a:ext cx="792044" cy="206921"/>
          </a:xfrm>
          <a:custGeom>
            <a:avLst/>
            <a:gdLst/>
            <a:ahLst/>
            <a:cxnLst/>
            <a:rect l="l" t="t" r="r" b="b"/>
            <a:pathLst>
              <a:path w="1585513" h="414215">
                <a:moveTo>
                  <a:pt x="0" y="0"/>
                </a:moveTo>
                <a:lnTo>
                  <a:pt x="1585513" y="0"/>
                </a:lnTo>
                <a:lnTo>
                  <a:pt x="1585513" y="414215"/>
                </a:lnTo>
                <a:lnTo>
                  <a:pt x="0" y="414215"/>
                </a:lnTo>
                <a:lnTo>
                  <a:pt x="0" y="0"/>
                </a:lnTo>
                <a:close/>
              </a:path>
            </a:pathLst>
          </a:custGeom>
          <a:blipFill>
            <a:blip r:embed="rId5">
              <a:alphaModFix amt="80000"/>
              <a:extLst>
                <a:ext uri="{96DAC541-7B7A-43D3-8B79-37D633B846F1}">
                  <asvg:svgBlip xmlns:asvg="http://schemas.microsoft.com/office/drawing/2016/SVG/main" r:embed="rId6"/>
                </a:ext>
              </a:extLst>
            </a:blip>
            <a:stretch>
              <a:fillRect/>
            </a:stretch>
          </a:blipFill>
        </p:spPr>
        <p:txBody>
          <a:bodyPr/>
          <a:lstStyle/>
          <a:p>
            <a:endParaRPr lang="en-US">
              <a:latin typeface="Aptos" panose="020B0004020202020204" pitchFamily="34" charset="0"/>
            </a:endParaRPr>
          </a:p>
        </p:txBody>
      </p:sp>
    </p:spTree>
    <p:extLst>
      <p:ext uri="{BB962C8B-B14F-4D97-AF65-F5344CB8AC3E}">
        <p14:creationId xmlns:p14="http://schemas.microsoft.com/office/powerpoint/2010/main" val="8750268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4D39E-C8F0-08C8-AFAD-27762937EDE9}"/>
              </a:ext>
            </a:extLst>
          </p:cNvPr>
          <p:cNvSpPr>
            <a:spLocks noGrp="1"/>
          </p:cNvSpPr>
          <p:nvPr>
            <p:ph type="title" hasCustomPrompt="1"/>
          </p:nvPr>
        </p:nvSpPr>
        <p:spPr>
          <a:xfrm>
            <a:off x="7293934" y="1709738"/>
            <a:ext cx="4053515" cy="2852737"/>
          </a:xfrm>
        </p:spPr>
        <p:txBody>
          <a:bodyPr anchor="b"/>
          <a:lstStyle>
            <a:lvl1pPr>
              <a:defRPr sz="6000"/>
            </a:lvl1pPr>
          </a:lstStyle>
          <a:p>
            <a:r>
              <a:rPr lang="en-US"/>
              <a:t>Thanks</a:t>
            </a:r>
          </a:p>
        </p:txBody>
      </p:sp>
      <p:sp>
        <p:nvSpPr>
          <p:cNvPr id="3" name="Text Placeholder 2">
            <a:extLst>
              <a:ext uri="{FF2B5EF4-FFF2-40B4-BE49-F238E27FC236}">
                <a16:creationId xmlns:a16="http://schemas.microsoft.com/office/drawing/2014/main" id="{5D24B0EF-BF59-9126-6A46-27F2694884A5}"/>
              </a:ext>
            </a:extLst>
          </p:cNvPr>
          <p:cNvSpPr>
            <a:spLocks noGrp="1"/>
          </p:cNvSpPr>
          <p:nvPr>
            <p:ph type="body" idx="1" hasCustomPrompt="1"/>
          </p:nvPr>
        </p:nvSpPr>
        <p:spPr>
          <a:xfrm>
            <a:off x="7293934" y="4589463"/>
            <a:ext cx="405351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Any Question?</a:t>
            </a:r>
          </a:p>
        </p:txBody>
      </p:sp>
      <p:sp>
        <p:nvSpPr>
          <p:cNvPr id="4" name="Date Placeholder 3">
            <a:extLst>
              <a:ext uri="{FF2B5EF4-FFF2-40B4-BE49-F238E27FC236}">
                <a16:creationId xmlns:a16="http://schemas.microsoft.com/office/drawing/2014/main" id="{8B82C918-A643-272D-12E1-40D9F1BB33A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AF1001EA-6A7A-608C-BEDA-1011D0611D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B10B23-8E91-347F-5A0E-4002CC643892}"/>
              </a:ext>
            </a:extLst>
          </p:cNvPr>
          <p:cNvSpPr>
            <a:spLocks noGrp="1"/>
          </p:cNvSpPr>
          <p:nvPr>
            <p:ph type="sldNum" sz="quarter" idx="12"/>
          </p:nvPr>
        </p:nvSpPr>
        <p:spPr/>
        <p:txBody>
          <a:bodyPr/>
          <a:lstStyle/>
          <a:p>
            <a:fld id="{D3E9222A-6CCA-472D-8DB6-CE667BDAEEB5}" type="slidenum">
              <a:rPr lang="en-US" smtClean="0"/>
              <a:t>‹#›</a:t>
            </a:fld>
            <a:endParaRPr lang="en-US"/>
          </a:p>
        </p:txBody>
      </p:sp>
      <p:sp>
        <p:nvSpPr>
          <p:cNvPr id="20" name="Freeform 10">
            <a:extLst>
              <a:ext uri="{FF2B5EF4-FFF2-40B4-BE49-F238E27FC236}">
                <a16:creationId xmlns:a16="http://schemas.microsoft.com/office/drawing/2014/main" id="{9739A4A6-4791-5BA2-B1DD-0349D3540F39}"/>
              </a:ext>
            </a:extLst>
          </p:cNvPr>
          <p:cNvSpPr/>
          <p:nvPr userDrawn="1"/>
        </p:nvSpPr>
        <p:spPr>
          <a:xfrm>
            <a:off x="298774" y="517459"/>
            <a:ext cx="6233505" cy="6266696"/>
          </a:xfrm>
          <a:custGeom>
            <a:avLst/>
            <a:gdLst/>
            <a:ahLst/>
            <a:cxnLst/>
            <a:rect l="l" t="t" r="r" b="b"/>
            <a:pathLst>
              <a:path w="12478229" h="12544672">
                <a:moveTo>
                  <a:pt x="0" y="0"/>
                </a:moveTo>
                <a:lnTo>
                  <a:pt x="12478229" y="0"/>
                </a:lnTo>
                <a:lnTo>
                  <a:pt x="12478229" y="12544672"/>
                </a:lnTo>
                <a:lnTo>
                  <a:pt x="0" y="12544672"/>
                </a:lnTo>
                <a:lnTo>
                  <a:pt x="0" y="0"/>
                </a:lnTo>
                <a:close/>
              </a:path>
            </a:pathLst>
          </a:custGeom>
          <a:blipFill dpi="0" rotWithShape="1">
            <a:blip r:embed="rId2">
              <a:alphaModFix amt="11000"/>
            </a:blip>
            <a:srcRect/>
            <a:stretch>
              <a:fillRect r="-148000"/>
            </a:stretch>
          </a:blipFill>
        </p:spPr>
        <p:txBody>
          <a:bodyPr/>
          <a:lstStyle/>
          <a:p>
            <a:endParaRPr lang="en-US">
              <a:latin typeface="Aptos" panose="020B0004020202020204" pitchFamily="34" charset="0"/>
            </a:endParaRPr>
          </a:p>
        </p:txBody>
      </p:sp>
      <p:pic>
        <p:nvPicPr>
          <p:cNvPr id="21" name="Picture 20" descr="A green and white sign&#10;&#10;AI-generated content may be incorrect.">
            <a:extLst>
              <a:ext uri="{FF2B5EF4-FFF2-40B4-BE49-F238E27FC236}">
                <a16:creationId xmlns:a16="http://schemas.microsoft.com/office/drawing/2014/main" id="{FB8FD814-5707-0DDB-73AD-B2717CFE4E7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40437" y="217298"/>
            <a:ext cx="6152789" cy="1465452"/>
          </a:xfrm>
          <a:prstGeom prst="rect">
            <a:avLst/>
          </a:prstGeom>
        </p:spPr>
      </p:pic>
    </p:spTree>
    <p:extLst>
      <p:ext uri="{BB962C8B-B14F-4D97-AF65-F5344CB8AC3E}">
        <p14:creationId xmlns:p14="http://schemas.microsoft.com/office/powerpoint/2010/main" val="42067780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80375-85B1-0560-D1C3-6F61C37DAD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8E5E18-0BB5-5170-FAD4-F5EBF768BA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8850F7-C965-CD03-8153-490183B979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5AF2EF-0969-C516-1E3A-69B26E4DD8E6}"/>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6" name="Footer Placeholder 5">
            <a:extLst>
              <a:ext uri="{FF2B5EF4-FFF2-40B4-BE49-F238E27FC236}">
                <a16:creationId xmlns:a16="http://schemas.microsoft.com/office/drawing/2014/main" id="{FE8A6DD9-B316-057C-F5E5-3345A19E47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2A9A5E-B06A-2385-BA67-B5FE42A9D660}"/>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40132154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7FB9C-8465-7775-838E-3EA78FF4C2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E06B35-DB06-15DB-0829-2E6F1CE77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913398-12C9-37D3-E21E-838DC54742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04619-5A30-CFF0-91F5-95C0ED334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97EE50-CC01-5117-79B4-A6D5C85525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461F1B-CED9-375A-DAD7-70EA73A9696D}"/>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8" name="Footer Placeholder 7">
            <a:extLst>
              <a:ext uri="{FF2B5EF4-FFF2-40B4-BE49-F238E27FC236}">
                <a16:creationId xmlns:a16="http://schemas.microsoft.com/office/drawing/2014/main" id="{0376F369-740E-2A35-DEF5-583D0D8A6F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2A4C92-9489-C552-FDB4-1ADC4B7024F0}"/>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22979155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2C751-8772-0450-2666-D6532622CF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5B705E-7503-4C57-851B-2F102E2B6BE7}"/>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4" name="Footer Placeholder 3">
            <a:extLst>
              <a:ext uri="{FF2B5EF4-FFF2-40B4-BE49-F238E27FC236}">
                <a16:creationId xmlns:a16="http://schemas.microsoft.com/office/drawing/2014/main" id="{331D3ED8-E95A-289D-5B5A-5D70B8BD2D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D618A9-DD8C-AC6E-D1D7-DBDA48B6715B}"/>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36312053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C148ED-E586-BCB5-04D8-B9653BE4753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3" name="Footer Placeholder 2">
            <a:extLst>
              <a:ext uri="{FF2B5EF4-FFF2-40B4-BE49-F238E27FC236}">
                <a16:creationId xmlns:a16="http://schemas.microsoft.com/office/drawing/2014/main" id="{A9E27125-89D4-1B47-F5C3-9769A3D607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3AA77D-25C8-D73D-A7BD-F84AB865F0E0}"/>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36045796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1205-4367-5544-31B4-4EB4B2B781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73F1A9-F712-E59E-3888-27BAB3F1EF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70ED70-F518-1792-E4E4-4F7A9B81C6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5177E9-780E-BFC3-98E3-57111F1FD68E}"/>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6" name="Footer Placeholder 5">
            <a:extLst>
              <a:ext uri="{FF2B5EF4-FFF2-40B4-BE49-F238E27FC236}">
                <a16:creationId xmlns:a16="http://schemas.microsoft.com/office/drawing/2014/main" id="{5C20E2B2-2345-D548-45F3-8F93ADB520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8DF807-5C6B-65FB-A5C7-C318DA685D2F}"/>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35492720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DCB3-E7F2-5F57-E579-5F02B52FB6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156421-52E0-BDD0-2A5A-91B4E54B99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56C4E0-3754-6183-9696-F69C617C8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B555B-9437-EE32-BC33-02C7A3EE71C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6" name="Footer Placeholder 5">
            <a:extLst>
              <a:ext uri="{FF2B5EF4-FFF2-40B4-BE49-F238E27FC236}">
                <a16:creationId xmlns:a16="http://schemas.microsoft.com/office/drawing/2014/main" id="{1D9BF77E-D021-C8FA-9598-EA5286E583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3E0A02-CC68-160F-FD97-68D6F7A9460D}"/>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40174281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1DAD2-C661-890E-542B-3C520AE2C6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3F9F5A-DB2D-6DA8-2D3F-3295A66018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B66D2-71B0-26A0-F53B-102AA771035C}"/>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41781F9B-B465-4DE7-A5C6-8C2FDB8994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4B801-3022-BEB2-235A-FC4CE1BC1A75}"/>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18874410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907F3F-C706-B48B-7AA0-2F08937567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36C6F4-87F9-744B-0941-A5029275B3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5B6F1-0CDD-466D-136A-5911E0FA1AC3}"/>
              </a:ext>
            </a:extLst>
          </p:cNvPr>
          <p:cNvSpPr>
            <a:spLocks noGrp="1"/>
          </p:cNvSpPr>
          <p:nvPr>
            <p:ph type="dt" sz="half" idx="10"/>
          </p:nvPr>
        </p:nvSpPr>
        <p:spPr/>
        <p:txBody>
          <a:body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59996DC1-8BA2-6E33-8510-D69182920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3965D9-0E33-2BF4-1E5F-05588F78B83A}"/>
              </a:ext>
            </a:extLst>
          </p:cNvPr>
          <p:cNvSpPr>
            <a:spLocks noGrp="1"/>
          </p:cNvSpPr>
          <p:nvPr>
            <p:ph type="sldNum" sz="quarter" idx="12"/>
          </p:nvPr>
        </p:nvSpPr>
        <p:spPr/>
        <p:txBody>
          <a:bodyPr/>
          <a:lstStyle/>
          <a:p>
            <a:fld id="{D3E9222A-6CCA-472D-8DB6-CE667BDAEEB5}" type="slidenum">
              <a:rPr lang="en-US" smtClean="0"/>
              <a:t>‹#›</a:t>
            </a:fld>
            <a:endParaRPr lang="en-US"/>
          </a:p>
        </p:txBody>
      </p:sp>
    </p:spTree>
    <p:extLst>
      <p:ext uri="{BB962C8B-B14F-4D97-AF65-F5344CB8AC3E}">
        <p14:creationId xmlns:p14="http://schemas.microsoft.com/office/powerpoint/2010/main" val="1426418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6DAA8-C7A0-519C-0433-48868AA4AB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0B805F-CCCB-7D40-9FBB-C50796A856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3FE7B-D4EE-6218-A2CE-D7E741E37C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21B2BBDC-2FC1-DB45-94A7-BE41BA6FC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FA9156-448D-F167-BAB9-0744017C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E9222A-6CCA-472D-8DB6-CE667BDAEEB5}" type="slidenum">
              <a:rPr lang="en-US" smtClean="0"/>
              <a:t>‹#›</a:t>
            </a:fld>
            <a:endParaRPr lang="en-US"/>
          </a:p>
        </p:txBody>
      </p:sp>
    </p:spTree>
    <p:extLst>
      <p:ext uri="{BB962C8B-B14F-4D97-AF65-F5344CB8AC3E}">
        <p14:creationId xmlns:p14="http://schemas.microsoft.com/office/powerpoint/2010/main" val="2908050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EE145-8D5D-5495-1FBB-2152F61653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9C76F70-2B25-4835-BA43-47A512310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94FB0C-7B08-2AFD-21C9-0D751E553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FB9DFE-3346-49E3-82A1-34AE69B65C7E}" type="datetimeFigureOut">
              <a:rPr lang="en-US" smtClean="0"/>
              <a:t>19-Jan-26</a:t>
            </a:fld>
            <a:endParaRPr lang="en-US"/>
          </a:p>
        </p:txBody>
      </p:sp>
      <p:sp>
        <p:nvSpPr>
          <p:cNvPr id="5" name="Footer Placeholder 4">
            <a:extLst>
              <a:ext uri="{FF2B5EF4-FFF2-40B4-BE49-F238E27FC236}">
                <a16:creationId xmlns:a16="http://schemas.microsoft.com/office/drawing/2014/main" id="{A34CBE12-D03E-3575-4DDD-A08D6A397C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96285A-8CB1-4FBC-0117-EF37301735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F2158D-BC32-4F98-A787-487E0905F2CD}" type="slidenum">
              <a:rPr lang="en-US" smtClean="0"/>
              <a:t>‹#›</a:t>
            </a:fld>
            <a:endParaRPr lang="en-US"/>
          </a:p>
        </p:txBody>
      </p:sp>
    </p:spTree>
    <p:extLst>
      <p:ext uri="{BB962C8B-B14F-4D97-AF65-F5344CB8AC3E}">
        <p14:creationId xmlns:p14="http://schemas.microsoft.com/office/powerpoint/2010/main" val="34907644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1F5DB-7DF9-FB29-F9C1-63FE050E95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B09277-3A6D-8B95-5E1D-569B47B38C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EA9438-0F0E-6AC0-4B26-07CB69CBDD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C9062B-7F7D-42B0-934B-234B52EDB4C7}" type="datetimeFigureOut">
              <a:rPr lang="en-US" smtClean="0"/>
              <a:t>19-Jan-26</a:t>
            </a:fld>
            <a:endParaRPr lang="en-US"/>
          </a:p>
        </p:txBody>
      </p:sp>
      <p:sp>
        <p:nvSpPr>
          <p:cNvPr id="5" name="Footer Placeholder 4">
            <a:extLst>
              <a:ext uri="{FF2B5EF4-FFF2-40B4-BE49-F238E27FC236}">
                <a16:creationId xmlns:a16="http://schemas.microsoft.com/office/drawing/2014/main" id="{F5CA7573-05C9-5688-301D-3471C9C215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B13232-F972-14DD-B50F-FEE49646E9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34FA74-6791-4224-AA47-22FAA7D7B597}" type="slidenum">
              <a:rPr lang="en-US" smtClean="0"/>
              <a:t>‹#›</a:t>
            </a:fld>
            <a:endParaRPr lang="en-US"/>
          </a:p>
        </p:txBody>
      </p:sp>
    </p:spTree>
    <p:extLst>
      <p:ext uri="{BB962C8B-B14F-4D97-AF65-F5344CB8AC3E}">
        <p14:creationId xmlns:p14="http://schemas.microsoft.com/office/powerpoint/2010/main" val="1233883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6DAA8-C7A0-519C-0433-48868AA4AB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0B805F-CCCB-7D40-9FBB-C50796A856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3FE7B-D4EE-6218-A2CE-D7E741E37C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72E528-5209-4A61-9A99-F9D5F086242B}" type="datetimeFigureOut">
              <a:rPr lang="en-US" smtClean="0"/>
              <a:t>19-Jan-26</a:t>
            </a:fld>
            <a:endParaRPr lang="en-US"/>
          </a:p>
        </p:txBody>
      </p:sp>
      <p:sp>
        <p:nvSpPr>
          <p:cNvPr id="5" name="Footer Placeholder 4">
            <a:extLst>
              <a:ext uri="{FF2B5EF4-FFF2-40B4-BE49-F238E27FC236}">
                <a16:creationId xmlns:a16="http://schemas.microsoft.com/office/drawing/2014/main" id="{21B2BBDC-2FC1-DB45-94A7-BE41BA6FC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FA9156-448D-F167-BAB9-0744017C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E9222A-6CCA-472D-8DB6-CE667BDAEEB5}" type="slidenum">
              <a:rPr lang="en-US" smtClean="0"/>
              <a:t>‹#›</a:t>
            </a:fld>
            <a:endParaRPr lang="en-US"/>
          </a:p>
        </p:txBody>
      </p:sp>
    </p:spTree>
    <p:extLst>
      <p:ext uri="{BB962C8B-B14F-4D97-AF65-F5344CB8AC3E}">
        <p14:creationId xmlns:p14="http://schemas.microsoft.com/office/powerpoint/2010/main" val="400616880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8" Type="http://schemas.openxmlformats.org/officeDocument/2006/relationships/hyperlink" Target="https://reporting.cgiar.org/reports/result-details/5368?phase=6" TargetMode="External"/><Relationship Id="rId3" Type="http://schemas.openxmlformats.org/officeDocument/2006/relationships/hyperlink" Target="https://doi.org/10.1155/are/9986779" TargetMode="External"/><Relationship Id="rId7" Type="http://schemas.openxmlformats.org/officeDocument/2006/relationships/hyperlink" Target="https://reporting.cgiar.org/reports/result-details/5346?phase=6" TargetMode="External"/><Relationship Id="rId2" Type="http://schemas.openxmlformats.org/officeDocument/2006/relationships/notesSlide" Target="../notesSlides/notesSlide3.xml"/><Relationship Id="rId1" Type="http://schemas.openxmlformats.org/officeDocument/2006/relationships/slideLayout" Target="../slideLayouts/slideLayout35.xml"/><Relationship Id="rId6" Type="http://schemas.openxmlformats.org/officeDocument/2006/relationships/hyperlink" Target="https://reporting.cgiar.org/reports/result-details/5335?phase=6" TargetMode="External"/><Relationship Id="rId5" Type="http://schemas.openxmlformats.org/officeDocument/2006/relationships/hyperlink" Target="https://doi.org/10.1080/1389224X.2024.2371292" TargetMode="External"/><Relationship Id="rId4" Type="http://schemas.openxmlformats.org/officeDocument/2006/relationships/hyperlink" Target="https://doi.org/10.3389/faquc.2022.1060335" TargetMode="External"/><Relationship Id="rId9" Type="http://schemas.openxmlformats.org/officeDocument/2006/relationships/hyperlink" Target="https://reporting.cgiar.org/reports/result-details/18181?phase=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AD58-E0AE-A464-D96C-9CF62D7F4717}"/>
              </a:ext>
            </a:extLst>
          </p:cNvPr>
          <p:cNvSpPr>
            <a:spLocks noGrp="1"/>
          </p:cNvSpPr>
          <p:nvPr>
            <p:ph type="ctrTitle"/>
          </p:nvPr>
        </p:nvSpPr>
        <p:spPr>
          <a:xfrm>
            <a:off x="539602" y="2049495"/>
            <a:ext cx="10216630" cy="1755418"/>
          </a:xfrm>
        </p:spPr>
        <p:txBody>
          <a:bodyPr>
            <a:noAutofit/>
          </a:bodyPr>
          <a:lstStyle/>
          <a:p>
            <a:r>
              <a:rPr lang="en-US" sz="4400"/>
              <a:t>Flagship Solution Scaling Tracks</a:t>
            </a:r>
            <a:br>
              <a:rPr lang="en-US" sz="4400"/>
            </a:br>
            <a:r>
              <a:rPr lang="en-US" sz="4400"/>
              <a:t>Inception Meeting and Process</a:t>
            </a:r>
          </a:p>
        </p:txBody>
      </p:sp>
      <p:sp>
        <p:nvSpPr>
          <p:cNvPr id="3" name="Subtitle 2">
            <a:extLst>
              <a:ext uri="{FF2B5EF4-FFF2-40B4-BE49-F238E27FC236}">
                <a16:creationId xmlns:a16="http://schemas.microsoft.com/office/drawing/2014/main" id="{F03187F4-7561-B837-F7E9-1BE72B8E03C7}"/>
              </a:ext>
            </a:extLst>
          </p:cNvPr>
          <p:cNvSpPr>
            <a:spLocks noGrp="1"/>
          </p:cNvSpPr>
          <p:nvPr>
            <p:ph type="subTitle" idx="1"/>
          </p:nvPr>
        </p:nvSpPr>
        <p:spPr>
          <a:xfrm>
            <a:off x="539601" y="4981074"/>
            <a:ext cx="6467781" cy="1153310"/>
          </a:xfrm>
        </p:spPr>
        <p:txBody>
          <a:bodyPr vert="horz" lIns="91440" tIns="45720" rIns="91440" bIns="45720" rtlCol="0" anchor="t">
            <a:normAutofit fontScale="85000" lnSpcReduction="20000"/>
          </a:bodyPr>
          <a:lstStyle/>
          <a:p>
            <a:pPr algn="just"/>
            <a:r>
              <a:rPr lang="en-US" sz="2600" b="1" i="0" u="none" strike="noStrike" baseline="0">
                <a:solidFill>
                  <a:srgbClr val="000000"/>
                </a:solidFill>
              </a:rPr>
              <a:t>Scaling Delivery Systems for Carp, Tilapia, and Small Indigenous Species (SIS) Genetics and Input Services in Bangladesh </a:t>
            </a:r>
            <a:endParaRPr lang="en-US" sz="2600" b="1"/>
          </a:p>
          <a:p>
            <a:r>
              <a:rPr lang="en-US"/>
              <a:t>January 19th, 2026</a:t>
            </a:r>
          </a:p>
        </p:txBody>
      </p:sp>
    </p:spTree>
    <p:extLst>
      <p:ext uri="{BB962C8B-B14F-4D97-AF65-F5344CB8AC3E}">
        <p14:creationId xmlns:p14="http://schemas.microsoft.com/office/powerpoint/2010/main" val="2373847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3C511-B131-7456-2F7D-BFB8B02B914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D2DF472-2BAD-5C92-21EA-2771FB11A3EE}"/>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r>
              <a:rPr lang="en-US" sz="2800">
                <a:solidFill>
                  <a:schemeClr val="bg1"/>
                </a:solidFill>
              </a:rPr>
              <a:t>Description of the innovation</a:t>
            </a:r>
            <a:endParaRPr lang="en-US">
              <a:solidFill>
                <a:schemeClr val="bg1"/>
              </a:solidFill>
            </a:endParaRPr>
          </a:p>
        </p:txBody>
      </p:sp>
      <p:sp>
        <p:nvSpPr>
          <p:cNvPr id="3" name="Rectangle 2">
            <a:extLst>
              <a:ext uri="{FF2B5EF4-FFF2-40B4-BE49-F238E27FC236}">
                <a16:creationId xmlns:a16="http://schemas.microsoft.com/office/drawing/2014/main" id="{8F22CF3E-D929-AB6A-67CE-48DAF180E02C}"/>
              </a:ext>
            </a:extLst>
          </p:cNvPr>
          <p:cNvSpPr>
            <a:spLocks noChangeArrowheads="1"/>
          </p:cNvSpPr>
          <p:nvPr/>
        </p:nvSpPr>
        <p:spPr bwMode="auto">
          <a:xfrm>
            <a:off x="517235" y="1041007"/>
            <a:ext cx="11215061"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Scale a bundled decentralized aquaculture seed and service delivery system (SeedCompact)</a:t>
            </a:r>
            <a:endParaRPr kumimoji="0" lang="en-US" altLang="en-US" sz="1800" b="0" i="0" u="none" strike="noStrike" cap="none" normalizeH="0" baseline="0">
              <a:ln>
                <a:noFill/>
              </a:ln>
              <a:solidFill>
                <a:schemeClr val="accent1"/>
              </a:solidFill>
              <a:effectLst/>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Mobilizes licensed hatcheries, associated nurseries, and local service providers to deliver </a:t>
            </a:r>
            <a:r>
              <a:rPr kumimoji="0" lang="en-US" altLang="en-US" sz="1800" i="0" u="none" strike="noStrike" cap="none" normalizeH="0" baseline="0">
                <a:ln>
                  <a:noFill/>
                </a:ln>
                <a:solidFill>
                  <a:schemeClr val="tx1"/>
                </a:solidFill>
                <a:effectLst/>
                <a:latin typeface="+mj-lt"/>
              </a:rPr>
              <a:t>quality seed, advisory support, and monitored delivery </a:t>
            </a:r>
            <a:r>
              <a:rPr kumimoji="0" lang="en-US" altLang="en-US" sz="1800" b="0" i="0" u="none" strike="noStrike" cap="none" normalizeH="0" baseline="0">
                <a:ln>
                  <a:noFill/>
                </a:ln>
                <a:solidFill>
                  <a:schemeClr val="tx1"/>
                </a:solidFill>
                <a:effectLst/>
                <a:latin typeface="+mj-lt"/>
              </a:rPr>
              <a:t>at last mile.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How the package works (end-to-end delivery)</a:t>
            </a:r>
            <a:endParaRPr kumimoji="0" lang="en-US" altLang="en-US" sz="1800" b="0" i="0" u="none" strike="noStrike" cap="none" normalizeH="0" baseline="0">
              <a:ln>
                <a:noFill/>
              </a:ln>
              <a:solidFill>
                <a:schemeClr val="accent1"/>
              </a:solidFill>
              <a:effectLst/>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Quality seed + localized advisory services (including digital advisory via </a:t>
            </a:r>
            <a:r>
              <a:rPr kumimoji="0" lang="en-US" altLang="en-US" sz="1800" i="0" u="none" strike="noStrike" cap="none" normalizeH="0" baseline="0">
                <a:ln>
                  <a:noFill/>
                </a:ln>
                <a:solidFill>
                  <a:schemeClr val="tx1"/>
                </a:solidFill>
                <a:effectLst/>
                <a:latin typeface="+mj-lt"/>
              </a:rPr>
              <a:t>OneFish</a:t>
            </a:r>
            <a:r>
              <a:rPr kumimoji="0" lang="en-US" altLang="en-US" sz="1800" b="0" i="0" u="none" strike="noStrike" cap="none" normalizeH="0" baseline="0">
                <a:ln>
                  <a:noFill/>
                </a:ln>
                <a:solidFill>
                  <a:schemeClr val="tx1"/>
                </a:solidFill>
                <a:effectLst/>
                <a:latin typeface="+mj-lt"/>
              </a:rPr>
              <a:t>) → improved farm management → higher survival, productivity, and returns.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Builds on </a:t>
            </a:r>
            <a:r>
              <a:rPr kumimoji="0" lang="en-US" altLang="en-US" sz="1800" i="0" u="none" strike="noStrike" cap="none" normalizeH="0" baseline="0">
                <a:ln>
                  <a:noFill/>
                </a:ln>
                <a:solidFill>
                  <a:schemeClr val="tx1"/>
                </a:solidFill>
                <a:effectLst/>
                <a:latin typeface="+mj-lt"/>
              </a:rPr>
              <a:t>WorldFish and IFPRI experience </a:t>
            </a:r>
            <a:r>
              <a:rPr kumimoji="0" lang="en-US" altLang="en-US" sz="1800" b="0" i="0" u="none" strike="noStrike" cap="none" normalizeH="0" baseline="0">
                <a:ln>
                  <a:noFill/>
                </a:ln>
                <a:solidFill>
                  <a:schemeClr val="tx1"/>
                </a:solidFill>
                <a:effectLst/>
                <a:latin typeface="+mj-lt"/>
              </a:rPr>
              <a:t>(with </a:t>
            </a:r>
            <a:r>
              <a:rPr kumimoji="0" lang="en-US" altLang="en-US" sz="1800" i="0" u="none" strike="noStrike" cap="none" normalizeH="0" baseline="0">
                <a:ln>
                  <a:noFill/>
                </a:ln>
                <a:solidFill>
                  <a:schemeClr val="tx1"/>
                </a:solidFill>
                <a:effectLst/>
                <a:latin typeface="+mj-lt"/>
              </a:rPr>
              <a:t>DoF, BFRI, and academia</a:t>
            </a:r>
            <a:r>
              <a:rPr kumimoji="0" lang="en-US" altLang="en-US" sz="1800" b="0" i="0" u="none" strike="noStrike" cap="none" normalizeH="0" baseline="0">
                <a:ln>
                  <a:noFill/>
                </a:ln>
                <a:solidFill>
                  <a:schemeClr val="tx1"/>
                </a:solidFill>
                <a:effectLst/>
                <a:latin typeface="+mj-lt"/>
              </a:rPr>
              <a:t>) to </a:t>
            </a:r>
            <a:r>
              <a:rPr kumimoji="0" lang="en-US" altLang="en-US" sz="1800" i="0" u="none" strike="noStrike" cap="none" normalizeH="0" baseline="0">
                <a:ln>
                  <a:noFill/>
                </a:ln>
                <a:solidFill>
                  <a:schemeClr val="tx1"/>
                </a:solidFill>
                <a:effectLst/>
                <a:latin typeface="+mj-lt"/>
              </a:rPr>
              <a:t>adapt and apply practical SOPs and traceability –ready practices </a:t>
            </a:r>
            <a:r>
              <a:rPr kumimoji="0" lang="en-US" altLang="en-US" sz="1800" b="0" i="0" u="none" strike="noStrike" cap="none" normalizeH="0" baseline="0">
                <a:ln>
                  <a:noFill/>
                </a:ln>
                <a:solidFill>
                  <a:schemeClr val="tx1"/>
                </a:solidFill>
                <a:effectLst/>
                <a:latin typeface="+mj-lt"/>
              </a:rPr>
              <a:t>that strengthen quality assurance and seed system sustainability.</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Evidence confirms effectiveness and scalability</a:t>
            </a:r>
            <a:endParaRPr kumimoji="0" lang="en-US" altLang="en-US" sz="1800" b="0" i="0" u="none" strike="noStrike" cap="none" normalizeH="0" baseline="0">
              <a:ln>
                <a:noFill/>
              </a:ln>
              <a:solidFill>
                <a:schemeClr val="accent1"/>
              </a:solidFill>
              <a:effectLst/>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a:ln>
                  <a:noFill/>
                </a:ln>
                <a:solidFill>
                  <a:schemeClr val="tx1"/>
                </a:solidFill>
                <a:effectLst/>
                <a:latin typeface="+mj-lt"/>
              </a:rPr>
              <a:t>Improved genetics example: G3 Rohu on-farm trials show clear gains in growth performance and farm profitability under farmer conditions.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a:ln>
                  <a:noFill/>
                </a:ln>
                <a:solidFill>
                  <a:schemeClr val="tx1"/>
                </a:solidFill>
                <a:effectLst/>
                <a:latin typeface="+mj-lt"/>
              </a:rPr>
              <a:t>Peer-reviewed evidence shows decentralized extension through private/local service providers improves adoption, production, income, and food security.</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Responsible scaling </a:t>
            </a:r>
            <a:endParaRPr kumimoji="0" lang="en-US" altLang="en-US" sz="1800" b="0" i="0" u="none" strike="noStrike" cap="none" normalizeH="0" baseline="0">
              <a:ln>
                <a:noFill/>
              </a:ln>
              <a:solidFill>
                <a:schemeClr val="accent1"/>
              </a:solidFill>
              <a:effectLst/>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Use SOPs and traceability to link </a:t>
            </a:r>
            <a:r>
              <a:rPr kumimoji="0" lang="en-US" altLang="en-US" sz="1800" i="0" u="none" strike="noStrike" cap="none" normalizeH="0" baseline="0">
                <a:ln>
                  <a:noFill/>
                </a:ln>
                <a:solidFill>
                  <a:schemeClr val="tx1"/>
                </a:solidFill>
                <a:effectLst/>
                <a:latin typeface="+mj-lt"/>
              </a:rPr>
              <a:t>seed origin → service delivery → farmer outcomes</a:t>
            </a:r>
            <a:r>
              <a:rPr kumimoji="0" lang="en-US" altLang="en-US" sz="1800" b="0" i="0" u="none" strike="noStrike" cap="none" normalizeH="0" baseline="0">
                <a:ln>
                  <a:noFill/>
                </a:ln>
                <a:solidFill>
                  <a:schemeClr val="tx1"/>
                </a:solidFill>
                <a:effectLst/>
                <a:latin typeface="+mj-lt"/>
              </a:rPr>
              <a:t>, reducing quality risk and strengthening accountability as scale increases.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Track learning and equity outcomes through </a:t>
            </a:r>
            <a:r>
              <a:rPr kumimoji="0" lang="en-US" altLang="en-US" sz="1800" i="0" u="none" strike="noStrike" cap="none" normalizeH="0" baseline="0">
                <a:ln>
                  <a:noFill/>
                </a:ln>
                <a:solidFill>
                  <a:schemeClr val="tx1"/>
                </a:solidFill>
                <a:effectLst/>
                <a:latin typeface="+mj-lt"/>
              </a:rPr>
              <a:t>MELIA </a:t>
            </a:r>
            <a:r>
              <a:rPr kumimoji="0" lang="en-US" altLang="en-US" sz="1800" b="0" i="0" u="none" strike="noStrike" cap="none" normalizeH="0" baseline="0">
                <a:ln>
                  <a:noFill/>
                </a:ln>
                <a:solidFill>
                  <a:schemeClr val="tx1"/>
                </a:solidFill>
                <a:effectLst/>
                <a:latin typeface="+mj-lt"/>
              </a:rPr>
              <a:t>to improve delivery quality over time.</a:t>
            </a:r>
          </a:p>
        </p:txBody>
      </p:sp>
    </p:spTree>
    <p:extLst>
      <p:ext uri="{BB962C8B-B14F-4D97-AF65-F5344CB8AC3E}">
        <p14:creationId xmlns:p14="http://schemas.microsoft.com/office/powerpoint/2010/main" val="1253392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F00C2-7CDA-8DC7-C264-97863DDAFC4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583D8DA-F43A-06BF-8A7D-64F0B8D1E3AF}"/>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r>
              <a:rPr lang="en-US" sz="2800">
                <a:solidFill>
                  <a:schemeClr val="bg1"/>
                </a:solidFill>
              </a:rPr>
              <a:t>Scaling ambition</a:t>
            </a:r>
            <a:endParaRPr lang="en-US">
              <a:solidFill>
                <a:schemeClr val="bg1"/>
              </a:solidFill>
            </a:endParaRPr>
          </a:p>
        </p:txBody>
      </p:sp>
      <p:sp>
        <p:nvSpPr>
          <p:cNvPr id="2" name="Rectangle 1">
            <a:extLst>
              <a:ext uri="{FF2B5EF4-FFF2-40B4-BE49-F238E27FC236}">
                <a16:creationId xmlns:a16="http://schemas.microsoft.com/office/drawing/2014/main" id="{440BEC1E-92F3-6203-F29E-5AD0473B97D8}"/>
              </a:ext>
            </a:extLst>
          </p:cNvPr>
          <p:cNvSpPr>
            <a:spLocks noChangeArrowheads="1"/>
          </p:cNvSpPr>
          <p:nvPr/>
        </p:nvSpPr>
        <p:spPr bwMode="auto">
          <a:xfrm>
            <a:off x="578043" y="1101354"/>
            <a:ext cx="1103591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Scale decentralized aquaculture seed and service delivery in Bangladesh</a:t>
            </a:r>
            <a:endParaRPr kumimoji="0" lang="en-US" altLang="en-US" sz="1800" b="0" i="0" u="none" strike="noStrike" cap="none" normalizeH="0" baseline="0">
              <a:ln>
                <a:noFill/>
              </a:ln>
              <a:solidFill>
                <a:schemeClr val="accent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Reach </a:t>
            </a:r>
            <a:r>
              <a:rPr kumimoji="0" lang="en-US" altLang="en-US" sz="1800" i="0" u="none" strike="noStrike" cap="none" normalizeH="0" baseline="0">
                <a:ln>
                  <a:noFill/>
                </a:ln>
                <a:solidFill>
                  <a:schemeClr val="tx1"/>
                </a:solidFill>
                <a:effectLst/>
                <a:latin typeface="+mj-lt"/>
              </a:rPr>
              <a:t>~97,500 smallholder farmers by 2026 </a:t>
            </a:r>
            <a:r>
              <a:rPr kumimoji="0" lang="en-US" altLang="en-US" sz="1800" b="0" i="0" u="none" strike="noStrike" cap="none" normalizeH="0" baseline="0">
                <a:ln>
                  <a:noFill/>
                </a:ln>
                <a:solidFill>
                  <a:schemeClr val="tx1"/>
                </a:solidFill>
                <a:effectLst/>
                <a:latin typeface="+mj-lt"/>
              </a:rPr>
              <a:t>through </a:t>
            </a:r>
            <a:r>
              <a:rPr kumimoji="0" lang="en-US" altLang="en-US" sz="1800" i="0" u="none" strike="noStrike" cap="none" normalizeH="0" baseline="0">
                <a:ln>
                  <a:noFill/>
                </a:ln>
                <a:solidFill>
                  <a:schemeClr val="tx1"/>
                </a:solidFill>
                <a:effectLst/>
                <a:latin typeface="+mj-lt"/>
              </a:rPr>
              <a:t>SeedCompact-led delivery</a:t>
            </a:r>
            <a:r>
              <a:rPr kumimoji="0" lang="en-US" altLang="en-US" sz="1800" b="0" i="0" u="none" strike="noStrike" cap="none" normalizeH="0" baseline="0">
                <a:ln>
                  <a:noFill/>
                </a:ln>
                <a:solidFill>
                  <a:schemeClr val="tx1"/>
                </a:solidFill>
                <a:effectLst/>
                <a:latin typeface="+mj-lt"/>
              </a:rPr>
              <a:t>, working with </a:t>
            </a:r>
            <a:r>
              <a:rPr kumimoji="0" lang="en-US" altLang="en-US" sz="1800" i="0" u="none" strike="noStrike" cap="none" normalizeH="0" baseline="0">
                <a:ln>
                  <a:noFill/>
                </a:ln>
                <a:solidFill>
                  <a:schemeClr val="tx1"/>
                </a:solidFill>
                <a:effectLst/>
                <a:latin typeface="+mj-lt"/>
              </a:rPr>
              <a:t>licensed hatcheries </a:t>
            </a:r>
            <a:r>
              <a:rPr kumimoji="0" lang="en-US" altLang="en-US" sz="1800" b="0" i="0" u="none" strike="noStrike" cap="none" normalizeH="0" baseline="0">
                <a:ln>
                  <a:noFill/>
                </a:ln>
                <a:solidFill>
                  <a:schemeClr val="tx1"/>
                </a:solidFill>
                <a:effectLst/>
                <a:latin typeface="+mj-lt"/>
              </a:rPr>
              <a:t>and associated nurseries and local service providers.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t>By 2028, reach at least 300,000 farmers, while embedding practical quality assurance SOPs and traceability practices within delivery operations to strengthen quality assurance and seed system sustainability.</a:t>
            </a:r>
          </a:p>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Targeted behavior change and system improvements</a:t>
            </a:r>
            <a:endParaRPr kumimoji="0" lang="en-US" altLang="en-US" sz="1800" b="0" i="0" u="none" strike="noStrike" cap="none" normalizeH="0" baseline="0">
              <a:ln>
                <a:noFill/>
              </a:ln>
              <a:solidFill>
                <a:schemeClr val="accent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Improve farmer access to </a:t>
            </a:r>
            <a:r>
              <a:rPr kumimoji="0" lang="en-US" altLang="en-US" sz="1800" i="0" u="none" strike="noStrike" cap="none" normalizeH="0" baseline="0">
                <a:ln>
                  <a:noFill/>
                </a:ln>
                <a:solidFill>
                  <a:schemeClr val="tx1"/>
                </a:solidFill>
                <a:effectLst/>
                <a:latin typeface="+mj-lt"/>
              </a:rPr>
              <a:t>quality seed and advisory services, </a:t>
            </a:r>
            <a:r>
              <a:rPr kumimoji="0" lang="en-US" altLang="en-US" sz="1800" b="0" i="0" u="none" strike="noStrike" cap="none" normalizeH="0" baseline="0">
                <a:ln>
                  <a:noFill/>
                </a:ln>
                <a:solidFill>
                  <a:schemeClr val="tx1"/>
                </a:solidFill>
                <a:effectLst/>
                <a:latin typeface="+mj-lt"/>
              </a:rPr>
              <a:t>reducing uncertainty and production risk.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Provide </a:t>
            </a:r>
            <a:r>
              <a:rPr kumimoji="0" lang="en-US" altLang="en-US" sz="1800" i="0" u="none" strike="noStrike" cap="none" normalizeH="0" baseline="0">
                <a:ln>
                  <a:noFill/>
                </a:ln>
                <a:solidFill>
                  <a:schemeClr val="tx1"/>
                </a:solidFill>
                <a:effectLst/>
                <a:latin typeface="+mj-lt"/>
              </a:rPr>
              <a:t>capacity development and good-practice training</a:t>
            </a:r>
            <a:r>
              <a:rPr kumimoji="0" lang="en-US" altLang="en-US" sz="1800" b="0" i="0" u="none" strike="noStrike" cap="none" normalizeH="0" baseline="0">
                <a:ln>
                  <a:noFill/>
                </a:ln>
                <a:solidFill>
                  <a:schemeClr val="tx1"/>
                </a:solidFill>
                <a:effectLst/>
                <a:latin typeface="+mj-lt"/>
              </a:rPr>
              <a:t> for hatcheries and nurseries to improve consistency and reliability of seed supply.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What the S4I investment enables</a:t>
            </a:r>
            <a:endParaRPr kumimoji="0" lang="en-US" altLang="en-US" sz="1800" b="0" i="0" u="none" strike="noStrike" cap="none" normalizeH="0" baseline="0">
              <a:ln>
                <a:noFill/>
              </a:ln>
              <a:solidFill>
                <a:schemeClr val="accent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Demonstrates that </a:t>
            </a:r>
            <a:r>
              <a:rPr kumimoji="0" lang="en-US" altLang="en-US" sz="1800" i="0" u="none" strike="noStrike" cap="none" normalizeH="0" baseline="0">
                <a:ln>
                  <a:noFill/>
                </a:ln>
                <a:solidFill>
                  <a:schemeClr val="tx1"/>
                </a:solidFill>
                <a:effectLst/>
                <a:latin typeface="+mj-lt"/>
              </a:rPr>
              <a:t>bundled delivery (seed + advisory + monitored delivery) </a:t>
            </a:r>
            <a:r>
              <a:rPr kumimoji="0" lang="en-US" altLang="en-US" sz="1800" b="0" i="0" u="none" strike="noStrike" cap="none" normalizeH="0" baseline="0">
                <a:ln>
                  <a:noFill/>
                </a:ln>
                <a:solidFill>
                  <a:schemeClr val="tx1"/>
                </a:solidFill>
                <a:effectLst/>
                <a:latin typeface="+mj-lt"/>
              </a:rPr>
              <a:t>can scale efficiently within Bangladesh’s aquaculture system.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Builds confidence among public and private actors to adopt decentralized delivery approaches based on operational evidence.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accent1"/>
                </a:solidFill>
                <a:effectLst/>
                <a:latin typeface="+mj-lt"/>
              </a:rPr>
              <a:t>Key scaling challenges addressed</a:t>
            </a:r>
            <a:endParaRPr kumimoji="0" lang="en-US" altLang="en-US" sz="1800" b="0" i="0" u="none" strike="noStrike" cap="none" normalizeH="0" baseline="0">
              <a:ln>
                <a:noFill/>
              </a:ln>
              <a:solidFill>
                <a:schemeClr val="accent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Quality variability and weak feedback loops across the seed system.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a:ln>
                  <a:noFill/>
                </a:ln>
                <a:solidFill>
                  <a:schemeClr val="tx1"/>
                </a:solidFill>
                <a:effectLst/>
                <a:latin typeface="+mj-lt"/>
              </a:rPr>
              <a:t>Limited ability to link seed source, service delivery, and farm outcomes.</a:t>
            </a:r>
          </a:p>
        </p:txBody>
      </p:sp>
    </p:spTree>
    <p:extLst>
      <p:ext uri="{BB962C8B-B14F-4D97-AF65-F5344CB8AC3E}">
        <p14:creationId xmlns:p14="http://schemas.microsoft.com/office/powerpoint/2010/main" val="1533404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4ED1E-3476-7084-9912-14C59F40F95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871B4FB-7805-C2B2-5914-0B8548F70658}"/>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white"/>
                </a:solidFill>
                <a:effectLst/>
                <a:uLnTx/>
                <a:uFillTx/>
                <a:latin typeface="Aptos Display" panose="02110004020202020204"/>
                <a:ea typeface="+mj-ea"/>
                <a:cs typeface="+mj-cs"/>
              </a:rPr>
              <a:t>Key demand partners</a:t>
            </a:r>
          </a:p>
        </p:txBody>
      </p:sp>
      <p:sp>
        <p:nvSpPr>
          <p:cNvPr id="5" name="TextBox 4">
            <a:extLst>
              <a:ext uri="{FF2B5EF4-FFF2-40B4-BE49-F238E27FC236}">
                <a16:creationId xmlns:a16="http://schemas.microsoft.com/office/drawing/2014/main" id="{0E5B0FD7-2DDD-8AFB-623A-3C18E1FBEA07}"/>
              </a:ext>
            </a:extLst>
          </p:cNvPr>
          <p:cNvSpPr txBox="1"/>
          <p:nvPr/>
        </p:nvSpPr>
        <p:spPr>
          <a:xfrm>
            <a:off x="814217" y="1775820"/>
            <a:ext cx="4887689" cy="3693319"/>
          </a:xfrm>
          <a:prstGeom prst="rect">
            <a:avLst/>
          </a:prstGeom>
          <a:noFill/>
        </p:spPr>
        <p:txBody>
          <a:bodyPr wrap="square">
            <a:spAutoFit/>
          </a:bodyPr>
          <a:lstStyle/>
          <a:p>
            <a:pPr>
              <a:buNone/>
            </a:pPr>
            <a:r>
              <a:rPr lang="en-US" b="1">
                <a:solidFill>
                  <a:schemeClr val="accent1"/>
                </a:solidFill>
              </a:rPr>
              <a:t>Department of Fisheries (DoF)</a:t>
            </a:r>
            <a:br>
              <a:rPr lang="en-US">
                <a:solidFill>
                  <a:schemeClr val="accent1"/>
                </a:solidFill>
              </a:rPr>
            </a:br>
            <a:r>
              <a:rPr lang="en-US"/>
              <a:t>Creates institutional “pull” for quality seed, inspection/extension, and uptake of quality assurance (QA) within national procedures.</a:t>
            </a:r>
          </a:p>
          <a:p>
            <a:pPr>
              <a:buNone/>
            </a:pPr>
            <a:endParaRPr lang="en-US" b="1"/>
          </a:p>
          <a:p>
            <a:pPr>
              <a:buNone/>
            </a:pPr>
            <a:r>
              <a:rPr lang="en-US" b="1">
                <a:solidFill>
                  <a:schemeClr val="accent1"/>
                </a:solidFill>
              </a:rPr>
              <a:t>Bangladesh Fisheries Research Institute (BFRI)</a:t>
            </a:r>
            <a:br>
              <a:rPr lang="en-US">
                <a:solidFill>
                  <a:schemeClr val="accent1"/>
                </a:solidFill>
              </a:rPr>
            </a:br>
            <a:r>
              <a:rPr lang="en-US"/>
              <a:t>Provides national technical legitimacy—sets broodstock, performance, and biosecurity standards and supports piloting with hatcheries.</a:t>
            </a:r>
          </a:p>
          <a:p>
            <a:pPr>
              <a:buNone/>
            </a:pPr>
            <a:endParaRPr lang="en-US" b="1"/>
          </a:p>
          <a:p>
            <a:pPr>
              <a:buNone/>
            </a:pPr>
            <a:r>
              <a:rPr lang="en-US"/>
              <a:t>.</a:t>
            </a:r>
          </a:p>
        </p:txBody>
      </p:sp>
      <p:sp>
        <p:nvSpPr>
          <p:cNvPr id="9" name="TextBox 8">
            <a:extLst>
              <a:ext uri="{FF2B5EF4-FFF2-40B4-BE49-F238E27FC236}">
                <a16:creationId xmlns:a16="http://schemas.microsoft.com/office/drawing/2014/main" id="{7BB72269-9736-DA6C-4B32-7C86990C6CFD}"/>
              </a:ext>
            </a:extLst>
          </p:cNvPr>
          <p:cNvSpPr txBox="1"/>
          <p:nvPr/>
        </p:nvSpPr>
        <p:spPr>
          <a:xfrm>
            <a:off x="6195225" y="1775820"/>
            <a:ext cx="5137071" cy="3139321"/>
          </a:xfrm>
          <a:prstGeom prst="rect">
            <a:avLst/>
          </a:prstGeom>
          <a:noFill/>
        </p:spPr>
        <p:txBody>
          <a:bodyPr wrap="square">
            <a:spAutoFit/>
          </a:bodyPr>
          <a:lstStyle/>
          <a:p>
            <a:pPr>
              <a:buNone/>
            </a:pPr>
            <a:r>
              <a:rPr lang="en-US" b="1">
                <a:solidFill>
                  <a:schemeClr val="accent1"/>
                </a:solidFill>
              </a:rPr>
              <a:t>PKSF + microfinance/NGO networks</a:t>
            </a:r>
            <a:br>
              <a:rPr lang="en-US"/>
            </a:br>
            <a:r>
              <a:rPr lang="en-US"/>
              <a:t>Aggregates demand from large pond-owning beneficiary networks; can connect beneficiaries to trusted hatchery–nursery supply and enable finance pilots</a:t>
            </a:r>
          </a:p>
          <a:p>
            <a:pPr>
              <a:buNone/>
            </a:pPr>
            <a:endParaRPr lang="en-US" b="1">
              <a:solidFill>
                <a:schemeClr val="accent1"/>
              </a:solidFill>
            </a:endParaRPr>
          </a:p>
          <a:p>
            <a:pPr>
              <a:buNone/>
            </a:pPr>
            <a:r>
              <a:rPr lang="en-US" b="1">
                <a:solidFill>
                  <a:schemeClr val="accent1"/>
                </a:solidFill>
              </a:rPr>
              <a:t>Private seed &amp; input enterprises (e.g., EON dealer network)</a:t>
            </a:r>
            <a:br>
              <a:rPr lang="en-US"/>
            </a:br>
            <a:r>
              <a:rPr lang="en-US"/>
              <a:t>Market pull for consistent supply of improved tilapia and safe inputs; strengthens incentives for QA and trusted seed.</a:t>
            </a:r>
          </a:p>
        </p:txBody>
      </p:sp>
      <p:sp>
        <p:nvSpPr>
          <p:cNvPr id="11" name="TextBox 10">
            <a:extLst>
              <a:ext uri="{FF2B5EF4-FFF2-40B4-BE49-F238E27FC236}">
                <a16:creationId xmlns:a16="http://schemas.microsoft.com/office/drawing/2014/main" id="{4C46F8AF-5798-EA2C-4778-0B3F23685BCF}"/>
              </a:ext>
            </a:extLst>
          </p:cNvPr>
          <p:cNvSpPr txBox="1"/>
          <p:nvPr/>
        </p:nvSpPr>
        <p:spPr>
          <a:xfrm>
            <a:off x="814217" y="5217511"/>
            <a:ext cx="1101139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accent5">
                    <a:lumMod val="75000"/>
                  </a:schemeClr>
                </a:solidFill>
                <a:effectLst/>
                <a:uLnTx/>
                <a:uFillTx/>
                <a:latin typeface="Aptos" panose="02110004020202020204"/>
                <a:ea typeface="+mn-ea"/>
                <a:cs typeface="+mn-cs"/>
              </a:rPr>
              <a:t>Cross-program / cross–Solution Track alignment</a:t>
            </a:r>
            <a:b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br>
            <a:r>
              <a:rPr kumimoji="0" lang="en-US" sz="1800" i="0" u="none" strike="noStrike" kern="1200" cap="none" spc="0" normalizeH="0" baseline="0" noProof="0">
                <a:ln>
                  <a:noFill/>
                </a:ln>
                <a:solidFill>
                  <a:prstClr val="black"/>
                </a:solidFill>
                <a:effectLst/>
                <a:uLnTx/>
                <a:uFillTx/>
                <a:latin typeface="Aptos" panose="02110004020202020204"/>
                <a:ea typeface="+mn-ea"/>
                <a:cs typeface="+mn-cs"/>
              </a:rPr>
              <a:t>SAAF</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provides the improved genetics pipeline; alignment with </a:t>
            </a:r>
            <a:r>
              <a:rPr kumimoji="0" lang="en-US" sz="1800" b="1" i="0" u="none" strike="noStrike" kern="1200" cap="none" spc="0" normalizeH="0" baseline="0" noProof="0">
                <a:ln>
                  <a:noFill/>
                </a:ln>
                <a:solidFill>
                  <a:prstClr val="black"/>
                </a:solidFill>
                <a:effectLst/>
                <a:uLnTx/>
                <a:uFillTx/>
                <a:latin typeface="Aptos" panose="02110004020202020204"/>
                <a:ea typeface="+mn-ea"/>
                <a:cs typeface="+mn-cs"/>
              </a:rPr>
              <a:t>Agvisely climate advisories</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strengthens risk-informed decisions.</a:t>
            </a:r>
          </a:p>
        </p:txBody>
      </p:sp>
      <p:sp>
        <p:nvSpPr>
          <p:cNvPr id="13" name="TextBox 12">
            <a:extLst>
              <a:ext uri="{FF2B5EF4-FFF2-40B4-BE49-F238E27FC236}">
                <a16:creationId xmlns:a16="http://schemas.microsoft.com/office/drawing/2014/main" id="{A3B7D7C7-A77C-97A4-5CBC-3AC09F69F982}"/>
              </a:ext>
            </a:extLst>
          </p:cNvPr>
          <p:cNvSpPr txBox="1"/>
          <p:nvPr/>
        </p:nvSpPr>
        <p:spPr>
          <a:xfrm>
            <a:off x="814217" y="1176536"/>
            <a:ext cx="765232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black"/>
                </a:solidFill>
                <a:effectLst/>
                <a:uLnTx/>
                <a:uFillTx/>
                <a:latin typeface="Aptos" panose="02110004020202020204"/>
                <a:ea typeface="+mn-ea"/>
                <a:cs typeface="+mn-cs"/>
              </a:rPr>
              <a:t>Demand partners</a:t>
            </a:r>
          </a:p>
        </p:txBody>
      </p:sp>
    </p:spTree>
    <p:extLst>
      <p:ext uri="{BB962C8B-B14F-4D97-AF65-F5344CB8AC3E}">
        <p14:creationId xmlns:p14="http://schemas.microsoft.com/office/powerpoint/2010/main" val="3076535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E6B6A-5C79-2FF4-1696-99F7C393086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94BDB03-F00B-4395-8FE8-B81956A412BC}"/>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white"/>
                </a:solidFill>
                <a:effectLst/>
                <a:uLnTx/>
                <a:uFillTx/>
                <a:latin typeface="Aptos Display" panose="02110004020202020204"/>
                <a:ea typeface="+mj-ea"/>
                <a:cs typeface="+mj-cs"/>
              </a:rPr>
              <a:t>Key scaling partners</a:t>
            </a:r>
          </a:p>
        </p:txBody>
      </p:sp>
      <p:sp>
        <p:nvSpPr>
          <p:cNvPr id="14" name="TextBox 13">
            <a:extLst>
              <a:ext uri="{FF2B5EF4-FFF2-40B4-BE49-F238E27FC236}">
                <a16:creationId xmlns:a16="http://schemas.microsoft.com/office/drawing/2014/main" id="{74F6924B-4BFC-180B-FDD0-9E9E6797626C}"/>
              </a:ext>
            </a:extLst>
          </p:cNvPr>
          <p:cNvSpPr txBox="1"/>
          <p:nvPr/>
        </p:nvSpPr>
        <p:spPr>
          <a:xfrm>
            <a:off x="356060" y="1041483"/>
            <a:ext cx="11340639" cy="5601533"/>
          </a:xfrm>
          <a:prstGeom prst="rect">
            <a:avLst/>
          </a:prstGeom>
          <a:noFill/>
        </p:spPr>
        <p:txBody>
          <a:bodyPr wrap="square">
            <a:spAutoFit/>
          </a:bodyPr>
          <a:lstStyle/>
          <a:p>
            <a:pPr>
              <a:spcBef>
                <a:spcPts val="600"/>
              </a:spcBef>
              <a:spcAft>
                <a:spcPts val="600"/>
              </a:spcAft>
            </a:pPr>
            <a:r>
              <a:rPr lang="en-US" sz="2400" b="1">
                <a:solidFill>
                  <a:schemeClr val="accent1"/>
                </a:solidFill>
              </a:rPr>
              <a:t>Scaling partners</a:t>
            </a:r>
          </a:p>
          <a:p>
            <a:pPr marL="285750" indent="-285750">
              <a:spcBef>
                <a:spcPts val="600"/>
              </a:spcBef>
              <a:spcAft>
                <a:spcPts val="600"/>
              </a:spcAft>
              <a:buFont typeface="Arial" panose="020B0604020202020204" pitchFamily="34" charset="0"/>
              <a:buChar char="•"/>
            </a:pPr>
            <a:r>
              <a:rPr lang="en-US" b="1"/>
              <a:t>Licensed hatcheries and SeedCompact nurseries/service providers:</a:t>
            </a:r>
            <a:r>
              <a:rPr lang="en-US"/>
              <a:t> supply and deliver quality-assured improved seed with advisory and monitored delivery, ensuring genetic gains are realized at farm level.</a:t>
            </a:r>
          </a:p>
          <a:p>
            <a:pPr marL="285750" indent="-285750">
              <a:spcBef>
                <a:spcPts val="600"/>
              </a:spcBef>
              <a:spcAft>
                <a:spcPts val="600"/>
              </a:spcAft>
              <a:buFont typeface="Arial" panose="020B0604020202020204" pitchFamily="34" charset="0"/>
              <a:buChar char="•"/>
            </a:pPr>
            <a:r>
              <a:rPr lang="en-US" b="1"/>
              <a:t>PKSF-linked NGOs and partner organizations: </a:t>
            </a:r>
            <a:r>
              <a:rPr lang="en-US"/>
              <a:t>Support farmer aggregation and access to working capital for service providers and producers, without substituting commercial seed production or delivery roles.</a:t>
            </a:r>
          </a:p>
          <a:p>
            <a:pPr marL="285750" indent="-285750">
              <a:spcBef>
                <a:spcPts val="600"/>
              </a:spcBef>
              <a:spcAft>
                <a:spcPts val="600"/>
              </a:spcAft>
              <a:buFont typeface="Arial" panose="020B0604020202020204" pitchFamily="34" charset="0"/>
              <a:buChar char="•"/>
            </a:pPr>
            <a:r>
              <a:rPr lang="en-US" b="1" err="1"/>
              <a:t>DoF</a:t>
            </a:r>
            <a:r>
              <a:rPr lang="en-US" b="1"/>
              <a:t> and WorldFish delivery platforms (selected projects): </a:t>
            </a:r>
            <a:r>
              <a:rPr lang="en-US"/>
              <a:t>Integrate SeedCompact approaches into ongoing programs, build frontline capacity, and link new beneficiaries to quality seed, advisory, and service systems.</a:t>
            </a:r>
          </a:p>
          <a:p>
            <a:pPr>
              <a:spcBef>
                <a:spcPts val="600"/>
              </a:spcBef>
              <a:spcAft>
                <a:spcPts val="600"/>
              </a:spcAft>
              <a:buNone/>
            </a:pPr>
            <a:r>
              <a:rPr lang="en-US" sz="2400" b="1">
                <a:solidFill>
                  <a:schemeClr val="accent1"/>
                </a:solidFill>
              </a:rPr>
              <a:t>Why working with these partners?</a:t>
            </a:r>
          </a:p>
          <a:p>
            <a:pPr>
              <a:spcBef>
                <a:spcPts val="600"/>
              </a:spcBef>
              <a:spcAft>
                <a:spcPts val="600"/>
              </a:spcAft>
              <a:buNone/>
            </a:pPr>
            <a:r>
              <a:rPr lang="en-US"/>
              <a:t>They already operate at scale within aquaculture seed and service markets, with established infrastructure, commercial incentives, and trusted relationships that allow delivery systems to expand efficiently without creating parallel structures.</a:t>
            </a:r>
          </a:p>
          <a:p>
            <a:pPr>
              <a:spcBef>
                <a:spcPts val="600"/>
              </a:spcBef>
              <a:spcAft>
                <a:spcPts val="600"/>
              </a:spcAft>
              <a:buNone/>
            </a:pPr>
            <a:r>
              <a:rPr lang="en-US" sz="2400" b="1">
                <a:solidFill>
                  <a:schemeClr val="accent1"/>
                </a:solidFill>
              </a:rPr>
              <a:t>How partners will be motivated</a:t>
            </a:r>
          </a:p>
          <a:p>
            <a:pPr>
              <a:spcBef>
                <a:spcPts val="600"/>
              </a:spcBef>
              <a:spcAft>
                <a:spcPts val="600"/>
              </a:spcAft>
              <a:buNone/>
            </a:pPr>
            <a:r>
              <a:rPr lang="en-US"/>
              <a:t>Access to improved genetics, targeted capacity building, and practical digital tools (e.g., </a:t>
            </a:r>
            <a:r>
              <a:rPr lang="en-US" err="1"/>
              <a:t>OneFish</a:t>
            </a:r>
            <a:r>
              <a:rPr lang="en-US"/>
              <a:t>), combined with facilitated working capital and demand aggregation through PKSF-linked partners, creates clear incentives to adopt good practices, reduce operational risk, and sustainably scale quality seed and advisory delivery.</a:t>
            </a:r>
          </a:p>
        </p:txBody>
      </p:sp>
    </p:spTree>
    <p:extLst>
      <p:ext uri="{BB962C8B-B14F-4D97-AF65-F5344CB8AC3E}">
        <p14:creationId xmlns:p14="http://schemas.microsoft.com/office/powerpoint/2010/main" val="35663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C7F3-DD5C-3AF2-228C-30B214D21F1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450DB43-0111-488C-0925-7C1712F84ED9}"/>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Display" panose="02110004020202020204"/>
                <a:ea typeface="+mj-ea"/>
                <a:cs typeface="+mj-cs"/>
              </a:rPr>
              <a:t>Scaling Track Overview: Clarify the scaling pathway</a:t>
            </a:r>
            <a:endParaRPr kumimoji="0" lang="en-US" sz="4400" b="0" i="0" u="none" strike="noStrike" kern="1200" cap="none" spc="0" normalizeH="0" baseline="0" noProof="0">
              <a:ln>
                <a:noFill/>
              </a:ln>
              <a:solidFill>
                <a:prstClr val="white"/>
              </a:solidFill>
              <a:effectLst/>
              <a:uLnTx/>
              <a:uFillTx/>
              <a:latin typeface="Aptos Display" panose="02110004020202020204"/>
              <a:ea typeface="+mj-ea"/>
              <a:cs typeface="+mj-cs"/>
            </a:endParaRPr>
          </a:p>
        </p:txBody>
      </p:sp>
      <p:sp>
        <p:nvSpPr>
          <p:cNvPr id="3" name="TextBox 2">
            <a:extLst>
              <a:ext uri="{FF2B5EF4-FFF2-40B4-BE49-F238E27FC236}">
                <a16:creationId xmlns:a16="http://schemas.microsoft.com/office/drawing/2014/main" id="{B5E20783-20FE-4D87-6536-11FBA0816FAE}"/>
              </a:ext>
            </a:extLst>
          </p:cNvPr>
          <p:cNvSpPr txBox="1"/>
          <p:nvPr/>
        </p:nvSpPr>
        <p:spPr>
          <a:xfrm>
            <a:off x="566737" y="1097846"/>
            <a:ext cx="11058526" cy="5262979"/>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sz="2000" b="1">
                <a:solidFill>
                  <a:schemeClr val="accent1"/>
                </a:solidFill>
              </a:rPr>
              <a:t>Where scaling happens</a:t>
            </a:r>
            <a:br>
              <a:rPr lang="en-US"/>
            </a:br>
            <a:r>
              <a:rPr lang="en-US"/>
              <a:t>Bangladesh is the primary scaling context, with targeted South–South learning to Kenya based on Bangladesh’s more advanced aquaculture seed and service delivery system.</a:t>
            </a:r>
          </a:p>
          <a:p>
            <a:pPr marL="285750" indent="-285750">
              <a:spcBef>
                <a:spcPts val="600"/>
              </a:spcBef>
              <a:spcAft>
                <a:spcPts val="600"/>
              </a:spcAft>
              <a:buFont typeface="Arial" panose="020B0604020202020204" pitchFamily="34" charset="0"/>
              <a:buChar char="•"/>
            </a:pPr>
            <a:r>
              <a:rPr lang="en-US" sz="2000" b="1">
                <a:solidFill>
                  <a:schemeClr val="accent1"/>
                </a:solidFill>
              </a:rPr>
              <a:t>How the pathway reaches the last mile</a:t>
            </a:r>
            <a:br>
              <a:rPr lang="en-US"/>
            </a:br>
            <a:r>
              <a:rPr lang="en-US"/>
              <a:t>Decentralized delivery through </a:t>
            </a:r>
            <a:r>
              <a:rPr lang="en-US" b="1" err="1"/>
              <a:t>SeedCompacts</a:t>
            </a:r>
            <a:r>
              <a:rPr lang="en-US"/>
              <a:t> that link licensed hatcheries, nurseries, and local service providers into accountable networks delivering quality seed, advisory support, and monitored distribution.</a:t>
            </a:r>
          </a:p>
          <a:p>
            <a:pPr marL="285750" indent="-285750">
              <a:spcBef>
                <a:spcPts val="600"/>
              </a:spcBef>
              <a:spcAft>
                <a:spcPts val="600"/>
              </a:spcAft>
              <a:buFont typeface="Arial" panose="020B0604020202020204" pitchFamily="34" charset="0"/>
              <a:buChar char="•"/>
            </a:pPr>
            <a:r>
              <a:rPr lang="en-US" sz="2000" b="1">
                <a:solidFill>
                  <a:schemeClr val="accent1"/>
                </a:solidFill>
              </a:rPr>
              <a:t>Who supports and sustains the pathway</a:t>
            </a:r>
            <a:br>
              <a:rPr lang="en-US"/>
            </a:br>
            <a:r>
              <a:rPr lang="en-US"/>
              <a:t>WorldFish and </a:t>
            </a:r>
            <a:r>
              <a:rPr lang="en-US" err="1"/>
              <a:t>DoF</a:t>
            </a:r>
            <a:r>
              <a:rPr lang="en-US"/>
              <a:t> projects embed SeedCompact delivery within ongoing programs to expand reach, build frontline capacity, and generate operational evidence. PKSF-linked partners facilitate access to working capital tied to good practices.</a:t>
            </a:r>
          </a:p>
          <a:p>
            <a:pPr marL="285750" indent="-285750">
              <a:spcBef>
                <a:spcPts val="600"/>
              </a:spcBef>
              <a:spcAft>
                <a:spcPts val="600"/>
              </a:spcAft>
              <a:buFont typeface="Arial" panose="020B0604020202020204" pitchFamily="34" charset="0"/>
              <a:buChar char="•"/>
            </a:pPr>
            <a:r>
              <a:rPr lang="en-US" sz="2000" b="1">
                <a:solidFill>
                  <a:schemeClr val="accent1"/>
                </a:solidFill>
              </a:rPr>
              <a:t>What enables responsible scale</a:t>
            </a:r>
            <a:br>
              <a:rPr lang="en-US"/>
            </a:br>
            <a:r>
              <a:rPr lang="en-US"/>
              <a:t>Improved genetics (e.g., G3 rohu evidence), capacity development, and digital enablers (</a:t>
            </a:r>
            <a:r>
              <a:rPr lang="en-US" b="1" err="1"/>
              <a:t>OneFish</a:t>
            </a:r>
            <a:r>
              <a:rPr lang="en-US"/>
              <a:t>, aligned advisories) strengthen decision-making, quality assurance, and learning.</a:t>
            </a:r>
          </a:p>
          <a:p>
            <a:pPr marL="285750" indent="-285750">
              <a:spcBef>
                <a:spcPts val="600"/>
              </a:spcBef>
              <a:spcAft>
                <a:spcPts val="600"/>
              </a:spcAft>
              <a:buFont typeface="Arial" panose="020B0604020202020204" pitchFamily="34" charset="0"/>
              <a:buChar char="•"/>
            </a:pPr>
            <a:r>
              <a:rPr lang="en-US" sz="2000" b="1">
                <a:solidFill>
                  <a:schemeClr val="accent1"/>
                </a:solidFill>
              </a:rPr>
              <a:t>System alignment</a:t>
            </a:r>
            <a:br>
              <a:rPr lang="en-US"/>
            </a:br>
            <a:r>
              <a:rPr lang="en-US" err="1"/>
              <a:t>Alignment</a:t>
            </a:r>
            <a:r>
              <a:rPr lang="en-US"/>
              <a:t> with </a:t>
            </a:r>
            <a:r>
              <a:rPr lang="en-US" b="1"/>
              <a:t>SAAF</a:t>
            </a:r>
            <a:r>
              <a:rPr lang="en-US"/>
              <a:t> (genetics development) and S4I-supported delivery and learning supports institutional uptake and long-term sustainability.</a:t>
            </a:r>
          </a:p>
        </p:txBody>
      </p:sp>
    </p:spTree>
    <p:extLst>
      <p:ext uri="{BB962C8B-B14F-4D97-AF65-F5344CB8AC3E}">
        <p14:creationId xmlns:p14="http://schemas.microsoft.com/office/powerpoint/2010/main" val="842245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C11D6-72B0-A1F4-A347-CB327613C75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909A70B-3D5D-1825-E764-53217F990890}"/>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b="1">
                <a:solidFill>
                  <a:schemeClr val="bg1"/>
                </a:solidFill>
              </a:rPr>
              <a:t>Scaling Pathway Rationale: Theory of Scaling and Action</a:t>
            </a:r>
            <a:endParaRPr kumimoji="0" lang="en-US" sz="2400" b="1" i="0" u="none" strike="noStrike" kern="1200" cap="none" spc="0" normalizeH="0" baseline="0" noProof="0">
              <a:ln>
                <a:noFill/>
              </a:ln>
              <a:solidFill>
                <a:schemeClr val="bg1"/>
              </a:solidFill>
              <a:effectLst/>
              <a:uLnTx/>
              <a:uFillTx/>
              <a:latin typeface="Aptos Display" panose="02110004020202020204"/>
              <a:ea typeface="+mj-ea"/>
              <a:cs typeface="+mj-cs"/>
            </a:endParaRPr>
          </a:p>
        </p:txBody>
      </p:sp>
      <p:sp>
        <p:nvSpPr>
          <p:cNvPr id="5" name="TextBox 4">
            <a:extLst>
              <a:ext uri="{FF2B5EF4-FFF2-40B4-BE49-F238E27FC236}">
                <a16:creationId xmlns:a16="http://schemas.microsoft.com/office/drawing/2014/main" id="{D8A76CE4-2FDC-6399-1929-1C4212D387BC}"/>
              </a:ext>
            </a:extLst>
          </p:cNvPr>
          <p:cNvSpPr txBox="1"/>
          <p:nvPr/>
        </p:nvSpPr>
        <p:spPr>
          <a:xfrm>
            <a:off x="609600" y="1219617"/>
            <a:ext cx="10896600" cy="3693319"/>
          </a:xfrm>
          <a:prstGeom prst="rect">
            <a:avLst/>
          </a:prstGeom>
          <a:noFill/>
        </p:spPr>
        <p:txBody>
          <a:bodyPr wrap="square">
            <a:spAutoFit/>
          </a:bodyPr>
          <a:lstStyle/>
          <a:p>
            <a:pPr marL="285750" indent="-285750">
              <a:spcBef>
                <a:spcPts val="1200"/>
              </a:spcBef>
              <a:spcAft>
                <a:spcPts val="600"/>
              </a:spcAft>
              <a:buFont typeface="Arial" panose="020B0604020202020204" pitchFamily="34" charset="0"/>
              <a:buChar char="•"/>
            </a:pPr>
            <a:r>
              <a:rPr lang="en-US" sz="2000" b="1">
                <a:solidFill>
                  <a:schemeClr val="accent1"/>
                </a:solidFill>
              </a:rPr>
              <a:t>Theory of change:</a:t>
            </a:r>
            <a:br>
              <a:rPr lang="en-US"/>
            </a:br>
            <a:r>
              <a:rPr lang="en-US"/>
              <a:t>Reliable access to improved aquaculture genetics, when delivered through decentralized and accountable service networks, reduces production risk for farmers, improves farm performance, and creates incentives for private actors to sustain quality seed and advisory delivery at scale.</a:t>
            </a:r>
          </a:p>
          <a:p>
            <a:pPr marL="285750" indent="-285750">
              <a:spcBef>
                <a:spcPts val="1200"/>
              </a:spcBef>
              <a:spcAft>
                <a:spcPts val="600"/>
              </a:spcAft>
              <a:buFont typeface="Arial" panose="020B0604020202020204" pitchFamily="34" charset="0"/>
              <a:buChar char="•"/>
            </a:pPr>
            <a:r>
              <a:rPr lang="en-US" sz="2000" b="1">
                <a:solidFill>
                  <a:schemeClr val="accent1"/>
                </a:solidFill>
              </a:rPr>
              <a:t>Theory of action:</a:t>
            </a:r>
            <a:br>
              <a:rPr lang="en-US"/>
            </a:br>
            <a:r>
              <a:rPr lang="en-US"/>
              <a:t>S4I supports the organization of SeedCompact delivery networks, strengthens partner capacity on good practices and monitored delivery, and generates operational evidence that improves delivery quality and enables replication across programs.</a:t>
            </a:r>
          </a:p>
          <a:p>
            <a:pPr marL="285750" indent="-285750">
              <a:spcBef>
                <a:spcPts val="1200"/>
              </a:spcBef>
              <a:spcAft>
                <a:spcPts val="600"/>
              </a:spcAft>
              <a:buFont typeface="Arial" panose="020B0604020202020204" pitchFamily="34" charset="0"/>
              <a:buChar char="•"/>
            </a:pPr>
            <a:r>
              <a:rPr lang="en-US" sz="2000" b="1">
                <a:solidFill>
                  <a:schemeClr val="accent1"/>
                </a:solidFill>
              </a:rPr>
              <a:t>Pathway rationale:</a:t>
            </a:r>
            <a:br>
              <a:rPr lang="en-US"/>
            </a:br>
            <a:r>
              <a:rPr lang="en-US"/>
              <a:t>The pathway builds on documented evidence and operational experience from Bangladesh’s aquaculture system, demonstrating that decentralized delivery can scale when quality and learning are integrated.</a:t>
            </a:r>
          </a:p>
        </p:txBody>
      </p:sp>
    </p:spTree>
    <p:extLst>
      <p:ext uri="{BB962C8B-B14F-4D97-AF65-F5344CB8AC3E}">
        <p14:creationId xmlns:p14="http://schemas.microsoft.com/office/powerpoint/2010/main" val="1204940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8449-CAD8-84D4-D85F-0B69E997702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327B9BE-64FA-E81D-AD9A-EE1FBE447BE0}"/>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Display" panose="02110004020202020204"/>
                <a:ea typeface="+mj-ea"/>
                <a:cs typeface="+mj-cs"/>
              </a:rPr>
              <a:t>Scaling Track Overview: Specify S4I Investments</a:t>
            </a:r>
            <a:endParaRPr kumimoji="0" lang="en-US" sz="4400" b="0" i="0" u="none" strike="noStrike" kern="1200" cap="none" spc="0" normalizeH="0" baseline="0" noProof="0">
              <a:ln>
                <a:noFill/>
              </a:ln>
              <a:solidFill>
                <a:prstClr val="white"/>
              </a:solidFill>
              <a:effectLst/>
              <a:uLnTx/>
              <a:uFillTx/>
              <a:latin typeface="Aptos Display" panose="02110004020202020204"/>
              <a:ea typeface="+mj-ea"/>
              <a:cs typeface="+mj-cs"/>
            </a:endParaRPr>
          </a:p>
        </p:txBody>
      </p:sp>
      <p:sp>
        <p:nvSpPr>
          <p:cNvPr id="5" name="TextBox 4">
            <a:extLst>
              <a:ext uri="{FF2B5EF4-FFF2-40B4-BE49-F238E27FC236}">
                <a16:creationId xmlns:a16="http://schemas.microsoft.com/office/drawing/2014/main" id="{5C2BAB31-116B-E132-E38C-85D773C6ED87}"/>
              </a:ext>
            </a:extLst>
          </p:cNvPr>
          <p:cNvSpPr txBox="1"/>
          <p:nvPr/>
        </p:nvSpPr>
        <p:spPr>
          <a:xfrm>
            <a:off x="637309" y="1150724"/>
            <a:ext cx="10945091" cy="4662815"/>
          </a:xfrm>
          <a:prstGeom prst="rect">
            <a:avLst/>
          </a:prstGeom>
          <a:noFill/>
        </p:spPr>
        <p:txBody>
          <a:bodyPr wrap="square">
            <a:spAutoFit/>
          </a:bodyPr>
          <a:lstStyle/>
          <a:p>
            <a:pPr>
              <a:buNone/>
            </a:pPr>
            <a:r>
              <a:rPr lang="en-US" b="1">
                <a:solidFill>
                  <a:schemeClr val="accent1"/>
                </a:solidFill>
              </a:rPr>
              <a:t>What S4I invests in (2026 focus)</a:t>
            </a:r>
            <a:br>
              <a:rPr lang="en-US"/>
            </a:br>
            <a:r>
              <a:rPr lang="en-US"/>
              <a:t>S4I provides catalytic investments to organize, test, and strengthen decentralized aquaculture seed and service delivery so it can be sustained by private and public actors.</a:t>
            </a:r>
          </a:p>
          <a:p>
            <a:pPr>
              <a:buNone/>
            </a:pPr>
            <a:endParaRPr lang="en-US" b="1">
              <a:solidFill>
                <a:schemeClr val="accent1"/>
              </a:solidFill>
            </a:endParaRPr>
          </a:p>
          <a:p>
            <a:pPr>
              <a:buNone/>
            </a:pPr>
            <a:r>
              <a:rPr lang="en-US" b="1">
                <a:solidFill>
                  <a:schemeClr val="accent1"/>
                </a:solidFill>
              </a:rPr>
              <a:t>Key S4I-funded activities include:</a:t>
            </a:r>
            <a:endParaRPr lang="en-US">
              <a:solidFill>
                <a:schemeClr val="accent1"/>
              </a:solidFill>
            </a:endParaRPr>
          </a:p>
          <a:p>
            <a:pPr marL="285750" indent="-285750">
              <a:buFont typeface="Arial" panose="020B0604020202020204" pitchFamily="34" charset="0"/>
              <a:buChar char="•"/>
            </a:pPr>
            <a:r>
              <a:rPr lang="en-US"/>
              <a:t>Partnership formation and contracting with licensed hatcheries, nurseries/local service providers, and digital partners supporting </a:t>
            </a:r>
            <a:r>
              <a:rPr lang="en-US" err="1"/>
              <a:t>OneFish</a:t>
            </a:r>
            <a:r>
              <a:rPr lang="en-US"/>
              <a:t>.</a:t>
            </a:r>
          </a:p>
          <a:p>
            <a:pPr marL="285750" indent="-285750">
              <a:spcBef>
                <a:spcPts val="600"/>
              </a:spcBef>
              <a:spcAft>
                <a:spcPts val="600"/>
              </a:spcAft>
              <a:buFont typeface="Arial" panose="020B0604020202020204" pitchFamily="34" charset="0"/>
              <a:buChar char="•"/>
            </a:pPr>
            <a:r>
              <a:rPr lang="en-US"/>
              <a:t>Integrated capacity development on good practices, advisory integration, and basic digital readiness.</a:t>
            </a:r>
          </a:p>
          <a:p>
            <a:pPr marL="285750" indent="-285750">
              <a:spcBef>
                <a:spcPts val="600"/>
              </a:spcBef>
              <a:spcAft>
                <a:spcPts val="600"/>
              </a:spcAft>
              <a:buFont typeface="Arial" panose="020B0604020202020204" pitchFamily="34" charset="0"/>
              <a:buChar char="•"/>
            </a:pPr>
            <a:r>
              <a:rPr lang="en-US"/>
              <a:t>Multi-stakeholder consultations with </a:t>
            </a:r>
            <a:r>
              <a:rPr lang="en-US" err="1"/>
              <a:t>DoF</a:t>
            </a:r>
            <a:r>
              <a:rPr lang="en-US"/>
              <a:t>, BFRI, and partners to align on practical certification SOPs, traceability principles, and governance roles.</a:t>
            </a:r>
          </a:p>
          <a:p>
            <a:pPr marL="285750" indent="-285750">
              <a:spcBef>
                <a:spcPts val="600"/>
              </a:spcBef>
              <a:spcAft>
                <a:spcPts val="600"/>
              </a:spcAft>
              <a:buFont typeface="Arial" panose="020B0604020202020204" pitchFamily="34" charset="0"/>
              <a:buChar char="•"/>
            </a:pPr>
            <a:r>
              <a:rPr lang="en-US"/>
              <a:t>Design and piloting of traceability tools embedded within SeedCompact delivery operations.</a:t>
            </a:r>
          </a:p>
          <a:p>
            <a:pPr marL="285750" indent="-285750">
              <a:spcBef>
                <a:spcPts val="600"/>
              </a:spcBef>
              <a:spcAft>
                <a:spcPts val="600"/>
              </a:spcAft>
              <a:buFont typeface="Arial" panose="020B0604020202020204" pitchFamily="34" charset="0"/>
              <a:buChar char="•"/>
            </a:pPr>
            <a:r>
              <a:rPr lang="en-US"/>
              <a:t>Performance monitoring to track delivery quality, seed performance, and service effectiveness for adaptive management.</a:t>
            </a:r>
          </a:p>
          <a:p>
            <a:pPr marL="285750" indent="-285750">
              <a:spcBef>
                <a:spcPts val="600"/>
              </a:spcBef>
              <a:spcAft>
                <a:spcPts val="600"/>
              </a:spcAft>
              <a:buFont typeface="Arial" panose="020B0604020202020204" pitchFamily="34" charset="0"/>
              <a:buChar char="•"/>
            </a:pPr>
            <a:r>
              <a:rPr lang="en-US"/>
              <a:t>Knowledge synthesis and learning events to support institutional uptake and cross-country adaptation.</a:t>
            </a:r>
          </a:p>
        </p:txBody>
      </p:sp>
    </p:spTree>
    <p:extLst>
      <p:ext uri="{BB962C8B-B14F-4D97-AF65-F5344CB8AC3E}">
        <p14:creationId xmlns:p14="http://schemas.microsoft.com/office/powerpoint/2010/main" val="246729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1F996-1C51-B2AC-555B-13D7D8AC5B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4AB4638-73DE-A618-554D-BF8743ED23B9}"/>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000" b="1">
                <a:solidFill>
                  <a:schemeClr val="bg1"/>
                </a:solidFill>
              </a:rPr>
              <a:t>Bilateral Projects, Cross-Program and Cross-Country Alignment</a:t>
            </a:r>
            <a:endParaRPr kumimoji="0" lang="en-US" sz="2000" b="1" i="0" u="none" strike="noStrike" kern="1200" cap="none" spc="0" normalizeH="0" baseline="0" noProof="0">
              <a:ln>
                <a:noFill/>
              </a:ln>
              <a:solidFill>
                <a:schemeClr val="bg1"/>
              </a:solidFill>
              <a:effectLst/>
              <a:uLnTx/>
              <a:uFillTx/>
              <a:latin typeface="Aptos Display" panose="02110004020202020204"/>
              <a:ea typeface="+mj-ea"/>
              <a:cs typeface="+mj-cs"/>
            </a:endParaRPr>
          </a:p>
        </p:txBody>
      </p:sp>
      <p:sp>
        <p:nvSpPr>
          <p:cNvPr id="3" name="TextBox 2">
            <a:extLst>
              <a:ext uri="{FF2B5EF4-FFF2-40B4-BE49-F238E27FC236}">
                <a16:creationId xmlns:a16="http://schemas.microsoft.com/office/drawing/2014/main" id="{C579366B-A053-2D90-FEFC-380CBC68D0B1}"/>
              </a:ext>
            </a:extLst>
          </p:cNvPr>
          <p:cNvSpPr txBox="1"/>
          <p:nvPr/>
        </p:nvSpPr>
        <p:spPr>
          <a:xfrm>
            <a:off x="685799" y="937363"/>
            <a:ext cx="10444019" cy="5632311"/>
          </a:xfrm>
          <a:prstGeom prst="rect">
            <a:avLst/>
          </a:prstGeom>
          <a:noFill/>
        </p:spPr>
        <p:txBody>
          <a:bodyPr wrap="square" lIns="91440" tIns="45720" rIns="91440" bIns="45720" anchor="t">
            <a:spAutoFit/>
          </a:bodyPr>
          <a:lstStyle/>
          <a:p>
            <a:pPr>
              <a:buNone/>
            </a:pPr>
            <a:r>
              <a:rPr lang="en-US" b="1">
                <a:solidFill>
                  <a:schemeClr val="accent1"/>
                </a:solidFill>
              </a:rPr>
              <a:t>S4I additionality</a:t>
            </a:r>
            <a:br>
              <a:rPr lang="en-US"/>
            </a:br>
            <a:r>
              <a:rPr lang="en-US"/>
              <a:t>Scaling is primarily driven by private-sector and public delivery systems. S4I adds value by accelerating coordination, reducing early risks, and generating shared operational evidence that bilateral projects alone do not produce.</a:t>
            </a:r>
          </a:p>
          <a:p>
            <a:pPr>
              <a:buNone/>
            </a:pPr>
            <a:endParaRPr lang="en-US" b="1"/>
          </a:p>
          <a:p>
            <a:pPr>
              <a:buNone/>
            </a:pPr>
            <a:r>
              <a:rPr lang="en-US" b="1">
                <a:solidFill>
                  <a:schemeClr val="accent1"/>
                </a:solidFill>
              </a:rPr>
              <a:t>Bilateral and government alignment</a:t>
            </a:r>
            <a:br>
              <a:rPr lang="en-US"/>
            </a:br>
            <a:r>
              <a:rPr lang="en-US"/>
              <a:t>This pathway builds on prior WorldFish bilateral investments, including the Gates Foundation–supported Aquaculture Project and the CGIAR AMD initiative, which tested decentralized service delivery at pilot scale.</a:t>
            </a:r>
          </a:p>
          <a:p>
            <a:endParaRPr lang="en-US"/>
          </a:p>
          <a:p>
            <a:r>
              <a:rPr lang="en-US"/>
              <a:t>It aligns now with ongoing WorldFish projects (including </a:t>
            </a:r>
            <a:r>
              <a:rPr lang="en-US" b="1"/>
              <a:t>WCS-supported initiatives</a:t>
            </a:r>
            <a:r>
              <a:rPr lang="en-US"/>
              <a:t>) and planned bilateral programs (e.g., </a:t>
            </a:r>
            <a:r>
              <a:rPr lang="en-US" b="1"/>
              <a:t>forthcoming GIZ-funded work</a:t>
            </a:r>
            <a:r>
              <a:rPr lang="en-US"/>
              <a:t>).</a:t>
            </a:r>
          </a:p>
          <a:p>
            <a:endParaRPr lang="en-US"/>
          </a:p>
          <a:p>
            <a:r>
              <a:rPr lang="en-US">
                <a:ea typeface="+mn-lt"/>
                <a:cs typeface="+mn-lt"/>
              </a:rPr>
              <a:t>Government engagement is anchored through Department of Fisheries–led programs, including the </a:t>
            </a:r>
            <a:r>
              <a:rPr lang="en-US" b="1">
                <a:ea typeface="+mn-lt"/>
                <a:cs typeface="+mn-lt"/>
              </a:rPr>
              <a:t>Expansion of</a:t>
            </a:r>
            <a:r>
              <a:rPr lang="en-US">
                <a:ea typeface="+mn-lt"/>
                <a:cs typeface="+mn-lt"/>
              </a:rPr>
              <a:t> </a:t>
            </a:r>
            <a:r>
              <a:rPr lang="en-US" b="1">
                <a:ea typeface="+mn-lt"/>
                <a:cs typeface="+mn-lt"/>
              </a:rPr>
              <a:t>Aquaculture Technology Services at Union Level (Phase III)</a:t>
            </a:r>
            <a:r>
              <a:rPr lang="en-US">
                <a:ea typeface="+mn-lt"/>
                <a:cs typeface="+mn-lt"/>
              </a:rPr>
              <a:t>, where there is scope to jointly address key challenges in decentralized delivery to inform future institutional uptake.</a:t>
            </a:r>
          </a:p>
          <a:p>
            <a:pPr>
              <a:buNone/>
            </a:pPr>
            <a:endParaRPr lang="en-US" b="1"/>
          </a:p>
          <a:p>
            <a:pPr>
              <a:buNone/>
            </a:pPr>
            <a:r>
              <a:rPr lang="en-US" b="1">
                <a:solidFill>
                  <a:schemeClr val="accent1"/>
                </a:solidFill>
              </a:rPr>
              <a:t>Cross-program and cross-country learning</a:t>
            </a:r>
            <a:br>
              <a:rPr lang="en-US"/>
            </a:br>
            <a:r>
              <a:rPr lang="en-US"/>
              <a:t>S4I links SAAF (genetics development) with system-scale delivery and learning, and enables structured exchange under AoW3, including adaptation of Bangladesh experience to Kenya initiatives (e.g., CASA).</a:t>
            </a:r>
          </a:p>
        </p:txBody>
      </p:sp>
    </p:spTree>
    <p:extLst>
      <p:ext uri="{BB962C8B-B14F-4D97-AF65-F5344CB8AC3E}">
        <p14:creationId xmlns:p14="http://schemas.microsoft.com/office/powerpoint/2010/main" val="1040719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6D748-4A75-8AFA-53FF-211323C9454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380CB6B-40DA-D79F-0E9A-4ADE34AD1781}"/>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white"/>
                </a:solidFill>
                <a:effectLst/>
                <a:uLnTx/>
                <a:uFillTx/>
                <a:latin typeface="Aptos Display" panose="02110004020202020204"/>
                <a:ea typeface="+mj-ea"/>
                <a:cs typeface="+mj-cs"/>
              </a:rPr>
              <a:t>Implementation Gantt Chart</a:t>
            </a:r>
          </a:p>
        </p:txBody>
      </p:sp>
      <p:pic>
        <p:nvPicPr>
          <p:cNvPr id="8" name="Picture 7">
            <a:extLst>
              <a:ext uri="{FF2B5EF4-FFF2-40B4-BE49-F238E27FC236}">
                <a16:creationId xmlns:a16="http://schemas.microsoft.com/office/drawing/2014/main" id="{0BA5201B-2ABF-E07B-CC60-D200B713038F}"/>
              </a:ext>
            </a:extLst>
          </p:cNvPr>
          <p:cNvPicPr>
            <a:picLocks noChangeAspect="1"/>
          </p:cNvPicPr>
          <p:nvPr/>
        </p:nvPicPr>
        <p:blipFill>
          <a:blip r:embed="rId2"/>
          <a:stretch>
            <a:fillRect/>
          </a:stretch>
        </p:blipFill>
        <p:spPr>
          <a:xfrm>
            <a:off x="1356721" y="1105216"/>
            <a:ext cx="9478558" cy="5499075"/>
          </a:xfrm>
          <a:prstGeom prst="rect">
            <a:avLst/>
          </a:prstGeom>
        </p:spPr>
      </p:pic>
    </p:spTree>
    <p:extLst>
      <p:ext uri="{BB962C8B-B14F-4D97-AF65-F5344CB8AC3E}">
        <p14:creationId xmlns:p14="http://schemas.microsoft.com/office/powerpoint/2010/main" val="3433649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F5C4C-5C0B-2A75-E12A-3744932AB8F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99002A4-E5F7-BDB9-E234-1BBFBF1E3C51}"/>
              </a:ext>
            </a:extLst>
          </p:cNvPr>
          <p:cNvSpPr txBox="1">
            <a:spLocks/>
          </p:cNvSpPr>
          <p:nvPr/>
        </p:nvSpPr>
        <p:spPr>
          <a:xfrm>
            <a:off x="3922923" y="0"/>
            <a:ext cx="7920210" cy="937363"/>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4400" kern="1200">
                <a:solidFill>
                  <a:schemeClr val="tx1"/>
                </a:solidFill>
                <a:latin typeface="+mj-lt"/>
                <a:ea typeface="+mj-ea"/>
                <a:cs typeface="+mj-cs"/>
              </a:defRPr>
            </a:lvl1pPr>
          </a:lstStyle>
          <a:p>
            <a:r>
              <a:rPr lang="en-US" sz="2800">
                <a:solidFill>
                  <a:schemeClr val="bg1"/>
                </a:solidFill>
              </a:rPr>
              <a:t>PRMS evidence and reference materials  </a:t>
            </a:r>
          </a:p>
        </p:txBody>
      </p:sp>
      <p:sp>
        <p:nvSpPr>
          <p:cNvPr id="9" name="Text Placeholder 2">
            <a:extLst>
              <a:ext uri="{FF2B5EF4-FFF2-40B4-BE49-F238E27FC236}">
                <a16:creationId xmlns:a16="http://schemas.microsoft.com/office/drawing/2014/main" id="{B1EDDFF7-AB2C-D597-B331-77D83F2DFD8C}"/>
              </a:ext>
            </a:extLst>
          </p:cNvPr>
          <p:cNvSpPr txBox="1">
            <a:spLocks/>
          </p:cNvSpPr>
          <p:nvPr/>
        </p:nvSpPr>
        <p:spPr>
          <a:xfrm>
            <a:off x="247574" y="1657351"/>
            <a:ext cx="5157787" cy="82391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PRMS linkages</a:t>
            </a:r>
          </a:p>
        </p:txBody>
      </p:sp>
      <p:sp>
        <p:nvSpPr>
          <p:cNvPr id="11" name="Text Placeholder 4">
            <a:extLst>
              <a:ext uri="{FF2B5EF4-FFF2-40B4-BE49-F238E27FC236}">
                <a16:creationId xmlns:a16="http://schemas.microsoft.com/office/drawing/2014/main" id="{DA38957B-90DA-885B-D9A0-41893AC7FBB3}"/>
              </a:ext>
            </a:extLst>
          </p:cNvPr>
          <p:cNvSpPr txBox="1">
            <a:spLocks/>
          </p:cNvSpPr>
          <p:nvPr/>
        </p:nvSpPr>
        <p:spPr>
          <a:xfrm>
            <a:off x="5579986" y="1547813"/>
            <a:ext cx="5183188"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Other evidence and reference materials</a:t>
            </a:r>
          </a:p>
        </p:txBody>
      </p:sp>
      <p:sp>
        <p:nvSpPr>
          <p:cNvPr id="12" name="Content Placeholder 5">
            <a:extLst>
              <a:ext uri="{FF2B5EF4-FFF2-40B4-BE49-F238E27FC236}">
                <a16:creationId xmlns:a16="http://schemas.microsoft.com/office/drawing/2014/main" id="{AEF57EE5-9B75-1534-A6AF-3DA6ED3E8A14}"/>
              </a:ext>
            </a:extLst>
          </p:cNvPr>
          <p:cNvSpPr txBox="1">
            <a:spLocks/>
          </p:cNvSpPr>
          <p:nvPr/>
        </p:nvSpPr>
        <p:spPr>
          <a:xfrm>
            <a:off x="5579986" y="2334787"/>
            <a:ext cx="6367616" cy="4006559"/>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000" i="1"/>
          </a:p>
          <a:p>
            <a:pPr lvl="0"/>
            <a:r>
              <a:rPr lang="en-US" sz="1200"/>
              <a:t>Ali, H., Murshed-e-Jahan, K., Biswas, A., Hamilton, M.G., 2025. Growth Performance and Profitability of Genetically Improved and Commercial Local Rohu (</a:t>
            </a:r>
            <a:r>
              <a:rPr lang="en-US" sz="1200" i="1" err="1"/>
              <a:t>Labeo</a:t>
            </a:r>
            <a:r>
              <a:rPr lang="en-US" sz="1200" i="1"/>
              <a:t> </a:t>
            </a:r>
            <a:r>
              <a:rPr lang="en-US" sz="1200" i="1" err="1"/>
              <a:t>rohita</a:t>
            </a:r>
            <a:r>
              <a:rPr lang="en-US" sz="1200"/>
              <a:t>) in Bangladesh. Aquaculture Research. 9986779, 22. </a:t>
            </a:r>
            <a:r>
              <a:rPr lang="en-US" sz="1200" u="sng">
                <a:hlinkClick r:id="rId3"/>
              </a:rPr>
              <a:t>https://doi.org/10.1155/are/9986779</a:t>
            </a:r>
            <a:endParaRPr lang="en-US" sz="1200"/>
          </a:p>
          <a:p>
            <a:r>
              <a:rPr lang="en-US" sz="1200"/>
              <a:t>Hamilton, M.G., Yeasin, M., Alam, M.B., Ali, M.R., Fakhruddin, M., Islam, M.M., Barman, B.K., Shikuku, K.M., Shelley, C.C., Rossignoli, C.M., Benzie, J.A.H., 2022. On-Farm Performance of Genetically Improved Rohu (</a:t>
            </a:r>
            <a:r>
              <a:rPr lang="en-US" sz="1200" i="1" err="1"/>
              <a:t>Labeo</a:t>
            </a:r>
            <a:r>
              <a:rPr lang="en-US" sz="1200" i="1"/>
              <a:t> </a:t>
            </a:r>
            <a:r>
              <a:rPr lang="en-US" sz="1200" i="1" err="1"/>
              <a:t>rohita</a:t>
            </a:r>
            <a:r>
              <a:rPr lang="en-US" sz="1200"/>
              <a:t>) in Bangladesh. Frontiers in Aquaculture 1, 1060335. </a:t>
            </a:r>
            <a:r>
              <a:rPr lang="en-US" sz="1200">
                <a:hlinkClick r:id="rId4"/>
              </a:rPr>
              <a:t>https://doi.org/10.3389/faquc.2022.1060335</a:t>
            </a:r>
            <a:endParaRPr lang="en-US" sz="1200"/>
          </a:p>
          <a:p>
            <a:r>
              <a:rPr lang="en-US" sz="1200"/>
              <a:t>Obi, C., </a:t>
            </a:r>
            <a:r>
              <a:rPr lang="en-US" sz="1200" err="1"/>
              <a:t>Manyise</a:t>
            </a:r>
            <a:r>
              <a:rPr lang="en-US" sz="1200"/>
              <a:t>, T., </a:t>
            </a:r>
            <a:r>
              <a:rPr lang="en-US" sz="1200" err="1"/>
              <a:t>Dompreh</a:t>
            </a:r>
            <a:r>
              <a:rPr lang="en-US" sz="1200"/>
              <a:t>, E.B., </a:t>
            </a:r>
            <a:r>
              <a:rPr lang="en-US" sz="1200" err="1"/>
              <a:t>Murshede</a:t>
            </a:r>
            <a:r>
              <a:rPr lang="en-US" sz="1200"/>
              <a:t>-Jahan, K., Rossignoli, C.M., 2025. The impact of extension delivery through private local service providers on production outcomes of small-scale aquaculture farmers in Bangladesh. The Journal of Agricultural Education and Extension, 31 (2),  215-233. </a:t>
            </a:r>
            <a:r>
              <a:rPr lang="en-US" sz="1200">
                <a:hlinkClick r:id="rId5"/>
              </a:rPr>
              <a:t>https://doi.org/10.1080/1389224X.2024.2371292</a:t>
            </a:r>
            <a:endParaRPr lang="en-US" sz="1200"/>
          </a:p>
          <a:p>
            <a:r>
              <a:rPr lang="en-US" sz="1200"/>
              <a:t> </a:t>
            </a:r>
            <a:r>
              <a:rPr lang="en-US" sz="1200" err="1"/>
              <a:t>Dompreh</a:t>
            </a:r>
            <a:r>
              <a:rPr lang="en-US" sz="1200"/>
              <a:t>, E.B., </a:t>
            </a:r>
            <a:r>
              <a:rPr lang="en-US" sz="1200" err="1"/>
              <a:t>Manyise</a:t>
            </a:r>
            <a:r>
              <a:rPr lang="en-US" sz="1200"/>
              <a:t>, T., Lozano Lazo, D., Murshed-e-Jahan, K., Lam, R.D.,  Rossignoli, C.M., 2024. Exploring the potential of decentralized extension models on the sustainability of livelihoods: a food security lens on aquaculture farmers in Bangladesh. Frontier in Sustainable Food System, 8, 1499081. </a:t>
            </a:r>
            <a:r>
              <a:rPr lang="en-US" sz="1200">
                <a:hlinkClick r:id="rId4"/>
              </a:rPr>
              <a:t>https://doi.org/10.3389/faquc.2022.1060335</a:t>
            </a:r>
            <a:endParaRPr lang="en-US" sz="1200"/>
          </a:p>
          <a:p>
            <a:r>
              <a:rPr lang="en-US" sz="1200"/>
              <a:t>Yeasin, M., Hamilton, M.G., Ali, H., Murshed-e-Jahan, K., Islam, A.F., 2025. Carp Genetic Improvement and Dissemination: Progress and Future Pathways. Workshop report. WorldFish, Dhaka, Bangladesh.</a:t>
            </a:r>
          </a:p>
          <a:p>
            <a:endParaRPr lang="en-US" sz="1100"/>
          </a:p>
        </p:txBody>
      </p:sp>
      <p:sp>
        <p:nvSpPr>
          <p:cNvPr id="2" name="TextBox 1">
            <a:extLst>
              <a:ext uri="{FF2B5EF4-FFF2-40B4-BE49-F238E27FC236}">
                <a16:creationId xmlns:a16="http://schemas.microsoft.com/office/drawing/2014/main" id="{0FC81A11-797C-D49B-F2C2-3AFFFDA5A4C1}"/>
              </a:ext>
            </a:extLst>
          </p:cNvPr>
          <p:cNvSpPr txBox="1"/>
          <p:nvPr/>
        </p:nvSpPr>
        <p:spPr>
          <a:xfrm>
            <a:off x="335280" y="2484120"/>
            <a:ext cx="4907280" cy="2923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950"/>
              </a:lnSpc>
            </a:pPr>
            <a:r>
              <a:rPr lang="en-US" sz="1800" b="1" baseline="0">
                <a:latin typeface="Aptos"/>
                <a:ea typeface="Segoe UI"/>
                <a:cs typeface="Segoe UI"/>
              </a:rPr>
              <a:t>Innovation Profile :</a:t>
            </a:r>
            <a:r>
              <a:rPr lang="en-US" sz="1800">
                <a:latin typeface="Aptos"/>
                <a:ea typeface="Segoe UI"/>
                <a:cs typeface="Segoe UI"/>
              </a:rPr>
              <a:t>​</a:t>
            </a:r>
          </a:p>
          <a:p>
            <a:pPr marL="285750" lvl="0" indent="-285750" rtl="0">
              <a:lnSpc>
                <a:spcPts val="1950"/>
              </a:lnSpc>
              <a:buFont typeface="Arial,Sans-Serif"/>
              <a:buChar char="•"/>
            </a:pPr>
            <a:r>
              <a:rPr lang="en-US" sz="1800" baseline="0">
                <a:latin typeface="Aptos"/>
                <a:ea typeface="Arial"/>
                <a:cs typeface="Arial"/>
              </a:rPr>
              <a:t>Bangladesh:</a:t>
            </a:r>
            <a:r>
              <a:rPr lang="en-US" sz="1800">
                <a:latin typeface="Aptos"/>
                <a:ea typeface="Arial"/>
                <a:cs typeface="Arial"/>
              </a:rPr>
              <a:t>​</a:t>
            </a:r>
          </a:p>
          <a:p>
            <a:pPr marL="285750" lvl="0" indent="-285750" rtl="0">
              <a:lnSpc>
                <a:spcPts val="1950"/>
              </a:lnSpc>
              <a:buFont typeface="Wingdings,Sans-Serif"/>
              <a:buChar char="Ø"/>
            </a:pPr>
            <a:r>
              <a:rPr lang="en-US" sz="1800" u="sng" strike="noStrike" baseline="0">
                <a:solidFill>
                  <a:srgbClr val="467886"/>
                </a:solidFill>
                <a:latin typeface="Aptos"/>
                <a:ea typeface="Arial"/>
                <a:cs typeface="Arial"/>
                <a:hlinkClick r:id="rId6"/>
              </a:rPr>
              <a:t>https://reporting.cgiar.org/reports/result-details/5335?phase=6</a:t>
            </a:r>
            <a:r>
              <a:rPr lang="en-US" sz="1800">
                <a:latin typeface="Aptos"/>
                <a:ea typeface="Arial"/>
                <a:cs typeface="Arial"/>
              </a:rPr>
              <a:t>​</a:t>
            </a:r>
          </a:p>
          <a:p>
            <a:pPr marL="285750" lvl="0" indent="-285750" rtl="0">
              <a:lnSpc>
                <a:spcPts val="1950"/>
              </a:lnSpc>
              <a:buFont typeface="Wingdings,Sans-Serif"/>
              <a:buChar char="Ø"/>
            </a:pPr>
            <a:r>
              <a:rPr lang="en-US" sz="1800" u="sng" strike="noStrike" baseline="0">
                <a:solidFill>
                  <a:srgbClr val="467886"/>
                </a:solidFill>
                <a:latin typeface="Aptos"/>
                <a:ea typeface="Arial"/>
                <a:cs typeface="Arial"/>
                <a:hlinkClick r:id="rId7"/>
              </a:rPr>
              <a:t>https://reporting.cgiar.org/reports/result-details/5346?phase=6</a:t>
            </a:r>
            <a:r>
              <a:rPr lang="en-US" sz="1800">
                <a:latin typeface="Aptos"/>
                <a:ea typeface="Arial"/>
                <a:cs typeface="Arial"/>
              </a:rPr>
              <a:t>​</a:t>
            </a:r>
          </a:p>
          <a:p>
            <a:pPr marL="285750" lvl="0" indent="-285750" rtl="0">
              <a:lnSpc>
                <a:spcPts val="1950"/>
              </a:lnSpc>
              <a:buFont typeface="Wingdings,Sans-Serif"/>
              <a:buChar char="Ø"/>
            </a:pPr>
            <a:r>
              <a:rPr lang="en-US" sz="1800" u="sng" strike="noStrike" baseline="0">
                <a:solidFill>
                  <a:srgbClr val="467886"/>
                </a:solidFill>
                <a:latin typeface="Aptos"/>
                <a:ea typeface="Arial"/>
                <a:cs typeface="Arial"/>
                <a:hlinkClick r:id="rId8"/>
              </a:rPr>
              <a:t>https://reporting.cgiar.org/reports/result-details/5368?phase=6</a:t>
            </a:r>
            <a:r>
              <a:rPr lang="en-US" sz="1800">
                <a:latin typeface="Aptos"/>
                <a:ea typeface="Arial"/>
                <a:cs typeface="Arial"/>
              </a:rPr>
              <a:t>​</a:t>
            </a:r>
          </a:p>
          <a:p>
            <a:pPr marL="285750" lvl="0" indent="-285750" rtl="0">
              <a:lnSpc>
                <a:spcPts val="1950"/>
              </a:lnSpc>
              <a:buFont typeface="Wingdings,Sans-Serif"/>
              <a:buChar char="Ø"/>
            </a:pPr>
            <a:r>
              <a:rPr lang="en-US" sz="1800" u="sng" strike="noStrike" baseline="0">
                <a:solidFill>
                  <a:srgbClr val="467886"/>
                </a:solidFill>
                <a:latin typeface="Aptos"/>
                <a:ea typeface="Arial"/>
                <a:cs typeface="Arial"/>
                <a:hlinkClick r:id="rId9"/>
              </a:rPr>
              <a:t>https://reporting.cgiar.org/reports/result-details/18181?phase=6</a:t>
            </a:r>
            <a:r>
              <a:rPr lang="en-US" sz="1800" baseline="0">
                <a:latin typeface="Aptos"/>
                <a:ea typeface="Arial"/>
                <a:cs typeface="Arial"/>
              </a:rPr>
              <a:t> </a:t>
            </a:r>
          </a:p>
          <a:p>
            <a:pPr algn="ctr"/>
            <a:endParaRPr lang="en-US"/>
          </a:p>
        </p:txBody>
      </p:sp>
    </p:spTree>
    <p:extLst>
      <p:ext uri="{BB962C8B-B14F-4D97-AF65-F5344CB8AC3E}">
        <p14:creationId xmlns:p14="http://schemas.microsoft.com/office/powerpoint/2010/main" val="346513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1890</Words>
  <Application>Microsoft Office PowerPoint</Application>
  <PresentationFormat>Widescreen</PresentationFormat>
  <Paragraphs>104</Paragraphs>
  <Slides>11</Slides>
  <Notes>3</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11</vt:i4>
      </vt:variant>
    </vt:vector>
  </HeadingPairs>
  <TitlesOfParts>
    <vt:vector size="21" baseType="lpstr">
      <vt:lpstr>Aptos</vt:lpstr>
      <vt:lpstr>Aptos Display</vt:lpstr>
      <vt:lpstr>Arial</vt:lpstr>
      <vt:lpstr>Arial,Sans-Serif</vt:lpstr>
      <vt:lpstr>Noto Sans Bold</vt:lpstr>
      <vt:lpstr>Wingdings,Sans-Serif</vt:lpstr>
      <vt:lpstr>Office Theme</vt:lpstr>
      <vt:lpstr>1_Custom Design</vt:lpstr>
      <vt:lpstr>Custom Design</vt:lpstr>
      <vt:lpstr>1_Office Theme</vt:lpstr>
      <vt:lpstr>Flagship Solution Scaling Tracks Inception Meeting and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S4I AoW2 Mid-Year Report 2025</dc:title>
  <dc:creator>RANA, Md. Masud (CIMMYT-Bangladesh)</dc:creator>
  <cp:lastModifiedBy>RANA, Md. Masud (CIMMYT-Bangladesh)</cp:lastModifiedBy>
  <cp:revision>1</cp:revision>
  <cp:lastPrinted>2026-01-09T07:40:18Z</cp:lastPrinted>
  <dcterms:created xsi:type="dcterms:W3CDTF">2025-07-15T06:10:02Z</dcterms:created>
  <dcterms:modified xsi:type="dcterms:W3CDTF">2026-01-19T12:31:04Z</dcterms:modified>
</cp:coreProperties>
</file>